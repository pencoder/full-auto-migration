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7F7"/>
    <a:srgbClr val="C5DAF3"/>
    <a:srgbClr val="FFFFFF"/>
    <a:srgbClr val="1F5394"/>
    <a:srgbClr val="FFCBBE"/>
    <a:srgbClr val="B6E1D6"/>
    <a:srgbClr val="6DC4AD"/>
    <a:srgbClr val="FF987D"/>
    <a:srgbClr val="306AA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93" autoAdjust="0"/>
  </p:normalViewPr>
  <p:slideViewPr>
    <p:cSldViewPr>
      <p:cViewPr>
        <p:scale>
          <a:sx n="76" d="100"/>
          <a:sy n="76" d="100"/>
        </p:scale>
        <p:origin x="13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370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The preference-behaviour gap (Wire/StatCounter 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063D7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Rate open-source
critical</c:v>
                </c:pt>
                <c:pt idx="1">
                  <c:v>Cite reducing
US-vendor dep.</c:v>
                </c:pt>
                <c:pt idx="2">
                  <c:v>Still run
Windows (EU)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63.2</c:v>
                </c:pt>
                <c:pt idx="1">
                  <c:v>47.4</c:v>
                </c:pt>
                <c:pt idx="2">
                  <c:v>67.75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CD8-4974-B678-59EC95B36E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This codebase's network calls — counted, not claimed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Outbound calls</c:v>
                </c:pt>
              </c:strCache>
            </c:strRef>
          </c:tx>
          <c:spPr>
            <a:solidFill>
              <a:srgbClr val="00843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Repology
(opt-in)</c:v>
                </c:pt>
                <c:pt idx="1">
                  <c:v>Telemetry</c:v>
                </c:pt>
                <c:pt idx="2">
                  <c:v>Ads/
tracking</c:v>
                </c:pt>
                <c:pt idx="3">
                  <c:v>Remote
analytics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3BA-4D68-A66B-6498899D61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functions</c:v>
                </c:pt>
              </c:strCache>
            </c:strRef>
          </c:tx>
          <c:spPr>
            <a:solidFill>
              <a:srgbClr val="063D7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Unit</c:v>
                </c:pt>
                <c:pt idx="1">
                  <c:v>Integ.</c:v>
                </c:pt>
                <c:pt idx="2">
                  <c:v>Perf.</c:v>
                </c:pt>
                <c:pt idx="3">
                  <c:v>E2E</c:v>
                </c:pt>
                <c:pt idx="4">
                  <c:v>UI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68</c:v>
                </c:pt>
                <c:pt idx="2">
                  <c:v>18</c:v>
                </c:pt>
                <c:pt idx="3">
                  <c:v>15</c:v>
                </c:pt>
                <c:pt idx="4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D3-4B7C-8883-2AF9F4DBB9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App mapping table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 mappings</c:v>
                </c:pt>
              </c:strCache>
            </c:strRef>
          </c:tx>
          <c:spPr>
            <a:solidFill>
              <a:srgbClr val="00843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Now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</c:v>
                </c:pt>
                <c:pt idx="1">
                  <c:v>238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30-492A-AE73-A0CA52B56C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5113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Verified by identity, not output: </a:t>
            </a:r>
            <a:r>
              <a:rPr lang="en-US" sz="1200" b="0" i="1" dirty="0" err="1">
                <a:solidFill>
                  <a:srgbClr val="3F3F3F"/>
                </a:solidFill>
                <a:latin typeface="Segoe UI"/>
              </a:rPr>
              <a:t>Qt.resolve_app_recommendation_strategy</a:t>
            </a: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 is </a:t>
            </a:r>
            <a:r>
              <a:rPr lang="en-US" sz="1200" b="0" i="1" dirty="0" err="1">
                <a:solidFill>
                  <a:srgbClr val="3F3F3F"/>
                </a:solidFill>
                <a:latin typeface="Segoe UI"/>
              </a:rPr>
              <a:t>CLI.resolve_app_recommendation_strategy</a:t>
            </a: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 — both call paths hold the same function object, so a policy change can't silently apply to only one interface.</a:t>
            </a:r>
          </a:p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→ migration_bundle.zip (manifest + SHA-256, apps, settings, optional Linux binary)</a:t>
            </a:r>
          </a:p>
          <a:p>
            <a:endParaRPr lang="en-US" dirty="0"/>
          </a:p>
          <a:p>
            <a:pPr algn="l">
              <a:lnSpc>
                <a:spcPct val="115000"/>
              </a:lnSpc>
            </a:pPr>
            <a:r>
              <a:rPr lang="en-US" sz="1200" b="0" i="0" dirty="0">
                <a:solidFill>
                  <a:srgbClr val="3F3F3F"/>
                </a:solidFill>
                <a:latin typeface="Segoe UI"/>
              </a:rPr>
              <a:t>Restore, verify (SHA-256), and report</a:t>
            </a:r>
          </a:p>
          <a:p>
            <a:pPr algn="l">
              <a:lnSpc>
                <a:spcPct val="115000"/>
              </a:lnSpc>
            </a:pPr>
            <a:r>
              <a:rPr lang="en-US" sz="1200" b="0" i="0" dirty="0">
                <a:solidFill>
                  <a:srgbClr val="3F3F3F"/>
                </a:solidFill>
                <a:latin typeface="Segoe UI"/>
              </a:rPr>
              <a:t>all happen within that one click.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wmf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jpeg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88951" y="1960563"/>
            <a:ext cx="11214100" cy="1828800"/>
          </a:xfrm>
        </p:spPr>
        <p:txBody>
          <a:bodyPr/>
          <a:lstStyle>
            <a:lvl1pPr algn="ctr">
              <a:defRPr sz="4000"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en-GB" dirty="0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4149725"/>
            <a:ext cx="8534400" cy="406400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author name</a:t>
            </a:r>
            <a:endParaRPr lang="de-DE" dirty="0"/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1775885" y="4616301"/>
            <a:ext cx="864023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000" i="1" dirty="0">
                <a:solidFill>
                  <a:srgbClr val="777777"/>
                </a:solidFill>
                <a:latin typeface="Arial" charset="0"/>
              </a:rPr>
              <a:t>comnet.informatik.uni-wuerzburg.de</a:t>
            </a:r>
          </a:p>
        </p:txBody>
      </p:sp>
      <p:grpSp>
        <p:nvGrpSpPr>
          <p:cNvPr id="5" name="Gruppieren 4"/>
          <p:cNvGrpSpPr/>
          <p:nvPr userDrawn="1"/>
        </p:nvGrpSpPr>
        <p:grpSpPr>
          <a:xfrm>
            <a:off x="0" y="431800"/>
            <a:ext cx="12191999" cy="898525"/>
            <a:chOff x="0" y="431800"/>
            <a:chExt cx="12191999" cy="898525"/>
          </a:xfrm>
        </p:grpSpPr>
        <p:sp>
          <p:nvSpPr>
            <p:cNvPr id="2" name="Rechteck 1"/>
            <p:cNvSpPr/>
            <p:nvPr userDrawn="1"/>
          </p:nvSpPr>
          <p:spPr bwMode="auto">
            <a:xfrm>
              <a:off x="9768408" y="431800"/>
              <a:ext cx="2423591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39" name="Picture 9" descr="unilogo4c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 r="20525"/>
            <a:stretch>
              <a:fillRect/>
            </a:stretch>
          </p:blipFill>
          <p:spPr bwMode="auto">
            <a:xfrm>
              <a:off x="624408" y="431800"/>
              <a:ext cx="9144000" cy="898525"/>
            </a:xfrm>
            <a:prstGeom prst="rect">
              <a:avLst/>
            </a:prstGeom>
            <a:noFill/>
          </p:spPr>
        </p:pic>
        <p:sp>
          <p:nvSpPr>
            <p:cNvPr id="181258" name="Rectangle 10"/>
            <p:cNvSpPr>
              <a:spLocks noChangeArrowheads="1"/>
            </p:cNvSpPr>
            <p:nvPr/>
          </p:nvSpPr>
          <p:spPr bwMode="auto">
            <a:xfrm>
              <a:off x="4968552" y="500063"/>
              <a:ext cx="6096000" cy="73866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400" b="0" dirty="0" err="1">
                  <a:latin typeface="Arial" charset="0"/>
                </a:rPr>
                <a:t>Institut</a:t>
              </a:r>
              <a:r>
                <a:rPr lang="en-US" sz="1400" b="0" dirty="0">
                  <a:latin typeface="Arial" charset="0"/>
                </a:rPr>
                <a:t> f</a:t>
              </a:r>
              <a:r>
                <a:rPr lang="de-DE" sz="1400" b="0" dirty="0" err="1">
                  <a:latin typeface="Arial" charset="0"/>
                </a:rPr>
                <a:t>ür</a:t>
              </a:r>
              <a:r>
                <a:rPr lang="de-DE" sz="1400" b="0" dirty="0">
                  <a:latin typeface="Arial" charset="0"/>
                </a:rPr>
                <a:t> Informatik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 err="1">
                  <a:latin typeface="Arial" charset="0"/>
                </a:rPr>
                <a:t>Lehrstuhl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für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Kommunikationsnetze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>
                  <a:latin typeface="Arial" charset="0"/>
                </a:rPr>
                <a:t>Prof. Dr.</a:t>
              </a:r>
              <a:r>
                <a:rPr lang="en-US" sz="1400" b="0" baseline="0" dirty="0">
                  <a:latin typeface="Arial" charset="0"/>
                </a:rPr>
                <a:t> T</a:t>
              </a:r>
              <a:r>
                <a:rPr lang="en-US" sz="1400" b="0" dirty="0">
                  <a:latin typeface="Arial" charset="0"/>
                </a:rPr>
                <a:t>. </a:t>
              </a:r>
              <a:r>
                <a:rPr lang="en-US" sz="1400" b="0" dirty="0" err="1">
                  <a:latin typeface="Arial" charset="0"/>
                </a:rPr>
                <a:t>Hoßfeld</a:t>
              </a:r>
              <a:endParaRPr lang="en-US" sz="1400" b="0" dirty="0">
                <a:latin typeface="Arial" charset="0"/>
              </a:endParaRPr>
            </a:p>
          </p:txBody>
        </p:sp>
        <p:pic>
          <p:nvPicPr>
            <p:cNvPr id="23" name="Picture 11"/>
            <p:cNvPicPr>
              <a:picLocks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70219" y="509826"/>
              <a:ext cx="700088" cy="719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63500" dir="3187806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0" name="Rechteck 39"/>
            <p:cNvSpPr/>
            <p:nvPr userDrawn="1"/>
          </p:nvSpPr>
          <p:spPr bwMode="auto">
            <a:xfrm>
              <a:off x="0" y="431800"/>
              <a:ext cx="2855640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41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EFD"/>
                </a:clrFrom>
                <a:clrTo>
                  <a:srgbClr val="FFFEFD">
                    <a:alpha val="0"/>
                  </a:srgbClr>
                </a:clrTo>
              </a:clrChange>
            </a:blip>
            <a:srcRect l="44640"/>
            <a:stretch/>
          </p:blipFill>
          <p:spPr>
            <a:xfrm>
              <a:off x="911424" y="431800"/>
              <a:ext cx="1130294" cy="898525"/>
            </a:xfrm>
            <a:prstGeom prst="rect">
              <a:avLst/>
            </a:prstGeom>
          </p:spPr>
        </p:pic>
        <p:pic>
          <p:nvPicPr>
            <p:cNvPr id="42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/>
            <a:srcRect r="55678"/>
            <a:stretch/>
          </p:blipFill>
          <p:spPr>
            <a:xfrm>
              <a:off x="0" y="431800"/>
              <a:ext cx="904920" cy="898524"/>
            </a:xfrm>
            <a:prstGeom prst="rect">
              <a:avLst/>
            </a:prstGeom>
          </p:spPr>
        </p:pic>
      </p:grp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63D79"/>
              </a:buClr>
              <a:defRPr/>
            </a:lvl1pPr>
            <a:lvl2pPr>
              <a:buClr>
                <a:srgbClr val="063D79"/>
              </a:buClr>
              <a:defRPr/>
            </a:lvl2pPr>
            <a:lvl3pPr>
              <a:buClr>
                <a:srgbClr val="063D79"/>
              </a:buClr>
              <a:defRPr/>
            </a:lvl3pPr>
            <a:lvl4pPr>
              <a:buClr>
                <a:srgbClr val="063D79"/>
              </a:buClr>
              <a:defRPr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7084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639616" y="1052736"/>
            <a:ext cx="2664296" cy="10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600" b="0" dirty="0" err="1">
              <a:latin typeface="+mn-lt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6E6EF-3D8E-4957-A439-5D2280CE1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B828CE34-CC67-4E17-A5B3-FF421A963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DE93AAB1-B7D0-42C5-8489-BBD1FAE5F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A1004EE9-71F7-49C3-AEC6-27984ECF0994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ar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Farbschema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3920" y="1196752"/>
            <a:ext cx="8208912" cy="4879878"/>
          </a:xfrm>
          <a:prstGeom prst="rect">
            <a:avLst/>
          </a:prstGeom>
        </p:spPr>
      </p:pic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7FE386-66AB-4DE5-8F99-809013B2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D5045F2-FFB1-4BE6-A82D-044410B8000A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FEFF89-82C5-4C87-9183-1A0960BC685D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2FEC48EB-43B2-4181-B567-7B6D76C21DEE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0FEDB-E43B-402C-9059-9FCEEF9AAB25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164"/>
            <a:ext cx="2667000" cy="598963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164"/>
            <a:ext cx="7797800" cy="598963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ED38E1-331D-45BD-909D-93E0D8906D71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w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668" y="30163"/>
            <a:ext cx="1065741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um das </a:t>
            </a:r>
            <a:r>
              <a:rPr lang="en-GB" dirty="0" err="1"/>
              <a:t>Titelformat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14400"/>
            <a:ext cx="1066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, um die </a:t>
            </a:r>
            <a:r>
              <a:rPr lang="en-GB" dirty="0" err="1"/>
              <a:t>Formate</a:t>
            </a:r>
            <a:r>
              <a:rPr lang="en-GB" dirty="0"/>
              <a:t> des </a:t>
            </a:r>
            <a:r>
              <a:rPr lang="en-GB" dirty="0" err="1"/>
              <a:t>Vorlagentextes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  <p:pic>
        <p:nvPicPr>
          <p:cNvPr id="17" name="Picture 18"/>
          <p:cNvPicPr>
            <a:picLocks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1797333" y="6497655"/>
            <a:ext cx="275331" cy="27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3187806" algn="ctr" rotWithShape="0">
              <a:srgbClr val="C0C0C0">
                <a:alpha val="50000"/>
              </a:srgbClr>
            </a:outerShdw>
          </a:effectLst>
        </p:spPr>
      </p:pic>
      <p:sp>
        <p:nvSpPr>
          <p:cNvPr id="18" name="Rectangle 25"/>
          <p:cNvSpPr>
            <a:spLocks noChangeArrowheads="1"/>
          </p:cNvSpPr>
          <p:nvPr userDrawn="1"/>
        </p:nvSpPr>
        <p:spPr bwMode="auto">
          <a:xfrm>
            <a:off x="9494300" y="6523182"/>
            <a:ext cx="1676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0" i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cs typeface="Segoe UI" pitchFamily="34" charset="0"/>
              </a:rPr>
              <a:t>Japhet Kofi Appau Arthur</a:t>
            </a: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22"/>
          <a:stretch/>
        </p:blipFill>
        <p:spPr>
          <a:xfrm>
            <a:off x="0" y="6468810"/>
            <a:ext cx="391865" cy="389190"/>
          </a:xfrm>
          <a:prstGeom prst="rect">
            <a:avLst/>
          </a:prstGeom>
        </p:spPr>
      </p:pic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0498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3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80000"/>
        <a:buFont typeface="Wingdings 3" pitchFamily="18" charset="2"/>
        <a:buChar char="u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100000"/>
        <a:buFont typeface="Wingdings" pitchFamily="2" charset="2"/>
        <a:buChar char="§"/>
        <a:defRPr sz="1800">
          <a:solidFill>
            <a:srgbClr val="4D4D4D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–"/>
        <a:defRPr sz="1600">
          <a:solidFill>
            <a:srgbClr val="4D4D4D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•"/>
        <a:defRPr sz="1600">
          <a:solidFill>
            <a:srgbClr val="4D4D4D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 "/>
        <a:defRPr sz="1600">
          <a:solidFill>
            <a:srgbClr val="4D4D4D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GH" dirty="0"/>
              <a:t>Fully Automated Migration Framework from Windows 11 to Linux Mint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dirty="0"/>
              <a:t>Japhet Kofi Appau Arthur  ·  Mobile Computing Seminar · </a:t>
            </a:r>
            <a:r>
              <a:rPr dirty="0" err="1"/>
              <a:t>Praktikum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176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1" dirty="0">
                <a:solidFill>
                  <a:srgbClr val="3F3F3F"/>
                </a:solidFill>
                <a:latin typeface="Segoe UI"/>
              </a:rPr>
              <a:t>Meaningful control over digital infrastructure, data flows, and computational processes.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F3F3F"/>
                </a:solidFill>
                <a:latin typeface="Segoe UI"/>
              </a:rPr>
              <a:t>— </a:t>
            </a:r>
            <a:r>
              <a:rPr sz="1400" b="0" i="0" dirty="0" err="1">
                <a:solidFill>
                  <a:srgbClr val="3F3F3F"/>
                </a:solidFill>
                <a:latin typeface="Segoe UI"/>
              </a:rPr>
              <a:t>Floridi</a:t>
            </a:r>
            <a:r>
              <a:rPr sz="1400" b="0" i="0" dirty="0">
                <a:solidFill>
                  <a:srgbClr val="3F3F3F"/>
                </a:solidFill>
                <a:latin typeface="Segoe UI"/>
              </a:rPr>
              <a:t> (2020); Pohle &amp; Thiel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>
                <a:solidFill>
                  <a:srgbClr val="063D79"/>
                </a:solidFill>
                <a:latin typeface="Segoe UI"/>
              </a:rPr>
              <a:t>Windows 11 cannot be fully audited or constrained — this project asks whether a migration tool can close that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Sovereignty, measured — not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874519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669280"/>
            <a:ext cx="45720" cy="548640"/>
          </a:xfrm>
          <a:prstGeom prst="rect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7607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439"/>
                </a:solidFill>
                <a:latin typeface="Segoe UI"/>
              </a:rPr>
              <a:t>sovereignty_score = integrity_score + openness_bonus  —  every restore reports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1A1A1A"/>
                </a:solidFill>
                <a:latin typeface="Segoe UI"/>
              </a:rPr>
              <a:t>Extending </a:t>
            </a:r>
            <a:r>
              <a:rPr lang="en-US" sz="2700" b="1" i="0" dirty="0">
                <a:solidFill>
                  <a:srgbClr val="1A1A1A"/>
                </a:solidFill>
                <a:latin typeface="Segoe UI"/>
              </a:rPr>
              <a:t>semi-auto-migration POC </a:t>
            </a:r>
            <a:r>
              <a:rPr sz="2700" b="1" i="0" dirty="0">
                <a:solidFill>
                  <a:srgbClr val="1A1A1A"/>
                </a:solidFill>
                <a:latin typeface="Segoe UI"/>
              </a:rPr>
              <a:t>into a working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F83287-F063-E3B5-7FFD-A84A80B7FA25}"/>
              </a:ext>
            </a:extLst>
          </p:cNvPr>
          <p:cNvGrpSpPr/>
          <p:nvPr/>
        </p:nvGrpSpPr>
        <p:grpSpPr>
          <a:xfrm>
            <a:off x="731520" y="1691640"/>
            <a:ext cx="10698480" cy="1371600"/>
            <a:chOff x="731520" y="1691640"/>
            <a:chExt cx="10698480" cy="137160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691640"/>
              <a:ext cx="10698480" cy="1371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700">
              <a:solidFill>
                <a:srgbClr val="D8D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828800"/>
              <a:ext cx="101498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063D79"/>
                  </a:solidFill>
                  <a:latin typeface="Segoe UI"/>
                </a:rPr>
                <a:t>TERM PAPER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2148840"/>
              <a:ext cx="1014984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1A1A1A"/>
                  </a:solidFill>
                  <a:latin typeface="Segoe UI"/>
                </a:rPr>
                <a:t>“Digital Sovereignty Through Semi-Automated Migration from Windows to Linux”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670048"/>
              <a:ext cx="101498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1">
                  <a:solidFill>
                    <a:srgbClr val="3F3F3F"/>
                  </a:solidFill>
                  <a:latin typeface="Segoe UI"/>
                </a:rPr>
                <a:t>Japhet Arthur — Julius-Maximilians-Universität Würzburg, Lehrstuhl für Kommunikationsnetze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B399C4-B9B4-4590-A997-E7F30C6D11BD}"/>
              </a:ext>
            </a:extLst>
          </p:cNvPr>
          <p:cNvGrpSpPr/>
          <p:nvPr/>
        </p:nvGrpSpPr>
        <p:grpSpPr>
          <a:xfrm>
            <a:off x="731520" y="3337560"/>
            <a:ext cx="10698480" cy="1097280"/>
            <a:chOff x="731520" y="3337560"/>
            <a:chExt cx="10698480" cy="1097280"/>
          </a:xfrm>
        </p:grpSpPr>
        <p:sp>
          <p:nvSpPr>
            <p:cNvPr id="9" name="TextBox 8"/>
            <p:cNvSpPr txBox="1"/>
            <p:nvPr/>
          </p:nvSpPr>
          <p:spPr>
            <a:xfrm>
              <a:off x="731520" y="3337560"/>
              <a:ext cx="106984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063D79"/>
                  </a:solidFill>
                  <a:latin typeface="Segoe UI"/>
                </a:rPr>
                <a:t>RESEARCH QUESTION IT ASKED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3657600"/>
              <a:ext cx="10698480" cy="777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600" b="0" i="0">
                  <a:solidFill>
                    <a:srgbClr val="1A1A1A"/>
                  </a:solidFill>
                  <a:latin typeface="Segoe UI"/>
                </a:rPr>
                <a:t>How can semi-automated migration frameworks reduce technical barriers to OS-level</a:t>
              </a:r>
            </a:p>
            <a:p>
              <a:pPr algn="l">
                <a:lnSpc>
                  <a:spcPct val="125000"/>
                </a:lnSpc>
              </a:pPr>
              <a:r>
                <a:rPr sz="1600" b="0" i="0">
                  <a:solidFill>
                    <a:srgbClr val="1A1A1A"/>
                  </a:solidFill>
                  <a:latin typeface="Segoe UI"/>
                </a:rPr>
                <a:t>sovereignty restoration while maintaining user control, data integrity, and workflow continuity?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AFAE79-2A7C-08A9-8C2C-0C604CF645D3}"/>
              </a:ext>
            </a:extLst>
          </p:cNvPr>
          <p:cNvGrpSpPr/>
          <p:nvPr/>
        </p:nvGrpSpPr>
        <p:grpSpPr>
          <a:xfrm>
            <a:off x="731520" y="4663440"/>
            <a:ext cx="10607040" cy="1508760"/>
            <a:chOff x="731520" y="4663440"/>
            <a:chExt cx="10607040" cy="1508760"/>
          </a:xfrm>
        </p:grpSpPr>
        <p:sp>
          <p:nvSpPr>
            <p:cNvPr id="11" name="Rectangle 10"/>
            <p:cNvSpPr/>
            <p:nvPr/>
          </p:nvSpPr>
          <p:spPr>
            <a:xfrm>
              <a:off x="731520" y="4663440"/>
              <a:ext cx="45720" cy="150876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5840" y="4663440"/>
              <a:ext cx="103327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B97000"/>
                  </a:solidFill>
                  <a:latin typeface="Segoe UI"/>
                </a:rPr>
                <a:t>WHAT IT BUILT — AND STATED AS LIMITATIONS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5840" y="4983480"/>
              <a:ext cx="103327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3F3F3F"/>
                  </a:solidFill>
                  <a:latin typeface="Segoe UI"/>
                </a:rPr>
                <a:t>A working 5-phase pipeline (Assess → Review → Prepare → Migrate → Verify).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5840" y="5394960"/>
              <a:ext cx="103327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100" b="1" i="1" dirty="0">
                  <a:solidFill>
                    <a:srgbClr val="1A1A1A"/>
                  </a:solidFill>
                  <a:latin typeface="Segoe UI"/>
                </a:rPr>
                <a:t>“…heuristic matching… not guaranteeing feature parity.”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The proof of concept this project actually started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3783" y="5833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3F3F3F"/>
                </a:solidFill>
                <a:latin typeface="Segoe UI"/>
              </a:rPr>
              <a:t>github.com/</a:t>
            </a:r>
            <a:r>
              <a:rPr sz="1300" b="0" i="1" dirty="0" err="1">
                <a:solidFill>
                  <a:srgbClr val="3F3F3F"/>
                </a:solidFill>
                <a:latin typeface="Segoe UI"/>
              </a:rPr>
              <a:t>PenCoder</a:t>
            </a:r>
            <a:r>
              <a:rPr sz="1300" b="0" i="1" dirty="0">
                <a:solidFill>
                  <a:srgbClr val="3F3F3F"/>
                </a:solidFill>
                <a:latin typeface="Segoe UI"/>
              </a:rPr>
              <a:t>/semi-auto-migration — cloned and inspected directly, not paraphrased from the term paper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8923B1-2B40-E716-E03E-295734453EE3}"/>
              </a:ext>
            </a:extLst>
          </p:cNvPr>
          <p:cNvGrpSpPr/>
          <p:nvPr/>
        </p:nvGrpSpPr>
        <p:grpSpPr>
          <a:xfrm>
            <a:off x="932868" y="1846580"/>
            <a:ext cx="10332720" cy="2040128"/>
            <a:chOff x="932868" y="1846580"/>
            <a:chExt cx="10332720" cy="2040128"/>
          </a:xfrm>
        </p:grpSpPr>
        <p:sp>
          <p:nvSpPr>
            <p:cNvPr id="6" name="Oval 5"/>
            <p:cNvSpPr/>
            <p:nvPr/>
          </p:nvSpPr>
          <p:spPr>
            <a:xfrm>
              <a:off x="16986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🖥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328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Tkinter GUI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28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 dirty="0">
                  <a:solidFill>
                    <a:srgbClr val="3F3F3F"/>
                  </a:solidFill>
                  <a:latin typeface="Segoe UI"/>
                </a:rPr>
                <a:t>no Qt, no CLI parity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 dirty="0">
                  <a:solidFill>
                    <a:srgbClr val="3F3F3F"/>
                  </a:solidFill>
                  <a:latin typeface="Segoe UI"/>
                </a:rPr>
                <a:t>claim made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3275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17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25 mappings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substring match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only, 1 stage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9564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🧪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906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0 tests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906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no automated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regression coverage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95853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🐧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195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Linux-only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195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packaging; one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22.5MB binary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717F43-43C3-42E9-8A77-615546EDD97D}"/>
              </a:ext>
            </a:extLst>
          </p:cNvPr>
          <p:cNvGrpSpPr/>
          <p:nvPr/>
        </p:nvGrpSpPr>
        <p:grpSpPr>
          <a:xfrm>
            <a:off x="731520" y="4343400"/>
            <a:ext cx="10652760" cy="1188720"/>
            <a:chOff x="731520" y="4343400"/>
            <a:chExt cx="10652760" cy="1188720"/>
          </a:xfrm>
        </p:grpSpPr>
        <p:sp>
          <p:nvSpPr>
            <p:cNvPr id="18" name="Rectangle 17"/>
            <p:cNvSpPr/>
            <p:nvPr/>
          </p:nvSpPr>
          <p:spPr>
            <a:xfrm>
              <a:off x="731520" y="4343400"/>
              <a:ext cx="45720" cy="118872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0120" y="4343400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 dirty="0">
                  <a:solidFill>
                    <a:srgbClr val="B97000"/>
                  </a:solidFill>
                  <a:latin typeface="Segoe UI"/>
                </a:rPr>
                <a:t>INHERITED DEFECT, FOUND AND FIXED THIS SESSION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663440"/>
              <a:ext cx="1042416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1350" b="0" i="0" dirty="0">
                  <a:solidFill>
                    <a:srgbClr val="1A1A1A"/>
                  </a:solidFill>
                  <a:latin typeface="Segoe UI"/>
                </a:rPr>
                <a:t>The proof of concept's apt-get install is one atomic batch call — no per-package fallback, no timeout,</a:t>
              </a:r>
            </a:p>
            <a:p>
              <a:pPr algn="l">
                <a:lnSpc>
                  <a:spcPct val="120000"/>
                </a:lnSpc>
              </a:pPr>
              <a:r>
                <a:rPr lang="en-US" sz="1350" b="0" i="0" dirty="0">
                  <a:solidFill>
                    <a:srgbClr val="1A1A1A"/>
                  </a:solidFill>
                  <a:latin typeface="Segoe UI"/>
                </a:rPr>
                <a:t>failures silently logged and ignored. Same defect existed here until this session's fix.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Same pipeline, three levels of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rapezoid 4"/>
          <p:cNvSpPr/>
          <p:nvPr/>
        </p:nvSpPr>
        <p:spPr>
          <a:xfrm>
            <a:off x="960120" y="1828800"/>
            <a:ext cx="5943600" cy="1051560"/>
          </a:xfrm>
          <a:prstGeom prst="trapezoid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Guided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214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Zero decisions after mode pick</a:t>
            </a:r>
          </a:p>
        </p:txBody>
      </p:sp>
      <p:sp>
        <p:nvSpPr>
          <p:cNvPr id="7" name="Trapezoid 6"/>
          <p:cNvSpPr/>
          <p:nvPr/>
        </p:nvSpPr>
        <p:spPr>
          <a:xfrm>
            <a:off x="1783080" y="2990088"/>
            <a:ext cx="4297680" cy="1051560"/>
          </a:xfrm>
          <a:prstGeom prst="trapezoid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826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+ file type selection</a:t>
            </a:r>
          </a:p>
        </p:txBody>
      </p:sp>
      <p:sp>
        <p:nvSpPr>
          <p:cNvPr id="9" name="Trapezoid 8"/>
          <p:cNvSpPr/>
          <p:nvPr/>
        </p:nvSpPr>
        <p:spPr>
          <a:xfrm>
            <a:off x="2606040" y="4151376"/>
            <a:ext cx="2651760" cy="1051560"/>
          </a:xfrm>
          <a:prstGeom prst="trapezoid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4398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+ overrides + online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3F3F3F"/>
                </a:solidFill>
                <a:latin typeface="Segoe UI"/>
              </a:rPr>
              <a:t>Decreasing automation, increasing manual control, top to bottom.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7AB91A-F7F6-3E79-09B3-AD5B54C91497}"/>
              </a:ext>
            </a:extLst>
          </p:cNvPr>
          <p:cNvGrpSpPr/>
          <p:nvPr/>
        </p:nvGrpSpPr>
        <p:grpSpPr>
          <a:xfrm>
            <a:off x="822960" y="5806440"/>
            <a:ext cx="10469880" cy="365760"/>
            <a:chOff x="822960" y="5806440"/>
            <a:chExt cx="10469880" cy="365760"/>
          </a:xfrm>
        </p:grpSpPr>
        <p:sp>
          <p:nvSpPr>
            <p:cNvPr id="12" name="Rectangle 11"/>
            <p:cNvSpPr/>
            <p:nvPr/>
          </p:nvSpPr>
          <p:spPr>
            <a:xfrm>
              <a:off x="822960" y="5806440"/>
              <a:ext cx="45720" cy="36576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51560" y="5806440"/>
              <a:ext cx="102412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0" i="0">
                  <a:solidFill>
                    <a:srgbClr val="1A1A1A"/>
                  </a:solidFill>
                  <a:latin typeface="Segoe UI"/>
                </a:rPr>
                <a:t>Only Expert mode touches the network — only to verify a package already chosen, never to find it.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Two machines, four clean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BBE9AB-BB80-AD91-6CF9-14DDFC969E1C}"/>
              </a:ext>
            </a:extLst>
          </p:cNvPr>
          <p:cNvGrpSpPr/>
          <p:nvPr/>
        </p:nvGrpSpPr>
        <p:grpSpPr>
          <a:xfrm>
            <a:off x="548640" y="1737360"/>
            <a:ext cx="4892040" cy="914400"/>
            <a:chOff x="548640" y="1737360"/>
            <a:chExt cx="4892040" cy="914400"/>
          </a:xfrm>
        </p:grpSpPr>
        <p:sp>
          <p:nvSpPr>
            <p:cNvPr id="5" name="Rectangle 4"/>
            <p:cNvSpPr/>
            <p:nvPr/>
          </p:nvSpPr>
          <p:spPr>
            <a:xfrm>
              <a:off x="548640" y="1737360"/>
              <a:ext cx="45720" cy="914400"/>
            </a:xfrm>
            <a:prstGeom prst="rect">
              <a:avLst/>
            </a:prstGeom>
            <a:solidFill>
              <a:srgbClr val="008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737360"/>
              <a:ext cx="46634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A1A1A"/>
                  </a:solidFill>
                  <a:latin typeface="Segoe UI"/>
                </a:rPr>
                <a:t>1 — Prepare (Windows)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2148840"/>
              <a:ext cx="466344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0">
                  <a:solidFill>
                    <a:srgbClr val="3F3F3F"/>
                  </a:solidFill>
                  <a:latin typeface="Segoe UI"/>
                </a:rPr>
                <a:t>Scan → map apps → pack a bundle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03FB05-56D3-4B8B-CB89-9326F74D9AB3}"/>
              </a:ext>
            </a:extLst>
          </p:cNvPr>
          <p:cNvGrpSpPr/>
          <p:nvPr/>
        </p:nvGrpSpPr>
        <p:grpSpPr>
          <a:xfrm>
            <a:off x="6035040" y="1737360"/>
            <a:ext cx="5257800" cy="914400"/>
            <a:chOff x="6035040" y="1737360"/>
            <a:chExt cx="5257800" cy="914400"/>
          </a:xfrm>
        </p:grpSpPr>
        <p:sp>
          <p:nvSpPr>
            <p:cNvPr id="8" name="Rectangle 7"/>
            <p:cNvSpPr/>
            <p:nvPr/>
          </p:nvSpPr>
          <p:spPr>
            <a:xfrm>
              <a:off x="6035040" y="1737360"/>
              <a:ext cx="45720" cy="914400"/>
            </a:xfrm>
            <a:prstGeom prst="rect">
              <a:avLst/>
            </a:prstGeom>
            <a:solidFill>
              <a:srgbClr val="063D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63640" y="1737360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A1A1A"/>
                  </a:solidFill>
                  <a:latin typeface="Segoe UI"/>
                </a:rPr>
                <a:t>2 — Restore (Linux Mint)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63640" y="2148840"/>
              <a:ext cx="50292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0">
                  <a:solidFill>
                    <a:srgbClr val="3F3F3F"/>
                  </a:solidFill>
                  <a:latin typeface="Segoe UI"/>
                </a:rPr>
                <a:t>Unzip → restore → verify → report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4008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E2F1E8"/>
          </a:solidFill>
          <a:ln w="12700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439"/>
                </a:solidFill>
                <a:latin typeface="Segoe UI"/>
              </a:rPr>
              <a:t>inventory/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472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3D79"/>
                </a:solidFill>
                <a:latin typeface="Segoe UI"/>
              </a:rPr>
              <a:t>analysis/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F7ECDC"/>
          </a:solidFill>
          <a:ln w="12700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97000"/>
                </a:solidFill>
                <a:latin typeface="Segoe UI"/>
              </a:rPr>
              <a:t>services/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3D79"/>
                </a:solidFill>
                <a:latin typeface="Segoe UI"/>
              </a:rPr>
              <a:t>qt_ui/ +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709160"/>
            <a:ext cx="960120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489204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D79"/>
                </a:solidFill>
                <a:latin typeface="Segoe UI"/>
              </a:rPr>
              <a:t>17,467 LOC (src) · 3,595 LOC (tests) · 89 files · MIT licensed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85232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F3F3F"/>
                </a:solidFill>
                <a:latin typeface="Segoe UI"/>
              </a:rPr>
              <a:t>Pages ↔ Controllers ↔ Services — Qt window only wires up controllers; CLI calls the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F3F3F"/>
                </a:solidFill>
                <a:latin typeface="Segoe UI"/>
              </a:rPr>
              <a:t>same services directly. Iterative work packages (WP1–WP7) plus a 6-day risk buffer before this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One shared decision module, two call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3D79"/>
                </a:solidFill>
                <a:latin typeface="Segoe UI"/>
              </a:rPr>
              <a:t>Qt Wizard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6304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89320" y="15727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3D79"/>
                </a:solidFill>
                <a:latin typeface="Segoe UI"/>
              </a:rPr>
              <a:t>CLI — python -m src.cli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OperationsController / AutomationCoordinator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5740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21671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scan_command()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42920" y="2542032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8483600" y="2542032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2944368"/>
            <a:ext cx="10607040" cy="1325880"/>
          </a:xfrm>
          <a:prstGeom prst="roundRect">
            <a:avLst>
              <a:gd name="adj" fmla="val 7000"/>
            </a:avLst>
          </a:prstGeom>
          <a:solidFill>
            <a:srgbClr val="F7ECDC"/>
          </a:solidFill>
          <a:ln w="12700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358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7000"/>
                </a:solidFill>
                <a:latin typeface="Segoe UI"/>
              </a:rPr>
              <a:t>src/orchestration/mode_policy.py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should_run_analysis(mode)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8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should_run_file_recommendations(mode)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6849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resolve_app_recommendation_strategy(mode)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37580" y="4297680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0607040" cy="502920"/>
          </a:xfrm>
          <a:prstGeom prst="roundRect">
            <a:avLst>
              <a:gd name="adj" fmla="val 7000"/>
            </a:avLst>
          </a:prstGeom>
          <a:solidFill>
            <a:srgbClr val="E2F1E8"/>
          </a:solidFill>
          <a:ln w="12700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1888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Services Layer — MigrationService · RecommendationService · FileRecommendationService · RestoreService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Windows app → Linux package — and a named gap,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259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CSV mapping (238)</a:t>
            </a:r>
          </a:p>
        </p:txBody>
      </p:sp>
      <p:sp>
        <p:nvSpPr>
          <p:cNvPr id="7" name="Oval 6"/>
          <p:cNvSpPr/>
          <p:nvPr/>
        </p:nvSpPr>
        <p:spPr>
          <a:xfrm>
            <a:off x="43548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3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Fuzzy match</a:t>
            </a:r>
          </a:p>
        </p:txBody>
      </p:sp>
      <p:sp>
        <p:nvSpPr>
          <p:cNvPr id="9" name="Oval 8"/>
          <p:cNvSpPr/>
          <p:nvPr/>
        </p:nvSpPr>
        <p:spPr>
          <a:xfrm>
            <a:off x="69837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Confidence floor</a:t>
            </a:r>
          </a:p>
        </p:txBody>
      </p:sp>
      <p:sp>
        <p:nvSpPr>
          <p:cNvPr id="11" name="Oval 10"/>
          <p:cNvSpPr/>
          <p:nvPr/>
        </p:nvSpPr>
        <p:spPr>
          <a:xfrm>
            <a:off x="96126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11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Repology check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75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8064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4353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45720" cy="64008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1A1A1A"/>
                </a:solidFill>
                <a:latin typeface="Segoe UI"/>
              </a:rPr>
              <a:t>Term paper: “Compatibility mapping relies on heuristic matching... not guaranteeing feature parity.”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3D79"/>
                </a:solidFill>
                <a:latin typeface="Segoe UI"/>
              </a:rPr>
              <a:t>WHAT THIS PROJECT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Fuzzy matching (SequenceMatcher) replaces exact-string-only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023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Confidence floors stop the algorithm silently downgrading curated matches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052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Live Repology verification — package existence checked, not assumed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Measurable objectives, defined at project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O1 — Manual steps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≤ 3 in guided mode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O2 — App coverage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80% of top-50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238 entries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O3 — File integrity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95% pass SHA-256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O4 — Sovereignty Score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85%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Scored every run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O5 — Qt/CLI parity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Identical policy, both interfaces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One shared module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O6 — Cycle time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&lt; 20 min for ≤ 5GB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Timed every run — see Critique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Work breakdown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D79"/>
                </a:solidFill>
                <a:latin typeface="Segoe UI"/>
              </a:rPr>
              <a:t>7 WORK PACKAGES + 6-DAY RISK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184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B97000"/>
                </a:solidFill>
                <a:latin typeface="Segoe UI"/>
              </a:rPr>
              <a:t>Open risk: no physical-hardware E2E test — VM pair only</a:t>
            </a:r>
          </a:p>
        </p:txBody>
      </p:sp>
      <p:pic>
        <p:nvPicPr>
          <p:cNvPr id="7" name="Picture 6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064240" cy="32270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Quantified improvement over the 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Proof of concept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This project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App mappings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9.5×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Source LOC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4,031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17,467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4.3×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Automated tests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0 → 192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GUI framework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Tkinter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Qt (PySide6)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rewritten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App-matching stages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(substring)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3 (fuzzy + confidence + online)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→ 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Platforms packaged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(Linux)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 (Win + Linux, auto-embed)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→ 2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Segoe UI"/>
              </a:rPr>
              <a:t>New capabilities with no proof-of-concept equivalent: settings/wallpaper migration, desktop shortcuts, full reset/undo, completeness scoring.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6424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 dirty="0">
                <a:solidFill>
                  <a:srgbClr val="3F3F3F"/>
                </a:solidFill>
                <a:latin typeface="Segoe UI"/>
              </a:rPr>
              <a:t>github.com/</a:t>
            </a:r>
            <a:r>
              <a:rPr sz="1250" b="0" i="1" dirty="0" err="1">
                <a:solidFill>
                  <a:srgbClr val="3F3F3F"/>
                </a:solidFill>
                <a:latin typeface="Segoe UI"/>
              </a:rPr>
              <a:t>PenCoder</a:t>
            </a:r>
            <a:r>
              <a:rPr sz="1250" b="0" i="1" dirty="0">
                <a:solidFill>
                  <a:srgbClr val="3F3F3F"/>
                </a:solidFill>
                <a:latin typeface="Segoe UI"/>
              </a:rPr>
              <a:t>/semi-auto-migration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7 guided steps, then 1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Welcome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92808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14600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Mode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83864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05656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Scan +</a:t>
            </a:r>
          </a:p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Match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96712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65976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87768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Review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57032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78824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Backup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48088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469880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Bundle</a:t>
            </a:r>
          </a:p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i="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1A1A"/>
                </a:solidFill>
                <a:latin typeface="Segoe UI"/>
              </a:rPr>
              <a:t>Restore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49039"/>
            <a:ext cx="4114800" cy="28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endParaRPr sz="1200" b="0" i="0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4434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0" i="0" dirty="0">
                <a:solidFill>
                  <a:srgbClr val="3F3F3F"/>
                </a:solidFill>
                <a:latin typeface="Segoe UI"/>
              </a:rPr>
              <a:t>Failed step? Restart or Review &amp; Complete Anyway. Reset undoes files, shortcuts, the wallpaper file, and (opt-in) apps.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58840" y="3124200"/>
            <a:ext cx="3019044" cy="2758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inal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00400"/>
            <a:ext cx="2866644" cy="2606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5908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 dirty="0">
                <a:solidFill>
                  <a:srgbClr val="3F3F3F"/>
                </a:solidFill>
                <a:latin typeface="Segoe UI"/>
              </a:rPr>
              <a:t>Real report — actual VM restore, 3,344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1A1A1A"/>
                </a:solidFill>
                <a:latin typeface="Segoe UI"/>
              </a:rPr>
              <a:t>192 tests — and 4 bugs only a live VM run exposed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6309360" y="1764792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78308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  <a:latin typeface="Segoe UI"/>
              </a:rPr>
              <a:t>Bad package name failed ALL installs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167128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per-package fallback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2606040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2432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Shortcuts matched requested, not installed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008376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0358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matched to actual installs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447288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46557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Silent multi-minute log gaps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849624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87705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periodic progress logging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4288536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30682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Unanswered prompt could hang forever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4690872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7183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120s timeout per attempt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3F3F3F"/>
                </a:solidFill>
                <a:latin typeface="Segoe UI"/>
              </a:rPr>
              <a:t>CI passing ≠ the real app works.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Undo, and double-click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006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Files</a:t>
            </a:r>
          </a:p>
        </p:txBody>
      </p:sp>
      <p:sp>
        <p:nvSpPr>
          <p:cNvPr id="7" name="Oval 6"/>
          <p:cNvSpPr/>
          <p:nvPr/>
        </p:nvSpPr>
        <p:spPr>
          <a:xfrm>
            <a:off x="281178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Shortcuts</a:t>
            </a:r>
          </a:p>
        </p:txBody>
      </p:sp>
      <p:sp>
        <p:nvSpPr>
          <p:cNvPr id="9" name="Oval 8"/>
          <p:cNvSpPr/>
          <p:nvPr/>
        </p:nvSpPr>
        <p:spPr>
          <a:xfrm>
            <a:off x="514350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Wallpaper</a:t>
            </a:r>
          </a:p>
        </p:txBody>
      </p:sp>
      <p:sp>
        <p:nvSpPr>
          <p:cNvPr id="11" name="Oval 10"/>
          <p:cNvSpPr/>
          <p:nvPr/>
        </p:nvSpPr>
        <p:spPr>
          <a:xfrm>
            <a:off x="747522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Apps (opt-in)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F3F3F"/>
                </a:solidFill>
                <a:latin typeface="Segoe UI"/>
              </a:rPr>
              <a:t>Reset now undoes all of the above — opt-in for apps, live progress in the Activity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49377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26080" y="4069080"/>
            <a:ext cx="731520" cy="73152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migrate.exe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PyInstaller; can bake the Linux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binary in for a single-file standalone.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49377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4069080"/>
            <a:ext cx="731520" cy="73152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restore (ELF binary)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Built on the target distro; embedded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automatically into every bundle.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What the project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238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app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automated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464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guidance modes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31936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1936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6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platforms packaged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31520" y="3246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50280" y="3124200"/>
            <a:ext cx="2968752" cy="2712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inal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00400"/>
            <a:ext cx="2816352" cy="2560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5862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F3F3F"/>
                </a:solidFill>
                <a:latin typeface="Segoe UI"/>
              </a:rPr>
              <a:t>100% sovereignty score — real restore, 3,344 files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CRITIQUE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Four review gaps, plus two found checking our own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Gap raised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Vague objectives ("more dynamic strategies")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O1–O6 measurable targets, each with a result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Qt/CLI consistency too coarse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src/orchestration/mode_policy.py — one shared function per decision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Tight timeline, no buffer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6-day risk buffer added to the Gantt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Stale dates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Evaluation lacks metrics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Automation count, Sovereignty Score, timing real; precision/recall = target only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51960"/>
            <a:ext cx="45720" cy="155448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97000"/>
                </a:solidFill>
                <a:latin typeface="Segoe UI"/>
              </a:rPr>
              <a:t>FOUND WHEN RE-CHECKING THE PROJECT'S OWN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A1A"/>
                </a:solidFill>
                <a:latin typeface="Segoe UI"/>
              </a:rPr>
              <a:t>O6 (cycle time) does not hold up: target was &lt;20 min for ≤5GB; the real logged run took ~30–35 minutes for extract+restore+verify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A1A"/>
                </a:solidFill>
                <a:latin typeface="Segoe UI"/>
              </a:rPr>
              <a:t>Recommendation-quality precision/recall: 0% measured. Methodology is defined; no ground-truth evaluation script has been built or run.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8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3512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1038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1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68564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86090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3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Critique</a:t>
            </a:r>
          </a:p>
        </p:txBody>
      </p:sp>
      <p:sp>
        <p:nvSpPr>
          <p:cNvPr id="15" name="Oval 14"/>
          <p:cNvSpPr/>
          <p:nvPr/>
        </p:nvSpPr>
        <p:spPr>
          <a:xfrm>
            <a:off x="103616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960" y="4892040"/>
            <a:ext cx="175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5720" cy="4023360"/>
          </a:xfrm>
          <a:prstGeom prst="rect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439"/>
                </a:solidFill>
                <a:latin typeface="Segoe UI"/>
              </a:rPr>
              <a:t>DELIVERED</a:t>
            </a:r>
          </a:p>
        </p:txBody>
      </p:sp>
      <p:sp>
        <p:nvSpPr>
          <p:cNvPr id="7" name="Oval 6"/>
          <p:cNvSpPr/>
          <p:nvPr/>
        </p:nvSpPr>
        <p:spPr>
          <a:xfrm>
            <a:off x="923544" y="2331720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682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Dynamic recommendation engine</a:t>
            </a:r>
          </a:p>
        </p:txBody>
      </p:sp>
      <p:sp>
        <p:nvSpPr>
          <p:cNvPr id="9" name="Oval 8"/>
          <p:cNvSpPr/>
          <p:nvPr/>
        </p:nvSpPr>
        <p:spPr>
          <a:xfrm>
            <a:off x="923544" y="2898648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3522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Unified mode policy (Qt + CLI)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" y="3465576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021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Per-stage execution timing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" y="4032504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192 test regression coverage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" y="4599432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360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Real-VM-tested reliability fixes</a:t>
            </a:r>
          </a:p>
        </p:txBody>
      </p:sp>
      <p:sp>
        <p:nvSpPr>
          <p:cNvPr id="17" name="Oval 16"/>
          <p:cNvSpPr/>
          <p:nvPr/>
        </p:nvSpPr>
        <p:spPr>
          <a:xfrm>
            <a:off x="923544" y="5166360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029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Full undo/reset + packaging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83080"/>
            <a:ext cx="45720" cy="402336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97000"/>
                </a:solidFill>
                <a:latin typeface="Segoe UI"/>
              </a:rPr>
              <a:t>NEXT</a:t>
            </a:r>
          </a:p>
        </p:txBody>
      </p:sp>
      <p:sp>
        <p:nvSpPr>
          <p:cNvPr id="21" name="Oval 20"/>
          <p:cNvSpPr/>
          <p:nvPr/>
        </p:nvSpPr>
        <p:spPr>
          <a:xfrm>
            <a:off x="6409944" y="233172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 precision/recall evaluation 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6409944" y="297180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 E2E test, physical machines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361188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6118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Live USB write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409944" y="425196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519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Resume/checkpoint for large restores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References — sovereignty framing cited from the term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Floridi, L. (2020). The fight for digital sovereignty. Philosophy &amp; Technology, 33(3), 369–378.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Pohle, J., &amp; Thiel, T. (2020). Digital sovereignty. Internet Policy Review, 9(4).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Roberts, H., et al. (2021). Safeguarding European values with digital sovereignty. Internet Policy Review, 10(3).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Wehnes, H. (2024). Preventing digital colony and lock-in. INFORMATIK 2024, Gesellschaft für Informatik.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Wire (2025); StatCounter Global Stats (2025). Digital sovereignty survey &amp; OS market share, Europe.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F3F3F"/>
                </a:solidFill>
                <a:latin typeface="Segoe UI"/>
              </a:rPr>
              <a:t>Full bibliography: Arthur, J. — Digital Sovereignty Through Semi-Automated OS Migration (term paper).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3_powerpoint_2016_wide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2FFA4946-9F4B-4605-8084-75765F482D84}" vid="{CE7CD113-EA7C-43EC-B83E-E9DFC241FB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1550</Words>
  <Application>Microsoft Office PowerPoint</Application>
  <PresentationFormat>Widescreen</PresentationFormat>
  <Paragraphs>335</Paragraphs>
  <Slides>26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Rounded MT Bold</vt:lpstr>
      <vt:lpstr>Segoe UI</vt:lpstr>
      <vt:lpstr>Times New Roman</vt:lpstr>
      <vt:lpstr>Wingdings</vt:lpstr>
      <vt:lpstr>Wingdings 3</vt:lpstr>
      <vt:lpstr>i3_powerpoint_2016_wide</vt:lpstr>
      <vt:lpstr>Fully Automated Migration Framework from Windows 11 to Linux Mint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christopher.metter</dc:creator>
  <cp:lastModifiedBy>Japhet Appau Arthur</cp:lastModifiedBy>
  <cp:revision>304</cp:revision>
  <dcterms:created xsi:type="dcterms:W3CDTF">2016-06-17T10:34:47Z</dcterms:created>
  <dcterms:modified xsi:type="dcterms:W3CDTF">2026-06-22T20:22:53Z</dcterms:modified>
</cp:coreProperties>
</file>