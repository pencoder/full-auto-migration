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51" r:id="rId1"/>
  </p:sldMasterIdLst>
  <p:notesMasterIdLst>
    <p:notesMasterId r:id="rId29"/>
  </p:notesMasterIdLst>
  <p:handoutMasterIdLst>
    <p:handoutMasterId r:id="rId30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82" r:id="rId21"/>
    <p:sldId id="275" r:id="rId22"/>
    <p:sldId id="283" r:id="rId23"/>
    <p:sldId id="278" r:id="rId24"/>
    <p:sldId id="279" r:id="rId25"/>
    <p:sldId id="284" r:id="rId26"/>
    <p:sldId id="280" r:id="rId27"/>
    <p:sldId id="281" r:id="rId28"/>
  </p:sldIdLst>
  <p:sldSz cx="12192000" cy="6858000"/>
  <p:notesSz cx="6797675" cy="9928225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1400" b="1" kern="1200">
        <a:solidFill>
          <a:schemeClr val="tx1"/>
        </a:solidFill>
        <a:latin typeface="Arial Rounded MT Bold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1400" b="1" kern="1200">
        <a:solidFill>
          <a:schemeClr val="tx1"/>
        </a:solidFill>
        <a:latin typeface="Arial Rounded MT Bold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1400" b="1" kern="1200">
        <a:solidFill>
          <a:schemeClr val="tx1"/>
        </a:solidFill>
        <a:latin typeface="Arial Rounded MT Bold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1400" b="1" kern="1200">
        <a:solidFill>
          <a:schemeClr val="tx1"/>
        </a:solidFill>
        <a:latin typeface="Arial Rounded MT Bold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1400" b="1" kern="1200">
        <a:solidFill>
          <a:schemeClr val="tx1"/>
        </a:solidFill>
        <a:latin typeface="Arial Rounded MT Bold" pitchFamily="34" charset="0"/>
        <a:ea typeface="+mn-ea"/>
        <a:cs typeface="+mn-cs"/>
      </a:defRPr>
    </a:lvl5pPr>
    <a:lvl6pPr marL="2286000" algn="l" defTabSz="914400" rtl="0" eaLnBrk="1" latinLnBrk="0" hangingPunct="1">
      <a:defRPr sz="1400" b="1" kern="1200">
        <a:solidFill>
          <a:schemeClr val="tx1"/>
        </a:solidFill>
        <a:latin typeface="Arial Rounded MT Bold" pitchFamily="34" charset="0"/>
        <a:ea typeface="+mn-ea"/>
        <a:cs typeface="+mn-cs"/>
      </a:defRPr>
    </a:lvl6pPr>
    <a:lvl7pPr marL="2743200" algn="l" defTabSz="914400" rtl="0" eaLnBrk="1" latinLnBrk="0" hangingPunct="1">
      <a:defRPr sz="1400" b="1" kern="1200">
        <a:solidFill>
          <a:schemeClr val="tx1"/>
        </a:solidFill>
        <a:latin typeface="Arial Rounded MT Bold" pitchFamily="34" charset="0"/>
        <a:ea typeface="+mn-ea"/>
        <a:cs typeface="+mn-cs"/>
      </a:defRPr>
    </a:lvl7pPr>
    <a:lvl8pPr marL="3200400" algn="l" defTabSz="914400" rtl="0" eaLnBrk="1" latinLnBrk="0" hangingPunct="1">
      <a:defRPr sz="1400" b="1" kern="1200">
        <a:solidFill>
          <a:schemeClr val="tx1"/>
        </a:solidFill>
        <a:latin typeface="Arial Rounded MT Bold" pitchFamily="34" charset="0"/>
        <a:ea typeface="+mn-ea"/>
        <a:cs typeface="+mn-cs"/>
      </a:defRPr>
    </a:lvl8pPr>
    <a:lvl9pPr marL="3657600" algn="l" defTabSz="914400" rtl="0" eaLnBrk="1" latinLnBrk="0" hangingPunct="1">
      <a:defRPr sz="1400" b="1" kern="1200">
        <a:solidFill>
          <a:schemeClr val="tx1"/>
        </a:solidFill>
        <a:latin typeface="Arial Rounded MT Bold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7">
          <p15:clr>
            <a:srgbClr val="A4A3A4"/>
          </p15:clr>
        </p15:guide>
        <p15:guide id="2" pos="214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FA7F7"/>
    <a:srgbClr val="C5DAF3"/>
    <a:srgbClr val="FFFFFF"/>
    <a:srgbClr val="1F5394"/>
    <a:srgbClr val="FFCBBE"/>
    <a:srgbClr val="B6E1D6"/>
    <a:srgbClr val="6DC4AD"/>
    <a:srgbClr val="FF987D"/>
    <a:srgbClr val="306AAB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5" autoAdjust="0"/>
    <p:restoredTop sz="93593" autoAdjust="0"/>
  </p:normalViewPr>
  <p:slideViewPr>
    <p:cSldViewPr>
      <p:cViewPr varScale="1">
        <p:scale>
          <a:sx n="76" d="100"/>
          <a:sy n="76" d="100"/>
        </p:scale>
        <p:origin x="134" y="43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94" d="100"/>
          <a:sy n="94" d="100"/>
        </p:scale>
        <p:origin x="3702" y="72"/>
      </p:cViewPr>
      <p:guideLst>
        <p:guide orient="horz" pos="3127"/>
        <p:guide pos="2141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handoutMaster" Target="handoutMasters/handout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300" b="1"/>
              <a:t>The preference-behaviour gap (Wire/StatCounter 2025)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%</c:v>
                </c:pt>
              </c:strCache>
            </c:strRef>
          </c:tx>
          <c:spPr>
            <a:solidFill>
              <a:srgbClr val="063D79"/>
            </a:solidFill>
            <a:ln>
              <a:noFill/>
            </a:ln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>
                    <a:solidFill>
                      <a:srgbClr val="1A1A1A"/>
                    </a:solidFill>
                  </a:defRPr>
                </a:pPr>
                <a:endParaRPr lang="en-GH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Rate open-source
critical</c:v>
                </c:pt>
                <c:pt idx="1">
                  <c:v>Cite reducing
US-vendor dep.</c:v>
                </c:pt>
                <c:pt idx="2">
                  <c:v>Still run
Windows (EU)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63.2</c:v>
                </c:pt>
                <c:pt idx="1">
                  <c:v>47.4</c:v>
                </c:pt>
                <c:pt idx="2">
                  <c:v>67.75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8CD8-4974-B678-59EC95B36EF6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8DADC"/>
            </a:solidFill>
          </a:ln>
        </c:spPr>
        <c:txPr>
          <a:bodyPr/>
          <a:lstStyle/>
          <a:p>
            <a:pPr>
              <a:defRPr sz="1300">
                <a:solidFill>
                  <a:srgbClr val="1A1A1A"/>
                </a:solidFill>
              </a:defRPr>
            </a:pPr>
            <a:endParaRPr lang="en-GH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300" b="1"/>
              <a:t>This codebase's network calls — counted, not claimed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Outbound calls</c:v>
                </c:pt>
              </c:strCache>
            </c:strRef>
          </c:tx>
          <c:spPr>
            <a:solidFill>
              <a:srgbClr val="008439"/>
            </a:solidFill>
            <a:ln>
              <a:noFill/>
            </a:ln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>
                    <a:solidFill>
                      <a:srgbClr val="1A1A1A"/>
                    </a:solidFill>
                  </a:defRPr>
                </a:pPr>
                <a:endParaRPr lang="en-GH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Repology
(opt-in)</c:v>
                </c:pt>
                <c:pt idx="1">
                  <c:v>Telemetry</c:v>
                </c:pt>
                <c:pt idx="2">
                  <c:v>Ads/
tracking</c:v>
                </c:pt>
                <c:pt idx="3">
                  <c:v>Remote
analytics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13BA-4D68-A66B-6498899D612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8DADC"/>
            </a:solidFill>
          </a:ln>
        </c:spPr>
        <c:txPr>
          <a:bodyPr/>
          <a:lstStyle/>
          <a:p>
            <a:pPr>
              <a:defRPr sz="1300">
                <a:solidFill>
                  <a:srgbClr val="1A1A1A"/>
                </a:solidFill>
              </a:defRPr>
            </a:pPr>
            <a:endParaRPr lang="en-GH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Test functions</c:v>
                </c:pt>
              </c:strCache>
            </c:strRef>
          </c:tx>
          <c:spPr>
            <a:solidFill>
              <a:srgbClr val="063D79"/>
            </a:solidFill>
            <a:ln>
              <a:noFill/>
            </a:ln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>
                    <a:solidFill>
                      <a:srgbClr val="1A1A1A"/>
                    </a:solidFill>
                  </a:defRPr>
                </a:pPr>
                <a:endParaRPr lang="en-GH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Unit</c:v>
                </c:pt>
                <c:pt idx="1">
                  <c:v>Integ.</c:v>
                </c:pt>
                <c:pt idx="2">
                  <c:v>Perf.</c:v>
                </c:pt>
                <c:pt idx="3">
                  <c:v>E2E</c:v>
                </c:pt>
                <c:pt idx="4">
                  <c:v>UI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80</c:v>
                </c:pt>
                <c:pt idx="1">
                  <c:v>68</c:v>
                </c:pt>
                <c:pt idx="2">
                  <c:v>18</c:v>
                </c:pt>
                <c:pt idx="3">
                  <c:v>15</c:v>
                </c:pt>
                <c:pt idx="4">
                  <c:v>11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41D3-4B7C-8883-2AF9F4DBB91B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8DADC"/>
            </a:solidFill>
          </a:ln>
        </c:spPr>
        <c:txPr>
          <a:bodyPr/>
          <a:lstStyle/>
          <a:p>
            <a:pPr>
              <a:defRPr sz="1300">
                <a:solidFill>
                  <a:srgbClr val="1A1A1A"/>
                </a:solidFill>
              </a:defRPr>
            </a:pPr>
            <a:endParaRPr lang="en-GH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300" b="1"/>
              <a:t>App mapping table growth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App mappings</c:v>
                </c:pt>
              </c:strCache>
            </c:strRef>
          </c:tx>
          <c:spPr>
            <a:solidFill>
              <a:srgbClr val="008439"/>
            </a:solidFill>
            <a:ln>
              <a:noFill/>
            </a:ln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>
                    <a:solidFill>
                      <a:srgbClr val="1A1A1A"/>
                    </a:solidFill>
                  </a:defRPr>
                </a:pPr>
                <a:endParaRPr lang="en-GH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Before</c:v>
                </c:pt>
                <c:pt idx="1">
                  <c:v>Now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149</c:v>
                </c:pt>
                <c:pt idx="1">
                  <c:v>238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B230-492A-AE73-A0CA52B56C80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8DADC"/>
            </a:solidFill>
          </a:ln>
        </c:spPr>
        <c:txPr>
          <a:bodyPr/>
          <a:lstStyle/>
          <a:p>
            <a:pPr>
              <a:defRPr sz="1300">
                <a:solidFill>
                  <a:srgbClr val="1A1A1A"/>
                </a:solidFill>
              </a:defRPr>
            </a:pPr>
            <a:endParaRPr lang="en-GH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3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 b="0">
                <a:latin typeface="Times New Roman" pitchFamily="18" charset="0"/>
              </a:defRPr>
            </a:lvl1pPr>
          </a:lstStyle>
          <a:p>
            <a:endParaRPr lang="en-US"/>
          </a:p>
        </p:txBody>
      </p:sp>
      <p:sp>
        <p:nvSpPr>
          <p:cNvPr id="313347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49688" y="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 b="0">
                <a:latin typeface="Times New Roman" pitchFamily="18" charset="0"/>
              </a:defRPr>
            </a:lvl1pPr>
          </a:lstStyle>
          <a:p>
            <a:endParaRPr lang="en-US"/>
          </a:p>
        </p:txBody>
      </p:sp>
      <p:sp>
        <p:nvSpPr>
          <p:cNvPr id="31334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2975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 b="0">
                <a:latin typeface="Times New Roman" pitchFamily="18" charset="0"/>
              </a:defRPr>
            </a:lvl1pPr>
          </a:lstStyle>
          <a:p>
            <a:endParaRPr lang="en-US"/>
          </a:p>
        </p:txBody>
      </p:sp>
      <p:sp>
        <p:nvSpPr>
          <p:cNvPr id="31334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49688" y="942975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b="0">
                <a:latin typeface="Times New Roman" pitchFamily="18" charset="0"/>
              </a:defRPr>
            </a:lvl1pPr>
          </a:lstStyle>
          <a:p>
            <a:fld id="{66D17C0D-3159-464E-A332-7C83698A29E4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85408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571" tIns="47786" rIns="95571" bIns="47786" numCol="1" anchor="t" anchorCtr="0" compatLnSpc="1">
            <a:prstTxWarp prst="textNoShape">
              <a:avLst/>
            </a:prstTxWarp>
          </a:bodyPr>
          <a:lstStyle>
            <a:lvl1pPr defTabSz="955675" eaLnBrk="1" hangingPunct="1">
              <a:defRPr sz="1300" b="0">
                <a:latin typeface="Times New Roman" pitchFamily="18" charset="0"/>
              </a:defRPr>
            </a:lvl1pPr>
          </a:lstStyle>
          <a:p>
            <a:endParaRPr lang="en-US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51275" y="0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571" tIns="47786" rIns="95571" bIns="47786" numCol="1" anchor="t" anchorCtr="0" compatLnSpc="1">
            <a:prstTxWarp prst="textNoShape">
              <a:avLst/>
            </a:prstTxWarp>
          </a:bodyPr>
          <a:lstStyle>
            <a:lvl1pPr algn="r" defTabSz="955675" eaLnBrk="1" hangingPunct="1">
              <a:defRPr sz="1300" b="0">
                <a:latin typeface="Times New Roman" pitchFamily="18" charset="0"/>
              </a:defRPr>
            </a:lvl1pPr>
          </a:lstStyle>
          <a:p>
            <a:endParaRPr lang="en-US"/>
          </a:p>
        </p:txBody>
      </p:sp>
      <p:sp>
        <p:nvSpPr>
          <p:cNvPr id="410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2075" y="746125"/>
            <a:ext cx="6615113" cy="37211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41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06463" y="4714875"/>
            <a:ext cx="4984750" cy="4467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571" tIns="47786" rIns="95571" bIns="4778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Klicken Sie, um die Formate des Vorlagentextes zu bearbeiten</a:t>
            </a:r>
          </a:p>
          <a:p>
            <a:pPr lvl="1"/>
            <a:r>
              <a:rPr lang="en-US"/>
              <a:t>Zweite Ebene</a:t>
            </a:r>
          </a:p>
          <a:p>
            <a:pPr lvl="2"/>
            <a:r>
              <a:rPr lang="en-US"/>
              <a:t>Dritte Ebene</a:t>
            </a:r>
          </a:p>
          <a:p>
            <a:pPr lvl="3"/>
            <a:r>
              <a:rPr lang="en-US"/>
              <a:t>Vierte Ebene</a:t>
            </a:r>
          </a:p>
          <a:p>
            <a:pPr lvl="4"/>
            <a:r>
              <a:rPr lang="en-US"/>
              <a:t>Fünfte Ebene</a:t>
            </a:r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432925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571" tIns="47786" rIns="95571" bIns="47786" numCol="1" anchor="b" anchorCtr="0" compatLnSpc="1">
            <a:prstTxWarp prst="textNoShape">
              <a:avLst/>
            </a:prstTxWarp>
          </a:bodyPr>
          <a:lstStyle>
            <a:lvl1pPr defTabSz="955675" eaLnBrk="1" hangingPunct="1">
              <a:defRPr sz="1300" b="0">
                <a:latin typeface="Times New Roman" pitchFamily="18" charset="0"/>
              </a:defRPr>
            </a:lvl1pPr>
          </a:lstStyle>
          <a:p>
            <a:endParaRPr lang="en-US"/>
          </a:p>
        </p:txBody>
      </p:sp>
      <p:sp>
        <p:nvSpPr>
          <p:cNvPr id="41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51275" y="9432925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571" tIns="47786" rIns="95571" bIns="47786" numCol="1" anchor="b" anchorCtr="0" compatLnSpc="1">
            <a:prstTxWarp prst="textNoShape">
              <a:avLst/>
            </a:prstTxWarp>
          </a:bodyPr>
          <a:lstStyle>
            <a:lvl1pPr algn="r" defTabSz="955675" eaLnBrk="1" hangingPunct="1">
              <a:defRPr sz="1300" b="0">
                <a:latin typeface="Times New Roman" pitchFamily="18" charset="0"/>
              </a:defRPr>
            </a:lvl1pPr>
          </a:lstStyle>
          <a:p>
            <a:fld id="{412C2970-D838-4E16-9F7E-5362C8D6E639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8221483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1" dirty="0">
                <a:solidFill>
                  <a:srgbClr val="3F3F3F"/>
                </a:solidFill>
                <a:latin typeface="Segoe UI"/>
              </a:rPr>
              <a:t>Verified by identity, not output: </a:t>
            </a:r>
            <a:r>
              <a:rPr lang="en-US" sz="1200" b="0" i="1" dirty="0" err="1">
                <a:solidFill>
                  <a:srgbClr val="3F3F3F"/>
                </a:solidFill>
                <a:latin typeface="Segoe UI"/>
              </a:rPr>
              <a:t>Qt.resolve_app_recommendation_strategy</a:t>
            </a:r>
            <a:r>
              <a:rPr lang="en-US" sz="1200" b="0" i="1" dirty="0">
                <a:solidFill>
                  <a:srgbClr val="3F3F3F"/>
                </a:solidFill>
                <a:latin typeface="Segoe UI"/>
              </a:rPr>
              <a:t> is </a:t>
            </a:r>
            <a:r>
              <a:rPr lang="en-US" sz="1200" b="0" i="1" dirty="0" err="1">
                <a:solidFill>
                  <a:srgbClr val="3F3F3F"/>
                </a:solidFill>
                <a:latin typeface="Segoe UI"/>
              </a:rPr>
              <a:t>CLI.resolve_app_recommendation_strategy</a:t>
            </a:r>
            <a:r>
              <a:rPr lang="en-US" sz="1200" b="0" i="1" dirty="0">
                <a:solidFill>
                  <a:srgbClr val="3F3F3F"/>
                </a:solidFill>
                <a:latin typeface="Segoe UI"/>
              </a:rPr>
              <a:t> — both call paths hold the same function object, so a policy change can't silently apply to only one interface.</a:t>
            </a:r>
          </a:p>
          <a:p>
            <a:endParaRPr lang="en-G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2C2970-D838-4E16-9F7E-5362C8D6E639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00062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dirty="0">
                <a:solidFill>
                  <a:srgbClr val="1A1A1A"/>
                </a:solidFill>
                <a:latin typeface="Segoe UI"/>
              </a:rPr>
              <a:t>New capabilities with no proof-of-concept equivalent: settings/wallpaper migration, desktop shortcuts, full reset/undo, completeness scoring.</a:t>
            </a:r>
          </a:p>
          <a:p>
            <a:endParaRPr lang="en-G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2C2970-D838-4E16-9F7E-5362C8D6E639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33648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1" dirty="0">
                <a:solidFill>
                  <a:srgbClr val="3F3F3F"/>
                </a:solidFill>
                <a:latin typeface="Segoe UI"/>
              </a:rPr>
              <a:t>→ migration_bundle.zip (manifest + SHA-256, apps, settings, optional Linux binary)</a:t>
            </a:r>
          </a:p>
          <a:p>
            <a:endParaRPr lang="en-US" dirty="0"/>
          </a:p>
          <a:p>
            <a:pPr algn="l">
              <a:lnSpc>
                <a:spcPct val="115000"/>
              </a:lnSpc>
            </a:pPr>
            <a:r>
              <a:rPr lang="en-US" sz="1200" b="0" i="0" dirty="0">
                <a:solidFill>
                  <a:srgbClr val="3F3F3F"/>
                </a:solidFill>
                <a:latin typeface="Segoe UI"/>
              </a:rPr>
              <a:t>Restore, verify (SHA-256), and report</a:t>
            </a:r>
          </a:p>
          <a:p>
            <a:pPr algn="l">
              <a:lnSpc>
                <a:spcPct val="115000"/>
              </a:lnSpc>
            </a:pPr>
            <a:r>
              <a:rPr lang="en-US" sz="1200" b="0" i="0" dirty="0">
                <a:solidFill>
                  <a:srgbClr val="3F3F3F"/>
                </a:solidFill>
                <a:latin typeface="Segoe UI"/>
              </a:rPr>
              <a:t>all happen within that one click.</a:t>
            </a:r>
          </a:p>
          <a:p>
            <a:endParaRPr lang="en-US" dirty="0"/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dirty="0">
                <a:solidFill>
                  <a:srgbClr val="3F3F3F"/>
                </a:solidFill>
                <a:latin typeface="Segoe UI"/>
              </a:rPr>
              <a:t>Failed step? Restart or Review &amp; Complete Anyway. Reset undoes files, shortcuts, the wallpaper file, and (opt-in) apps.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2C2970-D838-4E16-9F7E-5362C8D6E639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446431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6.wmf"/><Relationship Id="rId4" Type="http://schemas.openxmlformats.org/officeDocument/2006/relationships/image" Target="../media/image9.jpeg"/><Relationship Id="rId5" Type="http://schemas.openxmlformats.org/officeDocument/2006/relationships/image" Target="../media/image1.png"/><Relationship Id="rId6" Type="http://schemas.openxmlformats.org/officeDocument/2006/relationships/image" Target="../media/image2.png"/><Relationship Id="rId7" Type="http://schemas.openxmlformats.org/officeDocument/2006/relationships/image" Target="../media/image3.png"/><Relationship Id="rId8" Type="http://schemas.openxmlformats.org/officeDocument/2006/relationships/image" Target="../media/image4.png"/><Relationship Id="rId9" Type="http://schemas.openxmlformats.org/officeDocument/2006/relationships/image" Target="../media/image5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/>
          <p:cNvSpPr>
            <a:spLocks noGrp="1" noChangeArrowheads="1"/>
          </p:cNvSpPr>
          <p:nvPr>
            <p:ph type="ctrTitle" sz="quarter"/>
          </p:nvPr>
        </p:nvSpPr>
        <p:spPr>
          <a:xfrm>
            <a:off x="488951" y="1960563"/>
            <a:ext cx="11214100" cy="1828800"/>
          </a:xfrm>
        </p:spPr>
        <p:txBody>
          <a:bodyPr/>
          <a:lstStyle>
            <a:lvl1pPr algn="ctr">
              <a:defRPr sz="4000">
                <a:latin typeface="+mn-lt"/>
              </a:defRPr>
            </a:lvl1pPr>
          </a:lstStyle>
          <a:p>
            <a:r>
              <a:rPr lang="de-DE"/>
              <a:t>Titelmasterformat durch Klicken bearbeiten</a:t>
            </a:r>
            <a:endParaRPr lang="en-GB" dirty="0"/>
          </a:p>
        </p:txBody>
      </p:sp>
      <p:sp>
        <p:nvSpPr>
          <p:cNvPr id="181253" name="Rectangle 5"/>
          <p:cNvSpPr>
            <a:spLocks noGrp="1" noChangeArrowheads="1"/>
          </p:cNvSpPr>
          <p:nvPr>
            <p:ph type="subTitle" sz="quarter" idx="1" hasCustomPrompt="1"/>
          </p:nvPr>
        </p:nvSpPr>
        <p:spPr>
          <a:xfrm>
            <a:off x="1828800" y="4149725"/>
            <a:ext cx="8534400" cy="406400"/>
          </a:xfrm>
        </p:spPr>
        <p:txBody>
          <a:bodyPr lIns="91440" tIns="45720" rIns="91440" bIns="45720"/>
          <a:lstStyle>
            <a:lvl1pPr marL="0" indent="0" algn="ctr">
              <a:buFont typeface="Wingdings 3" pitchFamily="18" charset="2"/>
              <a:buNone/>
              <a:defRPr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author name</a:t>
            </a:r>
            <a:endParaRPr lang="de-DE" dirty="0"/>
          </a:p>
        </p:txBody>
      </p:sp>
      <p:sp>
        <p:nvSpPr>
          <p:cNvPr id="181255" name="Text Box 7"/>
          <p:cNvSpPr txBox="1">
            <a:spLocks noChangeArrowheads="1"/>
          </p:cNvSpPr>
          <p:nvPr/>
        </p:nvSpPr>
        <p:spPr bwMode="auto">
          <a:xfrm>
            <a:off x="1775885" y="4616301"/>
            <a:ext cx="8640233" cy="39687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algn="ctr">
              <a:spcBef>
                <a:spcPct val="50000"/>
              </a:spcBef>
            </a:pPr>
            <a:r>
              <a:rPr lang="de-DE" sz="2000" i="1" dirty="0">
                <a:solidFill>
                  <a:srgbClr val="777777"/>
                </a:solidFill>
                <a:latin typeface="Arial" charset="0"/>
              </a:rPr>
              <a:t>comnet.informatik.uni-wuerzburg.de</a:t>
            </a:r>
          </a:p>
        </p:txBody>
      </p:sp>
      <p:grpSp>
        <p:nvGrpSpPr>
          <p:cNvPr id="5" name="Gruppieren 4"/>
          <p:cNvGrpSpPr/>
          <p:nvPr userDrawn="1"/>
        </p:nvGrpSpPr>
        <p:grpSpPr>
          <a:xfrm>
            <a:off x="0" y="431800"/>
            <a:ext cx="12191999" cy="898525"/>
            <a:chOff x="0" y="431800"/>
            <a:chExt cx="12191999" cy="898525"/>
          </a:xfrm>
        </p:grpSpPr>
        <p:sp>
          <p:nvSpPr>
            <p:cNvPr id="2" name="Rechteck 1"/>
            <p:cNvSpPr/>
            <p:nvPr userDrawn="1"/>
          </p:nvSpPr>
          <p:spPr bwMode="auto">
            <a:xfrm>
              <a:off x="9768408" y="431800"/>
              <a:ext cx="2423591" cy="898525"/>
            </a:xfrm>
            <a:prstGeom prst="rect">
              <a:avLst/>
            </a:prstGeom>
            <a:solidFill>
              <a:srgbClr val="D0D0D0"/>
            </a:solidFill>
            <a:ln w="1270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e-DE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Rounded MT Bold" pitchFamily="34" charset="0"/>
              </a:endParaRPr>
            </a:p>
          </p:txBody>
        </p:sp>
        <p:pic>
          <p:nvPicPr>
            <p:cNvPr id="39" name="Picture 9" descr="unilogo4c"/>
            <p:cNvPicPr>
              <a:picLocks noChangeAspect="1" noChangeArrowheads="1"/>
            </p:cNvPicPr>
            <p:nvPr userDrawn="1"/>
          </p:nvPicPr>
          <p:blipFill>
            <a:blip r:embed="rId2" cstate="print"/>
            <a:srcRect r="20525"/>
            <a:stretch>
              <a:fillRect/>
            </a:stretch>
          </p:blipFill>
          <p:spPr bwMode="auto">
            <a:xfrm>
              <a:off x="624408" y="431800"/>
              <a:ext cx="9144000" cy="898525"/>
            </a:xfrm>
            <a:prstGeom prst="rect">
              <a:avLst/>
            </a:prstGeom>
            <a:noFill/>
          </p:spPr>
        </p:pic>
        <p:sp>
          <p:nvSpPr>
            <p:cNvPr id="181258" name="Rectangle 10"/>
            <p:cNvSpPr>
              <a:spLocks noChangeArrowheads="1"/>
            </p:cNvSpPr>
            <p:nvPr/>
          </p:nvSpPr>
          <p:spPr bwMode="auto">
            <a:xfrm>
              <a:off x="4968552" y="500063"/>
              <a:ext cx="6096000" cy="738664"/>
            </a:xfrm>
            <a:prstGeom prst="rect">
              <a:avLst/>
            </a:prstGeom>
            <a:noFill/>
            <a:ln w="12700">
              <a:noFill/>
              <a:miter lim="800000"/>
              <a:headEnd type="none" w="sm" len="sm"/>
              <a:tailEnd type="none" w="sm" len="sm"/>
            </a:ln>
            <a:effectLst/>
          </p:spPr>
          <p:txBody>
            <a:bodyPr>
              <a:spAutoFit/>
            </a:bodyPr>
            <a:lstStyle/>
            <a:p>
              <a:pPr algn="r"/>
              <a:r>
                <a:rPr lang="en-US" sz="1400" b="0" dirty="0" err="1">
                  <a:latin typeface="Arial" charset="0"/>
                </a:rPr>
                <a:t>Institut</a:t>
              </a:r>
              <a:r>
                <a:rPr lang="en-US" sz="1400" b="0" dirty="0">
                  <a:latin typeface="Arial" charset="0"/>
                </a:rPr>
                <a:t> f</a:t>
              </a:r>
              <a:r>
                <a:rPr lang="de-DE" sz="1400" b="0" dirty="0" err="1">
                  <a:latin typeface="Arial" charset="0"/>
                </a:rPr>
                <a:t>ür</a:t>
              </a:r>
              <a:r>
                <a:rPr lang="de-DE" sz="1400" b="0" dirty="0">
                  <a:latin typeface="Arial" charset="0"/>
                </a:rPr>
                <a:t> Informatik</a:t>
              </a:r>
              <a:endParaRPr lang="en-US" sz="1400" b="0" dirty="0">
                <a:latin typeface="Arial" charset="0"/>
              </a:endParaRPr>
            </a:p>
            <a:p>
              <a:pPr algn="r"/>
              <a:r>
                <a:rPr lang="en-US" sz="1400" b="0" dirty="0" err="1">
                  <a:latin typeface="Arial" charset="0"/>
                </a:rPr>
                <a:t>Lehrstuhl</a:t>
              </a:r>
              <a:r>
                <a:rPr lang="en-US" sz="1400" b="0" dirty="0">
                  <a:latin typeface="Arial" charset="0"/>
                </a:rPr>
                <a:t> </a:t>
              </a:r>
              <a:r>
                <a:rPr lang="en-US" sz="1400" b="0" dirty="0" err="1">
                  <a:latin typeface="Arial" charset="0"/>
                </a:rPr>
                <a:t>für</a:t>
              </a:r>
              <a:r>
                <a:rPr lang="en-US" sz="1400" b="0" dirty="0">
                  <a:latin typeface="Arial" charset="0"/>
                </a:rPr>
                <a:t> </a:t>
              </a:r>
              <a:r>
                <a:rPr lang="en-US" sz="1400" b="0" dirty="0" err="1">
                  <a:latin typeface="Arial" charset="0"/>
                </a:rPr>
                <a:t>Kommunikationsnetze</a:t>
              </a:r>
              <a:endParaRPr lang="en-US" sz="1400" b="0" dirty="0">
                <a:latin typeface="Arial" charset="0"/>
              </a:endParaRPr>
            </a:p>
            <a:p>
              <a:pPr algn="r"/>
              <a:r>
                <a:rPr lang="en-US" sz="1400" b="0" dirty="0">
                  <a:latin typeface="Arial" charset="0"/>
                </a:rPr>
                <a:t>Prof. Dr.</a:t>
              </a:r>
              <a:r>
                <a:rPr lang="en-US" sz="1400" b="0" baseline="0" dirty="0">
                  <a:latin typeface="Arial" charset="0"/>
                </a:rPr>
                <a:t> T</a:t>
              </a:r>
              <a:r>
                <a:rPr lang="en-US" sz="1400" b="0" dirty="0">
                  <a:latin typeface="Arial" charset="0"/>
                </a:rPr>
                <a:t>. </a:t>
              </a:r>
              <a:r>
                <a:rPr lang="en-US" sz="1400" b="0" dirty="0" err="1">
                  <a:latin typeface="Arial" charset="0"/>
                </a:rPr>
                <a:t>Hoßfeld</a:t>
              </a:r>
              <a:endParaRPr lang="en-US" sz="1400" b="0" dirty="0">
                <a:latin typeface="Arial" charset="0"/>
              </a:endParaRPr>
            </a:p>
          </p:txBody>
        </p:sp>
        <p:pic>
          <p:nvPicPr>
            <p:cNvPr id="23" name="Picture 11"/>
            <p:cNvPicPr>
              <a:picLocks noChangeArrowheads="1"/>
            </p:cNvPicPr>
            <p:nvPr userDrawn="1"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11170219" y="509826"/>
              <a:ext cx="700088" cy="7191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>
              <a:outerShdw dist="63500" dir="3187806" algn="ctr" rotWithShape="0">
                <a:schemeClr val="bg2">
                  <a:alpha val="50000"/>
                </a:schemeClr>
              </a:outerShdw>
            </a:effectLst>
          </p:spPr>
        </p:pic>
        <p:sp>
          <p:nvSpPr>
            <p:cNvPr id="40" name="Rechteck 39"/>
            <p:cNvSpPr/>
            <p:nvPr userDrawn="1"/>
          </p:nvSpPr>
          <p:spPr bwMode="auto">
            <a:xfrm>
              <a:off x="0" y="431800"/>
              <a:ext cx="2855640" cy="898525"/>
            </a:xfrm>
            <a:prstGeom prst="rect">
              <a:avLst/>
            </a:prstGeom>
            <a:solidFill>
              <a:srgbClr val="D0D0D0"/>
            </a:solidFill>
            <a:ln w="1270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e-DE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Rounded MT Bold" pitchFamily="34" charset="0"/>
              </a:endParaRPr>
            </a:p>
          </p:txBody>
        </p:sp>
        <p:pic>
          <p:nvPicPr>
            <p:cNvPr id="41" name="Picture 13" descr="unilogo4cohne_small.jpg"/>
            <p:cNvPicPr>
              <a:picLocks noChangeAspect="1"/>
            </p:cNvPicPr>
            <p:nvPr userDrawn="1"/>
          </p:nvPicPr>
          <p:blipFill rotWithShape="1">
            <a:blip r:embed="rId4" cstate="print">
              <a:clrChange>
                <a:clrFrom>
                  <a:srgbClr val="FFFEFD"/>
                </a:clrFrom>
                <a:clrTo>
                  <a:srgbClr val="FFFEFD">
                    <a:alpha val="0"/>
                  </a:srgbClr>
                </a:clrTo>
              </a:clrChange>
            </a:blip>
            <a:srcRect l="44640"/>
            <a:stretch/>
          </p:blipFill>
          <p:spPr>
            <a:xfrm>
              <a:off x="911424" y="431800"/>
              <a:ext cx="1130294" cy="898525"/>
            </a:xfrm>
            <a:prstGeom prst="rect">
              <a:avLst/>
            </a:prstGeom>
          </p:spPr>
        </p:pic>
        <p:pic>
          <p:nvPicPr>
            <p:cNvPr id="42" name="Picture 13" descr="unilogo4cohne_small.jpg"/>
            <p:cNvPicPr>
              <a:picLocks noChangeAspect="1"/>
            </p:cNvPicPr>
            <p:nvPr userDrawn="1"/>
          </p:nvPicPr>
          <p:blipFill rotWithShape="1">
            <a:blip r:embed="rId4" cstate="print"/>
            <a:srcRect r="55678"/>
            <a:stretch/>
          </p:blipFill>
          <p:spPr>
            <a:xfrm>
              <a:off x="0" y="431800"/>
              <a:ext cx="904920" cy="898524"/>
            </a:xfrm>
            <a:prstGeom prst="rect">
              <a:avLst/>
            </a:prstGeom>
          </p:spPr>
        </p:pic>
      </p:grpSp>
      <p:pic>
        <p:nvPicPr>
          <p:cNvPr id="14" name="Grafik 13"/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0" y="6921631"/>
            <a:ext cx="2371832" cy="313200"/>
          </a:xfrm>
          <a:prstGeom prst="rect">
            <a:avLst/>
          </a:prstGeom>
        </p:spPr>
      </p:pic>
      <p:pic>
        <p:nvPicPr>
          <p:cNvPr id="15" name="Grafik 14"/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2445454" y="6921631"/>
            <a:ext cx="2371832" cy="313200"/>
          </a:xfrm>
          <a:prstGeom prst="rect">
            <a:avLst/>
          </a:prstGeom>
        </p:spPr>
      </p:pic>
      <p:pic>
        <p:nvPicPr>
          <p:cNvPr id="16" name="Grafik 15"/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4890910" y="6921631"/>
            <a:ext cx="2371821" cy="313200"/>
          </a:xfrm>
          <a:prstGeom prst="rect">
            <a:avLst/>
          </a:prstGeom>
        </p:spPr>
      </p:pic>
      <p:pic>
        <p:nvPicPr>
          <p:cNvPr id="17" name="Grafik 16"/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7363896" y="6921631"/>
            <a:ext cx="2371832" cy="313200"/>
          </a:xfrm>
          <a:prstGeom prst="rect">
            <a:avLst/>
          </a:prstGeom>
        </p:spPr>
      </p:pic>
      <p:pic>
        <p:nvPicPr>
          <p:cNvPr id="18" name="Grafik 17"/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9844392" y="6921631"/>
            <a:ext cx="2347606" cy="3132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63D79"/>
              </a:buClr>
              <a:defRPr/>
            </a:lvl1pPr>
            <a:lvl2pPr>
              <a:buClr>
                <a:srgbClr val="063D79"/>
              </a:buClr>
              <a:defRPr/>
            </a:lvl2pPr>
            <a:lvl3pPr>
              <a:buClr>
                <a:srgbClr val="063D79"/>
              </a:buClr>
              <a:defRPr/>
            </a:lvl3pPr>
            <a:lvl4pPr>
              <a:buClr>
                <a:srgbClr val="063D79"/>
              </a:buClr>
              <a:defRPr/>
            </a:lvl4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1170847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4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4" name="Textfeld 3"/>
          <p:cNvSpPr txBox="1"/>
          <p:nvPr userDrawn="1"/>
        </p:nvSpPr>
        <p:spPr>
          <a:xfrm>
            <a:off x="2639616" y="1052736"/>
            <a:ext cx="2664296" cy="10081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de-DE" sz="1600" b="0" dirty="0" err="1">
              <a:latin typeface="+mn-lt"/>
            </a:endParaRP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196E6EF-3D8E-4957-A439-5D2280CE1A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04312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1200" y="914400"/>
            <a:ext cx="5232400" cy="51054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46800" y="914400"/>
            <a:ext cx="5232400" cy="51054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Foliennummernplatzhalter 5">
            <a:extLst>
              <a:ext uri="{FF2B5EF4-FFF2-40B4-BE49-F238E27FC236}">
                <a16:creationId xmlns:a16="http://schemas.microsoft.com/office/drawing/2014/main" id="{B828CE34-CC67-4E17-A5B3-FF421A963B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04312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9" name="Foliennummernplatzhalter 5">
            <a:extLst>
              <a:ext uri="{FF2B5EF4-FFF2-40B4-BE49-F238E27FC236}">
                <a16:creationId xmlns:a16="http://schemas.microsoft.com/office/drawing/2014/main" id="{DE93AAB1-B7D0-42C5-8489-BBD1FAE5FC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904312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5" name="Foliennummernplatzhalter 5">
            <a:extLst>
              <a:ext uri="{FF2B5EF4-FFF2-40B4-BE49-F238E27FC236}">
                <a16:creationId xmlns:a16="http://schemas.microsoft.com/office/drawing/2014/main" id="{A1004EE9-71F7-49C3-AEC6-27984ECF0994}"/>
              </a:ext>
            </a:extLst>
          </p:cNvPr>
          <p:cNvSpPr txBox="1">
            <a:spLocks/>
          </p:cNvSpPr>
          <p:nvPr userDrawn="1"/>
        </p:nvSpPr>
        <p:spPr>
          <a:xfrm>
            <a:off x="8904312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1000" b="0" kern="120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Farbsche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Farbschema</a:t>
            </a:r>
          </a:p>
        </p:txBody>
      </p:sp>
      <p:pic>
        <p:nvPicPr>
          <p:cNvPr id="5" name="Grafik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943920" y="1196752"/>
            <a:ext cx="8208912" cy="4879878"/>
          </a:xfrm>
          <a:prstGeom prst="rect">
            <a:avLst/>
          </a:prstGeom>
        </p:spPr>
      </p:pic>
      <p:sp>
        <p:nvSpPr>
          <p:cNvPr id="7" name="Foliennummernplatzhalter 5">
            <a:extLst>
              <a:ext uri="{FF2B5EF4-FFF2-40B4-BE49-F238E27FC236}">
                <a16:creationId xmlns:a16="http://schemas.microsoft.com/office/drawing/2014/main" id="{6A7FE386-66AB-4DE5-8F99-809013B252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04312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093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1098839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  <p:sp>
        <p:nvSpPr>
          <p:cNvPr id="4" name="Foliennummernplatzhalter 5">
            <a:extLst>
              <a:ext uri="{FF2B5EF4-FFF2-40B4-BE49-F238E27FC236}">
                <a16:creationId xmlns:a16="http://schemas.microsoft.com/office/drawing/2014/main" id="{DD5045F2-FFB1-4BE6-A82D-044410B8000A}"/>
              </a:ext>
            </a:extLst>
          </p:cNvPr>
          <p:cNvSpPr txBox="1">
            <a:spLocks/>
          </p:cNvSpPr>
          <p:nvPr userDrawn="1"/>
        </p:nvSpPr>
        <p:spPr>
          <a:xfrm>
            <a:off x="8904312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1000" b="0" kern="120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1098839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  <p:sp>
        <p:nvSpPr>
          <p:cNvPr id="7" name="Foliennummernplatzhalter 5">
            <a:extLst>
              <a:ext uri="{FF2B5EF4-FFF2-40B4-BE49-F238E27FC236}">
                <a16:creationId xmlns:a16="http://schemas.microsoft.com/office/drawing/2014/main" id="{6AFEFF89-82C5-4C87-9183-1A0960BC685D}"/>
              </a:ext>
            </a:extLst>
          </p:cNvPr>
          <p:cNvSpPr txBox="1">
            <a:spLocks/>
          </p:cNvSpPr>
          <p:nvPr userDrawn="1"/>
        </p:nvSpPr>
        <p:spPr>
          <a:xfrm>
            <a:off x="8904312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1000" b="0" kern="120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1098839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  <p:sp>
        <p:nvSpPr>
          <p:cNvPr id="7" name="Foliennummernplatzhalter 5">
            <a:extLst>
              <a:ext uri="{FF2B5EF4-FFF2-40B4-BE49-F238E27FC236}">
                <a16:creationId xmlns:a16="http://schemas.microsoft.com/office/drawing/2014/main" id="{2FEC48EB-43B2-4181-B567-7B6D76C21DEE}"/>
              </a:ext>
            </a:extLst>
          </p:cNvPr>
          <p:cNvSpPr txBox="1">
            <a:spLocks/>
          </p:cNvSpPr>
          <p:nvPr userDrawn="1"/>
        </p:nvSpPr>
        <p:spPr>
          <a:xfrm>
            <a:off x="8904312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1000" b="0" kern="120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1098839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200FEDB-E43B-402C-9059-9FCEEF9AAB25}"/>
              </a:ext>
            </a:extLst>
          </p:cNvPr>
          <p:cNvSpPr txBox="1">
            <a:spLocks/>
          </p:cNvSpPr>
          <p:nvPr userDrawn="1"/>
        </p:nvSpPr>
        <p:spPr>
          <a:xfrm>
            <a:off x="8904312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1000" b="0" kern="120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12200" y="30164"/>
            <a:ext cx="2667000" cy="5989637"/>
          </a:xfrm>
        </p:spPr>
        <p:txBody>
          <a:bodyPr vert="eaVert"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11200" y="30164"/>
            <a:ext cx="7797800" cy="5989637"/>
          </a:xfrm>
        </p:spPr>
        <p:txBody>
          <a:bodyPr vert="eaVert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1098839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6ED38E1-331D-45BD-909D-93E0D8906D71}"/>
              </a:ext>
            </a:extLst>
          </p:cNvPr>
          <p:cNvSpPr txBox="1">
            <a:spLocks/>
          </p:cNvSpPr>
          <p:nvPr userDrawn="1"/>
        </p:nvSpPr>
        <p:spPr>
          <a:xfrm>
            <a:off x="8904312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1000" b="0" kern="120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png"/><Relationship Id="rId15" Type="http://schemas.openxmlformats.org/officeDocument/2006/relationships/image" Target="../media/image2.png"/><Relationship Id="rId16" Type="http://schemas.openxmlformats.org/officeDocument/2006/relationships/image" Target="../media/image3.png"/><Relationship Id="rId17" Type="http://schemas.openxmlformats.org/officeDocument/2006/relationships/image" Target="../media/image4.png"/><Relationship Id="rId18" Type="http://schemas.openxmlformats.org/officeDocument/2006/relationships/image" Target="../media/image5.png"/><Relationship Id="rId19" Type="http://schemas.openxmlformats.org/officeDocument/2006/relationships/image" Target="../media/image6.wmf"/><Relationship Id="rId20" Type="http://schemas.openxmlformats.org/officeDocument/2006/relationships/image" Target="../media/image7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2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719668" y="30163"/>
            <a:ext cx="10657417" cy="6461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GB" dirty="0" err="1"/>
              <a:t>Klicken</a:t>
            </a:r>
            <a:r>
              <a:rPr lang="en-GB" dirty="0"/>
              <a:t> um das </a:t>
            </a:r>
            <a:r>
              <a:rPr lang="en-GB" dirty="0" err="1"/>
              <a:t>Titelformat</a:t>
            </a:r>
            <a:r>
              <a:rPr lang="en-GB" dirty="0"/>
              <a:t> </a:t>
            </a:r>
            <a:r>
              <a:rPr lang="en-GB" dirty="0" err="1"/>
              <a:t>zu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</p:txBody>
      </p:sp>
      <p:sp>
        <p:nvSpPr>
          <p:cNvPr id="1802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711200" y="914400"/>
            <a:ext cx="10668000" cy="5105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dirty="0" err="1"/>
              <a:t>Klicken</a:t>
            </a:r>
            <a:r>
              <a:rPr lang="en-GB" dirty="0"/>
              <a:t> </a:t>
            </a:r>
            <a:r>
              <a:rPr lang="en-GB" dirty="0" err="1"/>
              <a:t>Sie</a:t>
            </a:r>
            <a:r>
              <a:rPr lang="en-GB" dirty="0"/>
              <a:t>, um die </a:t>
            </a:r>
            <a:r>
              <a:rPr lang="en-GB" dirty="0" err="1"/>
              <a:t>Formate</a:t>
            </a:r>
            <a:r>
              <a:rPr lang="en-GB" dirty="0"/>
              <a:t> des </a:t>
            </a:r>
            <a:r>
              <a:rPr lang="en-GB" dirty="0" err="1"/>
              <a:t>Vorlagentextes</a:t>
            </a:r>
            <a:r>
              <a:rPr lang="en-GB" dirty="0"/>
              <a:t> </a:t>
            </a:r>
            <a:r>
              <a:rPr lang="en-GB" dirty="0" err="1"/>
              <a:t>zu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4"/>
            <a:r>
              <a:rPr lang="en-GB" dirty="0" err="1"/>
              <a:t>Fünfte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pic>
        <p:nvPicPr>
          <p:cNvPr id="12" name="Grafik 11"/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0" y="6921631"/>
            <a:ext cx="2371832" cy="313200"/>
          </a:xfrm>
          <a:prstGeom prst="rect">
            <a:avLst/>
          </a:prstGeom>
        </p:spPr>
      </p:pic>
      <p:pic>
        <p:nvPicPr>
          <p:cNvPr id="13" name="Grafik 12"/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2445454" y="6921631"/>
            <a:ext cx="2371832" cy="313200"/>
          </a:xfrm>
          <a:prstGeom prst="rect">
            <a:avLst/>
          </a:prstGeom>
        </p:spPr>
      </p:pic>
      <p:pic>
        <p:nvPicPr>
          <p:cNvPr id="14" name="Grafik 13"/>
          <p:cNvPicPr>
            <a:picLocks noChangeAspect="1"/>
          </p:cNvPicPr>
          <p:nvPr userDrawn="1"/>
        </p:nvPicPr>
        <p:blipFill>
          <a:blip r:embed="rId16"/>
          <a:stretch>
            <a:fillRect/>
          </a:stretch>
        </p:blipFill>
        <p:spPr>
          <a:xfrm>
            <a:off x="4890910" y="6921631"/>
            <a:ext cx="2371821" cy="313200"/>
          </a:xfrm>
          <a:prstGeom prst="rect">
            <a:avLst/>
          </a:prstGeom>
        </p:spPr>
      </p:pic>
      <p:pic>
        <p:nvPicPr>
          <p:cNvPr id="15" name="Grafik 14"/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7363896" y="6921631"/>
            <a:ext cx="2371832" cy="313200"/>
          </a:xfrm>
          <a:prstGeom prst="rect">
            <a:avLst/>
          </a:prstGeom>
        </p:spPr>
      </p:pic>
      <p:pic>
        <p:nvPicPr>
          <p:cNvPr id="16" name="Grafik 15"/>
          <p:cNvPicPr>
            <a:picLocks noChangeAspect="1"/>
          </p:cNvPicPr>
          <p:nvPr userDrawn="1"/>
        </p:nvPicPr>
        <p:blipFill>
          <a:blip r:embed="rId18"/>
          <a:stretch>
            <a:fillRect/>
          </a:stretch>
        </p:blipFill>
        <p:spPr>
          <a:xfrm>
            <a:off x="9844392" y="6921631"/>
            <a:ext cx="2347606" cy="313200"/>
          </a:xfrm>
          <a:prstGeom prst="rect">
            <a:avLst/>
          </a:prstGeom>
        </p:spPr>
      </p:pic>
      <p:pic>
        <p:nvPicPr>
          <p:cNvPr id="17" name="Picture 18"/>
          <p:cNvPicPr>
            <a:picLocks noChangeArrowheads="1"/>
          </p:cNvPicPr>
          <p:nvPr userDrawn="1"/>
        </p:nvPicPr>
        <p:blipFill>
          <a:blip r:embed="rId19" cstate="print"/>
          <a:srcRect/>
          <a:stretch>
            <a:fillRect/>
          </a:stretch>
        </p:blipFill>
        <p:spPr bwMode="auto">
          <a:xfrm>
            <a:off x="11797333" y="6497655"/>
            <a:ext cx="275331" cy="2796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outerShdw dist="63500" dir="3187806" algn="ctr" rotWithShape="0">
              <a:srgbClr val="C0C0C0">
                <a:alpha val="50000"/>
              </a:srgbClr>
            </a:outerShdw>
          </a:effectLst>
        </p:spPr>
      </p:pic>
      <p:sp>
        <p:nvSpPr>
          <p:cNvPr id="18" name="Rectangle 25"/>
          <p:cNvSpPr>
            <a:spLocks noChangeArrowheads="1"/>
          </p:cNvSpPr>
          <p:nvPr userDrawn="1"/>
        </p:nvSpPr>
        <p:spPr bwMode="auto">
          <a:xfrm>
            <a:off x="9494300" y="6523182"/>
            <a:ext cx="1676400" cy="228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92075" tIns="46038" rIns="92075" bIns="46038" anchor="ctr"/>
          <a:lstStyle/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1000" b="0" i="1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Segoe UI" pitchFamily="34" charset="0"/>
                <a:cs typeface="Segoe UI" pitchFamily="34" charset="0"/>
              </a:rPr>
              <a:t>Japhet Kofi Appau Arthur</a:t>
            </a:r>
          </a:p>
        </p:txBody>
      </p:sp>
      <p:pic>
        <p:nvPicPr>
          <p:cNvPr id="19" name="Grafik 18"/>
          <p:cNvPicPr>
            <a:picLocks noChangeAspect="1"/>
          </p:cNvPicPr>
          <p:nvPr userDrawn="1"/>
        </p:nvPicPr>
        <p:blipFill rotWithShape="1"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5822"/>
          <a:stretch/>
        </p:blipFill>
        <p:spPr>
          <a:xfrm>
            <a:off x="0" y="6468810"/>
            <a:ext cx="391865" cy="389190"/>
          </a:xfrm>
          <a:prstGeom prst="rect">
            <a:avLst/>
          </a:prstGeom>
        </p:spPr>
      </p:pic>
      <p:sp>
        <p:nvSpPr>
          <p:cNvPr id="23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1204987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63" r:id="rId7"/>
    <p:sldLayoutId id="2147483658" r:id="rId8"/>
    <p:sldLayoutId id="2147483659" r:id="rId9"/>
    <p:sldLayoutId id="2147483660" r:id="rId10"/>
    <p:sldLayoutId id="2147483661" r:id="rId11"/>
    <p:sldLayoutId id="2147483662" r:id="rId12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63D79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63D79"/>
          </a:solidFill>
          <a:latin typeface="Arial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63D79"/>
          </a:solidFill>
          <a:latin typeface="Arial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63D79"/>
          </a:solidFill>
          <a:latin typeface="Arial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63D79"/>
          </a:solidFill>
          <a:latin typeface="Arial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63D79"/>
          </a:solidFill>
          <a:latin typeface="Arial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63D79"/>
          </a:solidFill>
          <a:latin typeface="Arial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63D79"/>
          </a:solidFill>
          <a:latin typeface="Arial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63D79"/>
          </a:solidFill>
          <a:latin typeface="Arial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rgbClr val="063D79"/>
        </a:buClr>
        <a:buSzPct val="80000"/>
        <a:buFont typeface="Wingdings 3" pitchFamily="18" charset="2"/>
        <a:buChar char="u"/>
        <a:defRPr sz="2000">
          <a:solidFill>
            <a:srgbClr val="4D4D4D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063D79"/>
        </a:buClr>
        <a:buSzPct val="100000"/>
        <a:buFont typeface="Wingdings" pitchFamily="2" charset="2"/>
        <a:buChar char="§"/>
        <a:defRPr sz="1800">
          <a:solidFill>
            <a:srgbClr val="4D4D4D"/>
          </a:solidFill>
          <a:latin typeface="+mn-lt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rgbClr val="063D79"/>
        </a:buClr>
        <a:buChar char="–"/>
        <a:defRPr sz="1600">
          <a:solidFill>
            <a:srgbClr val="4D4D4D"/>
          </a:solidFill>
          <a:latin typeface="+mn-lt"/>
        </a:defRPr>
      </a:lvl3pPr>
      <a:lvl4pPr marL="1562100" indent="-228600" algn="l" rtl="0" eaLnBrk="1" fontAlgn="base" hangingPunct="1">
        <a:spcBef>
          <a:spcPct val="20000"/>
        </a:spcBef>
        <a:spcAft>
          <a:spcPct val="0"/>
        </a:spcAft>
        <a:buClr>
          <a:srgbClr val="063D79"/>
        </a:buClr>
        <a:buChar char="•"/>
        <a:defRPr sz="1600">
          <a:solidFill>
            <a:srgbClr val="4D4D4D"/>
          </a:solidFill>
          <a:latin typeface="+mn-lt"/>
        </a:defRPr>
      </a:lvl4pPr>
      <a:lvl5pPr marL="1981200" indent="-228600" algn="l" rtl="0" eaLnBrk="1" fontAlgn="base" hangingPunct="1">
        <a:spcBef>
          <a:spcPct val="20000"/>
        </a:spcBef>
        <a:spcAft>
          <a:spcPct val="0"/>
        </a:spcAft>
        <a:buClr>
          <a:srgbClr val="063D79"/>
        </a:buClr>
        <a:buChar char=" "/>
        <a:defRPr sz="1600">
          <a:solidFill>
            <a:srgbClr val="4D4D4D"/>
          </a:solidFill>
          <a:latin typeface="+mn-lt"/>
        </a:defRPr>
      </a:lvl5pPr>
      <a:lvl6pPr marL="2438400" indent="-228600" algn="l" rtl="0" eaLnBrk="1" fontAlgn="base" hangingPunct="1">
        <a:spcBef>
          <a:spcPct val="20000"/>
        </a:spcBef>
        <a:spcAft>
          <a:spcPct val="0"/>
        </a:spcAft>
        <a:buChar char=" "/>
        <a:defRPr sz="2000">
          <a:solidFill>
            <a:srgbClr val="4D4D4D"/>
          </a:solidFill>
          <a:latin typeface="+mn-lt"/>
        </a:defRPr>
      </a:lvl6pPr>
      <a:lvl7pPr marL="2895600" indent="-228600" algn="l" rtl="0" eaLnBrk="1" fontAlgn="base" hangingPunct="1">
        <a:spcBef>
          <a:spcPct val="20000"/>
        </a:spcBef>
        <a:spcAft>
          <a:spcPct val="0"/>
        </a:spcAft>
        <a:buChar char=" "/>
        <a:defRPr sz="2000">
          <a:solidFill>
            <a:srgbClr val="4D4D4D"/>
          </a:solidFill>
          <a:latin typeface="+mn-lt"/>
        </a:defRPr>
      </a:lvl7pPr>
      <a:lvl8pPr marL="3352800" indent="-228600" algn="l" rtl="0" eaLnBrk="1" fontAlgn="base" hangingPunct="1">
        <a:spcBef>
          <a:spcPct val="20000"/>
        </a:spcBef>
        <a:spcAft>
          <a:spcPct val="0"/>
        </a:spcAft>
        <a:buChar char=" "/>
        <a:defRPr sz="2000">
          <a:solidFill>
            <a:srgbClr val="4D4D4D"/>
          </a:solidFill>
          <a:latin typeface="+mn-lt"/>
        </a:defRPr>
      </a:lvl8pPr>
      <a:lvl9pPr marL="3810000" indent="-228600" algn="l" rtl="0" eaLnBrk="1" fontAlgn="base" hangingPunct="1">
        <a:spcBef>
          <a:spcPct val="20000"/>
        </a:spcBef>
        <a:spcAft>
          <a:spcPct val="0"/>
        </a:spcAft>
        <a:buChar char=" "/>
        <a:defRPr sz="2000">
          <a:solidFill>
            <a:srgbClr val="4D4D4D"/>
          </a:solidFill>
          <a:latin typeface="+mn-lt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chart" Target="../charts/char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chart" Target="../charts/chart4.xml"/><Relationship Id="rId3" Type="http://schemas.openxmlformats.org/officeDocument/2006/relationships/image" Target="../media/image1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sz="quarter"/>
          </p:nvPr>
        </p:nvSpPr>
        <p:spPr/>
        <p:txBody>
          <a:bodyPr/>
          <a:lstStyle/>
          <a:p>
            <a:r>
              <a:rPr lang="en-GH" dirty="0"/>
              <a:t>Fully Automated Migration Framework from Windows 11 to Linux Mint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sz="quarter" idx="1"/>
          </p:nvPr>
        </p:nvSpPr>
        <p:spPr/>
        <p:txBody>
          <a:bodyPr/>
          <a:lstStyle/>
          <a:p>
            <a:r>
              <a:rPr dirty="0"/>
              <a:t>Japhet Kofi Appau Arthur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2960" y="28346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063D79"/>
                </a:solidFill>
                <a:latin typeface="Segoe UI"/>
              </a:rPr>
              <a:t>MOTIVATION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794760"/>
            <a:ext cx="1188720" cy="508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77393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63D79"/>
                </a:solidFill>
                <a:latin typeface="Segoe UI"/>
              </a:rPr>
              <a:t>Motivation</a:t>
            </a:r>
          </a:p>
        </p:txBody>
      </p:sp>
      <p:sp>
        <p:nvSpPr>
          <p:cNvPr id="7" name="Oval 6"/>
          <p:cNvSpPr/>
          <p:nvPr/>
        </p:nvSpPr>
        <p:spPr>
          <a:xfrm>
            <a:off x="3877056" y="4572000"/>
            <a:ext cx="201168" cy="2011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92608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Idea</a:t>
            </a:r>
          </a:p>
        </p:txBody>
      </p:sp>
      <p:sp>
        <p:nvSpPr>
          <p:cNvPr id="9" name="Oval 8"/>
          <p:cNvSpPr/>
          <p:nvPr/>
        </p:nvSpPr>
        <p:spPr>
          <a:xfrm>
            <a:off x="5980176" y="4572000"/>
            <a:ext cx="201168" cy="2011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Method</a:t>
            </a:r>
          </a:p>
        </p:txBody>
      </p:sp>
      <p:sp>
        <p:nvSpPr>
          <p:cNvPr id="11" name="Oval 10"/>
          <p:cNvSpPr/>
          <p:nvPr/>
        </p:nvSpPr>
        <p:spPr>
          <a:xfrm>
            <a:off x="8083296" y="4572000"/>
            <a:ext cx="201168" cy="2011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3232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Evidence</a:t>
            </a:r>
          </a:p>
        </p:txBody>
      </p:sp>
      <p:sp>
        <p:nvSpPr>
          <p:cNvPr id="13" name="Oval 12"/>
          <p:cNvSpPr/>
          <p:nvPr/>
        </p:nvSpPr>
        <p:spPr>
          <a:xfrm>
            <a:off x="10186416" y="4572000"/>
            <a:ext cx="201168" cy="2011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23544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Takeaway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11762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1" dirty="0">
                <a:solidFill>
                  <a:srgbClr val="3F3F3F"/>
                </a:solidFill>
                <a:latin typeface="Segoe UI"/>
              </a:rPr>
              <a:t>Meaningful control over digital infrastructure, data flows, and computational processes.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3F3F3F"/>
                </a:solidFill>
                <a:latin typeface="Segoe UI"/>
              </a:rPr>
              <a:t>— </a:t>
            </a:r>
            <a:r>
              <a:rPr sz="1400" b="0" i="0" dirty="0" err="1">
                <a:solidFill>
                  <a:srgbClr val="3F3F3F"/>
                </a:solidFill>
                <a:latin typeface="Segoe UI"/>
              </a:rPr>
              <a:t>Floridi</a:t>
            </a:r>
            <a:r>
              <a:rPr sz="1400" b="0" i="0" dirty="0">
                <a:solidFill>
                  <a:srgbClr val="3F3F3F"/>
                </a:solidFill>
                <a:latin typeface="Segoe UI"/>
              </a:rPr>
              <a:t> (2020); Pohle &amp; Thiel (2020)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 dirty="0">
                <a:solidFill>
                  <a:srgbClr val="063D79"/>
                </a:solidFill>
                <a:latin typeface="Segoe UI"/>
              </a:rPr>
              <a:t>Windows 11 cannot be fully audited or constrained — this project asks whether a migration tool can close that gap.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Sovereignty, measured — not claimed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874519"/>
          <a:ext cx="548640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217920" y="1874519"/>
          <a:ext cx="548640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Rectangle 7"/>
          <p:cNvSpPr/>
          <p:nvPr/>
        </p:nvSpPr>
        <p:spPr>
          <a:xfrm>
            <a:off x="731520" y="5669280"/>
            <a:ext cx="45720" cy="548640"/>
          </a:xfrm>
          <a:prstGeom prst="rect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5760720"/>
            <a:ext cx="10424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8439"/>
                </a:solidFill>
                <a:latin typeface="Segoe UI"/>
              </a:rPr>
              <a:t>sovereignty_score = integrity_score + openness_bonus  —  every restore reports one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2960" y="28346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063D79"/>
                </a:solidFill>
                <a:latin typeface="Segoe UI"/>
              </a:rPr>
              <a:t>IDEA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794760"/>
            <a:ext cx="1188720" cy="508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77393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Motivation</a:t>
            </a:r>
          </a:p>
        </p:txBody>
      </p:sp>
      <p:sp>
        <p:nvSpPr>
          <p:cNvPr id="7" name="Oval 6"/>
          <p:cNvSpPr/>
          <p:nvPr/>
        </p:nvSpPr>
        <p:spPr>
          <a:xfrm>
            <a:off x="387705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92608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63D79"/>
                </a:solidFill>
                <a:latin typeface="Segoe UI"/>
              </a:rPr>
              <a:t>Idea</a:t>
            </a:r>
          </a:p>
        </p:txBody>
      </p:sp>
      <p:sp>
        <p:nvSpPr>
          <p:cNvPr id="9" name="Oval 8"/>
          <p:cNvSpPr/>
          <p:nvPr/>
        </p:nvSpPr>
        <p:spPr>
          <a:xfrm>
            <a:off x="5980176" y="4572000"/>
            <a:ext cx="201168" cy="2011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Method</a:t>
            </a:r>
          </a:p>
        </p:txBody>
      </p:sp>
      <p:sp>
        <p:nvSpPr>
          <p:cNvPr id="11" name="Oval 10"/>
          <p:cNvSpPr/>
          <p:nvPr/>
        </p:nvSpPr>
        <p:spPr>
          <a:xfrm>
            <a:off x="8083296" y="4572000"/>
            <a:ext cx="201168" cy="2011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3232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Evidence</a:t>
            </a:r>
          </a:p>
        </p:txBody>
      </p:sp>
      <p:sp>
        <p:nvSpPr>
          <p:cNvPr id="13" name="Oval 12"/>
          <p:cNvSpPr/>
          <p:nvPr/>
        </p:nvSpPr>
        <p:spPr>
          <a:xfrm>
            <a:off x="10186416" y="4572000"/>
            <a:ext cx="201168" cy="2011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23544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Takeaway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 dirty="0">
                <a:solidFill>
                  <a:srgbClr val="1A1A1A"/>
                </a:solidFill>
                <a:latin typeface="Segoe UI"/>
              </a:rPr>
              <a:t>Extending </a:t>
            </a:r>
            <a:r>
              <a:rPr lang="en-US" sz="2700" b="1" i="0" dirty="0">
                <a:solidFill>
                  <a:srgbClr val="1A1A1A"/>
                </a:solidFill>
                <a:latin typeface="Segoe UI"/>
              </a:rPr>
              <a:t>semi-auto-migration POC </a:t>
            </a:r>
            <a:r>
              <a:rPr sz="2700" b="1" i="0" dirty="0">
                <a:solidFill>
                  <a:srgbClr val="1A1A1A"/>
                </a:solidFill>
                <a:latin typeface="Segoe UI"/>
              </a:rPr>
              <a:t>into a working tool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CF83287-F063-E3B5-7FFD-A84A80B7FA25}"/>
              </a:ext>
            </a:extLst>
          </p:cNvPr>
          <p:cNvGrpSpPr/>
          <p:nvPr/>
        </p:nvGrpSpPr>
        <p:grpSpPr>
          <a:xfrm>
            <a:off x="731520" y="1691640"/>
            <a:ext cx="10698480" cy="1371600"/>
            <a:chOff x="731520" y="1691640"/>
            <a:chExt cx="10698480" cy="1371600"/>
          </a:xfrm>
        </p:grpSpPr>
        <p:sp>
          <p:nvSpPr>
            <p:cNvPr id="5" name="Rounded Rectangle 4"/>
            <p:cNvSpPr/>
            <p:nvPr/>
          </p:nvSpPr>
          <p:spPr>
            <a:xfrm>
              <a:off x="731520" y="1691640"/>
              <a:ext cx="10698480" cy="1371600"/>
            </a:xfrm>
            <a:prstGeom prst="roundRect">
              <a:avLst>
                <a:gd name="adj" fmla="val 7000"/>
              </a:avLst>
            </a:prstGeom>
            <a:solidFill>
              <a:srgbClr val="FFFFFF"/>
            </a:solidFill>
            <a:ln w="12700">
              <a:solidFill>
                <a:srgbClr val="D8DAD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05840" y="1828800"/>
              <a:ext cx="10149840" cy="4572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250" b="1" i="0">
                  <a:solidFill>
                    <a:srgbClr val="063D79"/>
                  </a:solidFill>
                  <a:latin typeface="Segoe UI"/>
                </a:rPr>
                <a:t>TERM PAPER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005840" y="2148840"/>
              <a:ext cx="10149840" cy="5029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800" b="1" i="0">
                  <a:solidFill>
                    <a:srgbClr val="1A1A1A"/>
                  </a:solidFill>
                  <a:latin typeface="Segoe UI"/>
                </a:rPr>
                <a:t>“Digital Sovereignty Through Semi-Automated Migration from Windows to Linux”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005840" y="2670048"/>
              <a:ext cx="1014984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350" b="0" i="1">
                  <a:solidFill>
                    <a:srgbClr val="3F3F3F"/>
                  </a:solidFill>
                  <a:latin typeface="Segoe UI"/>
                </a:rPr>
                <a:t>Japhet Arthur — Julius-Maximilians-Universität Würzburg, Lehrstuhl für Kommunikationsnetze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40B399C4-B9B4-4590-A997-E7F30C6D11BD}"/>
              </a:ext>
            </a:extLst>
          </p:cNvPr>
          <p:cNvGrpSpPr/>
          <p:nvPr/>
        </p:nvGrpSpPr>
        <p:grpSpPr>
          <a:xfrm>
            <a:off x="731520" y="3337560"/>
            <a:ext cx="10698480" cy="1097280"/>
            <a:chOff x="731520" y="3337560"/>
            <a:chExt cx="10698480" cy="1097280"/>
          </a:xfrm>
        </p:grpSpPr>
        <p:sp>
          <p:nvSpPr>
            <p:cNvPr id="9" name="TextBox 8"/>
            <p:cNvSpPr txBox="1"/>
            <p:nvPr/>
          </p:nvSpPr>
          <p:spPr>
            <a:xfrm>
              <a:off x="731520" y="3337560"/>
              <a:ext cx="10698480" cy="5486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300" b="1" i="0">
                  <a:solidFill>
                    <a:srgbClr val="063D79"/>
                  </a:solidFill>
                  <a:latin typeface="Segoe UI"/>
                </a:rPr>
                <a:t>RESEARCH QUESTION IT ASKED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731520" y="3657600"/>
              <a:ext cx="10698480" cy="777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25000"/>
                </a:lnSpc>
              </a:pPr>
              <a:r>
                <a:rPr sz="1600" b="0" i="0">
                  <a:solidFill>
                    <a:srgbClr val="1A1A1A"/>
                  </a:solidFill>
                  <a:latin typeface="Segoe UI"/>
                </a:rPr>
                <a:t>How can semi-automated migration frameworks reduce technical barriers to OS-level</a:t>
              </a:r>
            </a:p>
            <a:p>
              <a:pPr algn="l">
                <a:lnSpc>
                  <a:spcPct val="125000"/>
                </a:lnSpc>
              </a:pPr>
              <a:r>
                <a:rPr sz="1600" b="0" i="0">
                  <a:solidFill>
                    <a:srgbClr val="1A1A1A"/>
                  </a:solidFill>
                  <a:latin typeface="Segoe UI"/>
                </a:rPr>
                <a:t>sovereignty restoration while maintaining user control, data integrity, and workflow continuity?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DAFAE79-2A7C-08A9-8C2C-0C604CF645D3}"/>
              </a:ext>
            </a:extLst>
          </p:cNvPr>
          <p:cNvGrpSpPr/>
          <p:nvPr/>
        </p:nvGrpSpPr>
        <p:grpSpPr>
          <a:xfrm>
            <a:off x="731520" y="4663440"/>
            <a:ext cx="10607040" cy="1508760"/>
            <a:chOff x="731520" y="4663440"/>
            <a:chExt cx="10607040" cy="1508760"/>
          </a:xfrm>
        </p:grpSpPr>
        <p:sp>
          <p:nvSpPr>
            <p:cNvPr id="11" name="Rectangle 10"/>
            <p:cNvSpPr/>
            <p:nvPr/>
          </p:nvSpPr>
          <p:spPr>
            <a:xfrm>
              <a:off x="731520" y="4663440"/>
              <a:ext cx="45720" cy="1508760"/>
            </a:xfrm>
            <a:prstGeom prst="rect">
              <a:avLst/>
            </a:prstGeom>
            <a:solidFill>
              <a:srgbClr val="B97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005840" y="4663440"/>
              <a:ext cx="1033272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300" b="1" i="0">
                  <a:solidFill>
                    <a:srgbClr val="B97000"/>
                  </a:solidFill>
                  <a:latin typeface="Segoe UI"/>
                </a:rPr>
                <a:t>WHAT IT BUILT — AND STATED AS LIMITATIONS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005840" y="4983480"/>
              <a:ext cx="1033272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>
                  <a:solidFill>
                    <a:srgbClr val="3F3F3F"/>
                  </a:solidFill>
                  <a:latin typeface="Segoe UI"/>
                </a:rPr>
                <a:t>A working 5-phase pipeline (Assess → Review → Prepare → Migrate → Verify).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005840" y="5394960"/>
              <a:ext cx="10332720" cy="7315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10000"/>
                </a:lnSpc>
              </a:pPr>
              <a:r>
                <a:rPr sz="2100" b="1" i="1" dirty="0">
                  <a:solidFill>
                    <a:srgbClr val="1A1A1A"/>
                  </a:solidFill>
                  <a:latin typeface="Segoe UI"/>
                </a:rPr>
                <a:t>“…heuristic matching… not guaranteeing feature parity.”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The proof of concept this project actually started from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83783" y="5833872"/>
            <a:ext cx="106984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 dirty="0">
                <a:solidFill>
                  <a:srgbClr val="3F3F3F"/>
                </a:solidFill>
                <a:latin typeface="Segoe UI"/>
              </a:rPr>
              <a:t>github.com/</a:t>
            </a:r>
            <a:r>
              <a:rPr sz="1300" b="0" i="1" dirty="0" err="1">
                <a:solidFill>
                  <a:srgbClr val="3F3F3F"/>
                </a:solidFill>
                <a:latin typeface="Segoe UI"/>
              </a:rPr>
              <a:t>PenCoder</a:t>
            </a:r>
            <a:r>
              <a:rPr sz="1300" b="0" i="1" dirty="0">
                <a:solidFill>
                  <a:srgbClr val="3F3F3F"/>
                </a:solidFill>
                <a:latin typeface="Segoe UI"/>
              </a:rPr>
              <a:t>/semi-auto-migration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98923B1-2B40-E716-E03E-295734453EE3}"/>
              </a:ext>
            </a:extLst>
          </p:cNvPr>
          <p:cNvGrpSpPr/>
          <p:nvPr/>
        </p:nvGrpSpPr>
        <p:grpSpPr>
          <a:xfrm>
            <a:off x="932868" y="1846580"/>
            <a:ext cx="10332720" cy="2040128"/>
            <a:chOff x="932868" y="1846580"/>
            <a:chExt cx="10332720" cy="2040128"/>
          </a:xfrm>
        </p:grpSpPr>
        <p:sp>
          <p:nvSpPr>
            <p:cNvPr id="6" name="Oval 5"/>
            <p:cNvSpPr/>
            <p:nvPr/>
          </p:nvSpPr>
          <p:spPr>
            <a:xfrm>
              <a:off x="1698678" y="1846580"/>
              <a:ext cx="914400" cy="914400"/>
            </a:xfrm>
            <a:prstGeom prst="ellipse">
              <a:avLst/>
            </a:prstGeom>
            <a:solidFill>
              <a:srgbClr val="B97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sz="2600" b="1">
                  <a:solidFill>
                    <a:srgbClr val="FFFFFF"/>
                  </a:solidFill>
                </a:rPr>
                <a:t>🖥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932868" y="2862580"/>
              <a:ext cx="244602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500" b="1" i="0">
                  <a:solidFill>
                    <a:srgbClr val="1A1A1A"/>
                  </a:solidFill>
                  <a:latin typeface="Segoe UI"/>
                </a:rPr>
                <a:t>Tkinter GUI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932868" y="3246628"/>
              <a:ext cx="2446020" cy="6400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5000"/>
                </a:lnSpc>
              </a:pPr>
              <a:r>
                <a:rPr sz="1250" b="0" i="0" dirty="0">
                  <a:solidFill>
                    <a:srgbClr val="3F3F3F"/>
                  </a:solidFill>
                  <a:latin typeface="Segoe UI"/>
                </a:rPr>
                <a:t>no Qt, no CLI parity</a:t>
              </a:r>
            </a:p>
            <a:p>
              <a:pPr algn="ctr">
                <a:lnSpc>
                  <a:spcPct val="115000"/>
                </a:lnSpc>
              </a:pPr>
              <a:r>
                <a:rPr sz="1250" b="0" i="0" dirty="0">
                  <a:solidFill>
                    <a:srgbClr val="3F3F3F"/>
                  </a:solidFill>
                  <a:latin typeface="Segoe UI"/>
                </a:rPr>
                <a:t>claim made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4327578" y="1846580"/>
              <a:ext cx="914400" cy="914400"/>
            </a:xfrm>
            <a:prstGeom prst="ellipse">
              <a:avLst/>
            </a:prstGeom>
            <a:solidFill>
              <a:srgbClr val="B97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sz="2600" b="1">
                  <a:solidFill>
                    <a:srgbClr val="FFFFFF"/>
                  </a:solidFill>
                </a:rPr>
                <a:t>📋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561768" y="2862580"/>
              <a:ext cx="244602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500" b="1" i="0">
                  <a:solidFill>
                    <a:srgbClr val="1A1A1A"/>
                  </a:solidFill>
                  <a:latin typeface="Segoe UI"/>
                </a:rPr>
                <a:t>25 mappings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561768" y="3246628"/>
              <a:ext cx="2446020" cy="6400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5000"/>
                </a:lnSpc>
              </a:pPr>
              <a:r>
                <a:rPr sz="1250" b="0" i="0">
                  <a:solidFill>
                    <a:srgbClr val="3F3F3F"/>
                  </a:solidFill>
                  <a:latin typeface="Segoe UI"/>
                </a:rPr>
                <a:t>substring match</a:t>
              </a:r>
            </a:p>
            <a:p>
              <a:pPr algn="ctr">
                <a:lnSpc>
                  <a:spcPct val="115000"/>
                </a:lnSpc>
              </a:pPr>
              <a:r>
                <a:rPr sz="1250" b="0" i="0">
                  <a:solidFill>
                    <a:srgbClr val="3F3F3F"/>
                  </a:solidFill>
                  <a:latin typeface="Segoe UI"/>
                </a:rPr>
                <a:t>only, 1 stage</a:t>
              </a:r>
            </a:p>
          </p:txBody>
        </p:sp>
        <p:sp>
          <p:nvSpPr>
            <p:cNvPr id="12" name="Oval 11"/>
            <p:cNvSpPr/>
            <p:nvPr/>
          </p:nvSpPr>
          <p:spPr>
            <a:xfrm>
              <a:off x="6956478" y="1846580"/>
              <a:ext cx="914400" cy="914400"/>
            </a:xfrm>
            <a:prstGeom prst="ellipse">
              <a:avLst/>
            </a:prstGeom>
            <a:solidFill>
              <a:srgbClr val="B97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sz="2600" b="1">
                  <a:solidFill>
                    <a:srgbClr val="FFFFFF"/>
                  </a:solidFill>
                </a:rPr>
                <a:t>🧪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6190668" y="2862580"/>
              <a:ext cx="244602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500" b="1" i="0">
                  <a:solidFill>
                    <a:srgbClr val="1A1A1A"/>
                  </a:solidFill>
                  <a:latin typeface="Segoe UI"/>
                </a:rPr>
                <a:t>0 tests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190668" y="3246628"/>
              <a:ext cx="2446020" cy="6400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5000"/>
                </a:lnSpc>
              </a:pPr>
              <a:r>
                <a:rPr sz="1250" b="0" i="0">
                  <a:solidFill>
                    <a:srgbClr val="3F3F3F"/>
                  </a:solidFill>
                  <a:latin typeface="Segoe UI"/>
                </a:rPr>
                <a:t>no automated</a:t>
              </a:r>
            </a:p>
            <a:p>
              <a:pPr algn="ctr">
                <a:lnSpc>
                  <a:spcPct val="115000"/>
                </a:lnSpc>
              </a:pPr>
              <a:r>
                <a:rPr sz="1250" b="0" i="0">
                  <a:solidFill>
                    <a:srgbClr val="3F3F3F"/>
                  </a:solidFill>
                  <a:latin typeface="Segoe UI"/>
                </a:rPr>
                <a:t>regression coverage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9585378" y="1846580"/>
              <a:ext cx="914400" cy="914400"/>
            </a:xfrm>
            <a:prstGeom prst="ellipse">
              <a:avLst/>
            </a:prstGeom>
            <a:solidFill>
              <a:srgbClr val="B97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sz="2600" b="1">
                  <a:solidFill>
                    <a:srgbClr val="FFFFFF"/>
                  </a:solidFill>
                </a:rPr>
                <a:t>🐧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8819568" y="2862580"/>
              <a:ext cx="244602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500" b="1" i="0">
                  <a:solidFill>
                    <a:srgbClr val="1A1A1A"/>
                  </a:solidFill>
                  <a:latin typeface="Segoe UI"/>
                </a:rPr>
                <a:t>Linux-only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8819568" y="3246628"/>
              <a:ext cx="2446020" cy="6400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5000"/>
                </a:lnSpc>
              </a:pPr>
              <a:r>
                <a:rPr sz="1250" b="0" i="0">
                  <a:solidFill>
                    <a:srgbClr val="3F3F3F"/>
                  </a:solidFill>
                  <a:latin typeface="Segoe UI"/>
                </a:rPr>
                <a:t>packaging; one</a:t>
              </a:r>
            </a:p>
            <a:p>
              <a:pPr algn="ctr">
                <a:lnSpc>
                  <a:spcPct val="115000"/>
                </a:lnSpc>
              </a:pPr>
              <a:r>
                <a:rPr sz="1250" b="0" i="0">
                  <a:solidFill>
                    <a:srgbClr val="3F3F3F"/>
                  </a:solidFill>
                  <a:latin typeface="Segoe UI"/>
                </a:rPr>
                <a:t>22.5MB binary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94717F43-43C3-42E9-8A77-615546EDD97D}"/>
              </a:ext>
            </a:extLst>
          </p:cNvPr>
          <p:cNvGrpSpPr/>
          <p:nvPr/>
        </p:nvGrpSpPr>
        <p:grpSpPr>
          <a:xfrm>
            <a:off x="731520" y="4343400"/>
            <a:ext cx="10652760" cy="1188720"/>
            <a:chOff x="731520" y="4343400"/>
            <a:chExt cx="10652760" cy="1188720"/>
          </a:xfrm>
        </p:grpSpPr>
        <p:sp>
          <p:nvSpPr>
            <p:cNvPr id="18" name="Rectangle 17"/>
            <p:cNvSpPr/>
            <p:nvPr/>
          </p:nvSpPr>
          <p:spPr>
            <a:xfrm>
              <a:off x="731520" y="4343400"/>
              <a:ext cx="45720" cy="1188720"/>
            </a:xfrm>
            <a:prstGeom prst="rect">
              <a:avLst/>
            </a:prstGeom>
            <a:solidFill>
              <a:srgbClr val="B97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960120" y="4343400"/>
              <a:ext cx="1042416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250" b="1" i="0" dirty="0">
                  <a:solidFill>
                    <a:srgbClr val="B97000"/>
                  </a:solidFill>
                  <a:latin typeface="Segoe UI"/>
                </a:rPr>
                <a:t>INHERITED DEFECT, FOUND AND FIXED THIS SESSION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60120" y="4663440"/>
              <a:ext cx="10424160" cy="7315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lang="en-US" sz="1350" b="0" i="0" dirty="0">
                  <a:solidFill>
                    <a:srgbClr val="1A1A1A"/>
                  </a:solidFill>
                  <a:latin typeface="Segoe UI"/>
                </a:rPr>
                <a:t>The proof of concept's apt-get install is one atomic batch call — no per-package fallback, no timeout,</a:t>
              </a:r>
            </a:p>
            <a:p>
              <a:pPr algn="l">
                <a:lnSpc>
                  <a:spcPct val="120000"/>
                </a:lnSpc>
              </a:pPr>
              <a:r>
                <a:rPr lang="en-US" sz="1350" b="0" i="0" dirty="0">
                  <a:solidFill>
                    <a:srgbClr val="1A1A1A"/>
                  </a:solidFill>
                  <a:latin typeface="Segoe UI"/>
                </a:rPr>
                <a:t>failures silently logged and ignored. Same defect existed here until this session's fix.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Same pipeline, three levels of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rapezoid 4"/>
          <p:cNvSpPr/>
          <p:nvPr/>
        </p:nvSpPr>
        <p:spPr>
          <a:xfrm>
            <a:off x="960120" y="1828800"/>
            <a:ext cx="5943600" cy="1051560"/>
          </a:xfrm>
          <a:prstGeom prst="trapezoid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Guided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2121408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 dirty="0">
                <a:solidFill>
                  <a:srgbClr val="1A1A1A"/>
                </a:solidFill>
                <a:latin typeface="Segoe UI"/>
              </a:rPr>
              <a:t>Zero decisions after mode pick</a:t>
            </a:r>
          </a:p>
        </p:txBody>
      </p:sp>
      <p:sp>
        <p:nvSpPr>
          <p:cNvPr id="7" name="Trapezoid 6"/>
          <p:cNvSpPr/>
          <p:nvPr/>
        </p:nvSpPr>
        <p:spPr>
          <a:xfrm>
            <a:off x="1783080" y="2990088"/>
            <a:ext cx="4297680" cy="1051560"/>
          </a:xfrm>
          <a:prstGeom prst="trapezoid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Balanced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3282696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 dirty="0">
                <a:solidFill>
                  <a:srgbClr val="1A1A1A"/>
                </a:solidFill>
                <a:latin typeface="Segoe UI"/>
              </a:rPr>
              <a:t>+ file type selection</a:t>
            </a:r>
          </a:p>
        </p:txBody>
      </p:sp>
      <p:sp>
        <p:nvSpPr>
          <p:cNvPr id="9" name="Trapezoid 8"/>
          <p:cNvSpPr/>
          <p:nvPr/>
        </p:nvSpPr>
        <p:spPr>
          <a:xfrm>
            <a:off x="2606040" y="4151376"/>
            <a:ext cx="2651760" cy="1051560"/>
          </a:xfrm>
          <a:prstGeom prst="trapezoid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Expert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4443984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 dirty="0">
                <a:solidFill>
                  <a:srgbClr val="1A1A1A"/>
                </a:solidFill>
                <a:latin typeface="Segoe UI"/>
              </a:rPr>
              <a:t>+ overrides + online verification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3492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 dirty="0">
                <a:solidFill>
                  <a:srgbClr val="3F3F3F"/>
                </a:solidFill>
                <a:latin typeface="Segoe UI"/>
              </a:rPr>
              <a:t>Decreasing automation, increasing manual control, top to bottom.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F87AB91A-F7F6-3E79-09B3-AD5B54C91497}"/>
              </a:ext>
            </a:extLst>
          </p:cNvPr>
          <p:cNvGrpSpPr/>
          <p:nvPr/>
        </p:nvGrpSpPr>
        <p:grpSpPr>
          <a:xfrm>
            <a:off x="822960" y="5806440"/>
            <a:ext cx="10469880" cy="365760"/>
            <a:chOff x="822960" y="5806440"/>
            <a:chExt cx="10469880" cy="365760"/>
          </a:xfrm>
        </p:grpSpPr>
        <p:sp>
          <p:nvSpPr>
            <p:cNvPr id="12" name="Rectangle 11"/>
            <p:cNvSpPr/>
            <p:nvPr/>
          </p:nvSpPr>
          <p:spPr>
            <a:xfrm>
              <a:off x="822960" y="5806440"/>
              <a:ext cx="45720" cy="365760"/>
            </a:xfrm>
            <a:prstGeom prst="rect">
              <a:avLst/>
            </a:prstGeom>
            <a:solidFill>
              <a:srgbClr val="B97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051560" y="5806440"/>
              <a:ext cx="1024128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300" b="0" i="0">
                  <a:solidFill>
                    <a:srgbClr val="1A1A1A"/>
                  </a:solidFill>
                  <a:latin typeface="Segoe UI"/>
                </a:rPr>
                <a:t>Only Expert mode touches the network — only to verify a package already chosen, never to find it.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2960" y="28346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063D79"/>
                </a:solidFill>
                <a:latin typeface="Segoe UI"/>
              </a:rPr>
              <a:t>METHOD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794760"/>
            <a:ext cx="1188720" cy="508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77393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Motivation</a:t>
            </a:r>
          </a:p>
        </p:txBody>
      </p:sp>
      <p:sp>
        <p:nvSpPr>
          <p:cNvPr id="7" name="Oval 6"/>
          <p:cNvSpPr/>
          <p:nvPr/>
        </p:nvSpPr>
        <p:spPr>
          <a:xfrm>
            <a:off x="387705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92608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Idea</a:t>
            </a:r>
          </a:p>
        </p:txBody>
      </p:sp>
      <p:sp>
        <p:nvSpPr>
          <p:cNvPr id="9" name="Oval 8"/>
          <p:cNvSpPr/>
          <p:nvPr/>
        </p:nvSpPr>
        <p:spPr>
          <a:xfrm>
            <a:off x="598017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63D79"/>
                </a:solidFill>
                <a:latin typeface="Segoe UI"/>
              </a:rPr>
              <a:t>Method</a:t>
            </a:r>
          </a:p>
        </p:txBody>
      </p:sp>
      <p:sp>
        <p:nvSpPr>
          <p:cNvPr id="11" name="Oval 10"/>
          <p:cNvSpPr/>
          <p:nvPr/>
        </p:nvSpPr>
        <p:spPr>
          <a:xfrm>
            <a:off x="8083296" y="4572000"/>
            <a:ext cx="201168" cy="2011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3232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Evidence</a:t>
            </a:r>
          </a:p>
        </p:txBody>
      </p:sp>
      <p:sp>
        <p:nvSpPr>
          <p:cNvPr id="13" name="Oval 12"/>
          <p:cNvSpPr/>
          <p:nvPr/>
        </p:nvSpPr>
        <p:spPr>
          <a:xfrm>
            <a:off x="10186416" y="4572000"/>
            <a:ext cx="201168" cy="2011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23544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Takeaway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Two machines, four clean layers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ABBE9AB-BB80-AD91-6CF9-14DDFC969E1C}"/>
              </a:ext>
            </a:extLst>
          </p:cNvPr>
          <p:cNvGrpSpPr/>
          <p:nvPr/>
        </p:nvGrpSpPr>
        <p:grpSpPr>
          <a:xfrm>
            <a:off x="548640" y="1737360"/>
            <a:ext cx="4892040" cy="914400"/>
            <a:chOff x="548640" y="1737360"/>
            <a:chExt cx="4892040" cy="914400"/>
          </a:xfrm>
        </p:grpSpPr>
        <p:sp>
          <p:nvSpPr>
            <p:cNvPr id="5" name="Rectangle 4"/>
            <p:cNvSpPr/>
            <p:nvPr/>
          </p:nvSpPr>
          <p:spPr>
            <a:xfrm>
              <a:off x="548640" y="1737360"/>
              <a:ext cx="45720" cy="914400"/>
            </a:xfrm>
            <a:prstGeom prst="rect">
              <a:avLst/>
            </a:prstGeom>
            <a:solidFill>
              <a:srgbClr val="00843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77240" y="1737360"/>
              <a:ext cx="466344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500" b="1" i="0">
                  <a:solidFill>
                    <a:srgbClr val="1A1A1A"/>
                  </a:solidFill>
                  <a:latin typeface="Segoe UI"/>
                </a:rPr>
                <a:t>1 — Prepare (Windows)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77240" y="2148840"/>
              <a:ext cx="4663440" cy="5029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350" b="0" i="0">
                  <a:solidFill>
                    <a:srgbClr val="3F3F3F"/>
                  </a:solidFill>
                  <a:latin typeface="Segoe UI"/>
                </a:rPr>
                <a:t>Scan → map apps → pack a bundle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203FB05-56D3-4B8B-CB89-9326F74D9AB3}"/>
              </a:ext>
            </a:extLst>
          </p:cNvPr>
          <p:cNvGrpSpPr/>
          <p:nvPr/>
        </p:nvGrpSpPr>
        <p:grpSpPr>
          <a:xfrm>
            <a:off x="6035040" y="1737360"/>
            <a:ext cx="5257800" cy="914400"/>
            <a:chOff x="6035040" y="1737360"/>
            <a:chExt cx="5257800" cy="914400"/>
          </a:xfrm>
        </p:grpSpPr>
        <p:sp>
          <p:nvSpPr>
            <p:cNvPr id="8" name="Rectangle 7"/>
            <p:cNvSpPr/>
            <p:nvPr/>
          </p:nvSpPr>
          <p:spPr>
            <a:xfrm>
              <a:off x="6035040" y="1737360"/>
              <a:ext cx="45720" cy="914400"/>
            </a:xfrm>
            <a:prstGeom prst="rect">
              <a:avLst/>
            </a:prstGeom>
            <a:solidFill>
              <a:srgbClr val="063D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263640" y="1737360"/>
              <a:ext cx="502920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500" b="1" i="0">
                  <a:solidFill>
                    <a:srgbClr val="1A1A1A"/>
                  </a:solidFill>
                  <a:latin typeface="Segoe UI"/>
                </a:rPr>
                <a:t>2 — Restore (Linux Mint)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263640" y="2148840"/>
              <a:ext cx="5029200" cy="5029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350" b="0" i="0">
                  <a:solidFill>
                    <a:srgbClr val="3F3F3F"/>
                  </a:solidFill>
                  <a:latin typeface="Segoe UI"/>
                </a:rPr>
                <a:t>Unzip → restore → verify → report</a:t>
              </a:r>
            </a:p>
          </p:txBody>
        </p:sp>
      </p:grpSp>
      <p:sp>
        <p:nvSpPr>
          <p:cNvPr id="11" name="Rounded Rectangle 10"/>
          <p:cNvSpPr/>
          <p:nvPr/>
        </p:nvSpPr>
        <p:spPr>
          <a:xfrm>
            <a:off x="640080" y="3383280"/>
            <a:ext cx="2606040" cy="1005840"/>
          </a:xfrm>
          <a:prstGeom prst="roundRect">
            <a:avLst>
              <a:gd name="adj" fmla="val 7000"/>
            </a:avLst>
          </a:prstGeom>
          <a:solidFill>
            <a:srgbClr val="E2F1E8"/>
          </a:solidFill>
          <a:ln w="12700">
            <a:solidFill>
              <a:srgbClr val="E2F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3703320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08439"/>
                </a:solidFill>
                <a:latin typeface="Segoe UI"/>
              </a:rPr>
              <a:t>inventory/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246120" y="3797300"/>
            <a:ext cx="228600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474720" y="3383280"/>
            <a:ext cx="2606040" cy="1005840"/>
          </a:xfrm>
          <a:prstGeom prst="roundRect">
            <a:avLst>
              <a:gd name="adj" fmla="val 7000"/>
            </a:avLst>
          </a:prstGeom>
          <a:solidFill>
            <a:srgbClr val="DCE6F0"/>
          </a:solidFill>
          <a:ln w="12700">
            <a:solidFill>
              <a:srgbClr val="DC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74720" y="3703320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63D79"/>
                </a:solidFill>
                <a:latin typeface="Segoe UI"/>
              </a:rPr>
              <a:t>analysis/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080760" y="3797300"/>
            <a:ext cx="228600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309360" y="3383280"/>
            <a:ext cx="2606040" cy="1005840"/>
          </a:xfrm>
          <a:prstGeom prst="roundRect">
            <a:avLst>
              <a:gd name="adj" fmla="val 7000"/>
            </a:avLst>
          </a:prstGeom>
          <a:solidFill>
            <a:srgbClr val="F7ECDC"/>
          </a:solidFill>
          <a:ln w="12700">
            <a:solidFill>
              <a:srgbClr val="F7E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09360" y="3703320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B97000"/>
                </a:solidFill>
                <a:latin typeface="Segoe UI"/>
              </a:rPr>
              <a:t>services/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915400" y="3797300"/>
            <a:ext cx="228600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9144000" y="3383280"/>
            <a:ext cx="2606040" cy="1005840"/>
          </a:xfrm>
          <a:prstGeom prst="roundRect">
            <a:avLst>
              <a:gd name="adj" fmla="val 7000"/>
            </a:avLst>
          </a:prstGeom>
          <a:solidFill>
            <a:srgbClr val="DCE6F0"/>
          </a:solidFill>
          <a:ln w="12700">
            <a:solidFill>
              <a:srgbClr val="DC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44000" y="3703320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63D79"/>
                </a:solidFill>
                <a:latin typeface="Segoe UI"/>
              </a:rPr>
              <a:t>qt_ui/ + cli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80160" y="4709160"/>
            <a:ext cx="9601200" cy="88622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554480" y="4892040"/>
            <a:ext cx="9052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063D79"/>
                </a:solidFill>
                <a:latin typeface="Segoe UI"/>
              </a:rPr>
              <a:t>17,467 LOC (</a:t>
            </a:r>
            <a:r>
              <a:rPr sz="1400" b="1" i="0" dirty="0" err="1">
                <a:solidFill>
                  <a:srgbClr val="063D79"/>
                </a:solidFill>
                <a:latin typeface="Segoe UI"/>
              </a:rPr>
              <a:t>src</a:t>
            </a:r>
            <a:r>
              <a:rPr sz="1400" b="1" i="0" dirty="0">
                <a:solidFill>
                  <a:srgbClr val="063D79"/>
                </a:solidFill>
                <a:latin typeface="Segoe UI"/>
              </a:rPr>
              <a:t>) · 3,595 LOC (tests) · 89 files · MIT licensed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5650992"/>
            <a:ext cx="9052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i="1">
                <a:solidFill>
                  <a:srgbClr val="3F3F3F"/>
                </a:solidFill>
                <a:latin typeface="Segoe UI"/>
              </a:rPr>
              <a:t>Verified on Windows 10 and Windows 11 (VirtualBox VM) — full scan-to-restore flow, no issues.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One shared decision module, two call paths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5166360" cy="457200"/>
          </a:xfrm>
          <a:prstGeom prst="roundRect">
            <a:avLst>
              <a:gd name="adj" fmla="val 7000"/>
            </a:avLst>
          </a:prstGeom>
          <a:solidFill>
            <a:srgbClr val="DCE6F0"/>
          </a:solidFill>
          <a:ln w="12700">
            <a:solidFill>
              <a:srgbClr val="DC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5166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63D79"/>
                </a:solidFill>
                <a:latin typeface="Segoe UI"/>
              </a:rPr>
              <a:t>Qt Wizard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89320" y="1463040"/>
            <a:ext cx="5166360" cy="457200"/>
          </a:xfrm>
          <a:prstGeom prst="roundRect">
            <a:avLst>
              <a:gd name="adj" fmla="val 7000"/>
            </a:avLst>
          </a:prstGeom>
          <a:solidFill>
            <a:srgbClr val="DCE6F0"/>
          </a:solidFill>
          <a:ln w="12700">
            <a:solidFill>
              <a:srgbClr val="DC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89320" y="1572768"/>
            <a:ext cx="5166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63D79"/>
                </a:solidFill>
                <a:latin typeface="Segoe UI"/>
              </a:rPr>
              <a:t>CLI — python -m src.cli scan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57400"/>
            <a:ext cx="5166360" cy="457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2167128"/>
            <a:ext cx="5166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  <a:latin typeface="Segoe UI"/>
              </a:rPr>
              <a:t>OperationsController / AutomationCoordinator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89320" y="2057400"/>
            <a:ext cx="5166360" cy="457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89320" y="2167128"/>
            <a:ext cx="5166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  <a:latin typeface="Segoe UI"/>
              </a:rPr>
              <a:t>scan_command()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3042920" y="2542032"/>
            <a:ext cx="177800" cy="365760"/>
          </a:xfrm>
          <a:prstGeom prst="down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Down Arrow 13"/>
          <p:cNvSpPr/>
          <p:nvPr/>
        </p:nvSpPr>
        <p:spPr>
          <a:xfrm>
            <a:off x="8483600" y="2542032"/>
            <a:ext cx="177800" cy="365760"/>
          </a:xfrm>
          <a:prstGeom prst="down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48640" y="2944368"/>
            <a:ext cx="10607040" cy="1325880"/>
          </a:xfrm>
          <a:prstGeom prst="roundRect">
            <a:avLst>
              <a:gd name="adj" fmla="val 7000"/>
            </a:avLst>
          </a:prstGeom>
          <a:solidFill>
            <a:srgbClr val="F7ECDC"/>
          </a:solidFill>
          <a:ln w="12700">
            <a:solidFill>
              <a:srgbClr val="F7E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" y="3035808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B97000"/>
                </a:solidFill>
                <a:latin typeface="Segoe UI"/>
              </a:rPr>
              <a:t>src/orchestration/mode_policy.py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383280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Segoe UI"/>
              </a:rPr>
              <a:t>•  should_run_analysis(mode)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3675888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Segoe UI"/>
              </a:rPr>
              <a:t>•  should_run_file_recommendations(mode)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96849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Segoe UI"/>
              </a:rPr>
              <a:t>•  resolve_app_recommendation_strategy(mode)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6037580" y="4297680"/>
            <a:ext cx="177800" cy="365760"/>
          </a:xfrm>
          <a:prstGeom prst="down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548640" y="4709160"/>
            <a:ext cx="10607040" cy="502920"/>
          </a:xfrm>
          <a:prstGeom prst="roundRect">
            <a:avLst>
              <a:gd name="adj" fmla="val 7000"/>
            </a:avLst>
          </a:prstGeom>
          <a:solidFill>
            <a:srgbClr val="E2F1E8"/>
          </a:solidFill>
          <a:ln w="12700">
            <a:solidFill>
              <a:srgbClr val="E2F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48640" y="4818888"/>
            <a:ext cx="10607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  <a:latin typeface="Segoe UI"/>
              </a:rPr>
              <a:t>Services Layer — MigrationService · RecommendationService · FileRecommendationService · RestoreService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Windows app → Linux package — and a named gap, closed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725930" y="1645920"/>
            <a:ext cx="822960" cy="82296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7048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i="0">
                <a:solidFill>
                  <a:srgbClr val="1A1A1A"/>
                </a:solidFill>
                <a:latin typeface="Segoe UI"/>
              </a:rPr>
              <a:t>CSV mapping (238)</a:t>
            </a:r>
          </a:p>
        </p:txBody>
      </p:sp>
      <p:sp>
        <p:nvSpPr>
          <p:cNvPr id="7" name="Oval 6"/>
          <p:cNvSpPr/>
          <p:nvPr/>
        </p:nvSpPr>
        <p:spPr>
          <a:xfrm>
            <a:off x="4354830" y="1645920"/>
            <a:ext cx="822960" cy="82296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3300" y="257048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i="0">
                <a:solidFill>
                  <a:srgbClr val="1A1A1A"/>
                </a:solidFill>
                <a:latin typeface="Segoe UI"/>
              </a:rPr>
              <a:t>Fuzzy match</a:t>
            </a:r>
          </a:p>
        </p:txBody>
      </p:sp>
      <p:sp>
        <p:nvSpPr>
          <p:cNvPr id="9" name="Oval 8"/>
          <p:cNvSpPr/>
          <p:nvPr/>
        </p:nvSpPr>
        <p:spPr>
          <a:xfrm>
            <a:off x="6983730" y="1645920"/>
            <a:ext cx="822960" cy="82296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257048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i="0">
                <a:solidFill>
                  <a:srgbClr val="1A1A1A"/>
                </a:solidFill>
                <a:latin typeface="Segoe UI"/>
              </a:rPr>
              <a:t>Confidence floor</a:t>
            </a:r>
          </a:p>
        </p:txBody>
      </p:sp>
      <p:sp>
        <p:nvSpPr>
          <p:cNvPr id="11" name="Oval 10"/>
          <p:cNvSpPr/>
          <p:nvPr/>
        </p:nvSpPr>
        <p:spPr>
          <a:xfrm>
            <a:off x="9612630" y="1645920"/>
            <a:ext cx="822960" cy="82296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01100" y="257048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i="0">
                <a:solidFill>
                  <a:srgbClr val="1A1A1A"/>
                </a:solidFill>
                <a:latin typeface="Segoe UI"/>
              </a:rPr>
              <a:t>Repology check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177540" y="2032508"/>
            <a:ext cx="320040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ight Arrow 13"/>
          <p:cNvSpPr/>
          <p:nvPr/>
        </p:nvSpPr>
        <p:spPr>
          <a:xfrm>
            <a:off x="5806440" y="2032508"/>
            <a:ext cx="320040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ight Arrow 14"/>
          <p:cNvSpPr/>
          <p:nvPr/>
        </p:nvSpPr>
        <p:spPr>
          <a:xfrm>
            <a:off x="8435340" y="2032508"/>
            <a:ext cx="320040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40080" y="3291840"/>
            <a:ext cx="45720" cy="640080"/>
          </a:xfrm>
          <a:prstGeom prst="rect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3337560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 dirty="0">
                <a:solidFill>
                  <a:srgbClr val="1A1A1A"/>
                </a:solidFill>
                <a:latin typeface="Segoe UI"/>
              </a:rPr>
              <a:t>Term paper: “Compatibility mapping relies on heuristic matching... not guaranteeing feature parity.”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160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3D79"/>
                </a:solidFill>
                <a:latin typeface="Segoe UI"/>
              </a:rPr>
              <a:t>WHAT THIS PROJECT FIXED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572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8439"/>
                </a:solidFill>
                <a:latin typeface="Segoe UI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4599432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Fuzzy matching (SequenceMatcher) replaces exact-string-only lookup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074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8439"/>
                </a:solidFill>
                <a:latin typeface="Segoe U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102352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Confidence floors stop the algorithm silently downgrading curated matches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577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8439"/>
                </a:solidFill>
                <a:latin typeface="Segoe U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605272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Live Repology verification — package existence checked, not assumed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Measurable objectives, defined at project start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828800"/>
          <a:ext cx="110642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251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Objective</a:t>
                      </a:r>
                    </a:p>
                  </a:txBody>
                  <a:tcPr marL="101600" marR="101600" marT="50800" marB="50800" anchor="ctr">
                    <a:solidFill>
                      <a:srgbClr val="063D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Target</a:t>
                      </a:r>
                    </a:p>
                  </a:txBody>
                  <a:tcPr marL="101600" marR="101600" marT="50800" marB="50800" anchor="ctr">
                    <a:solidFill>
                      <a:srgbClr val="063D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Result</a:t>
                      </a:r>
                    </a:p>
                  </a:txBody>
                  <a:tcPr marL="101600" marR="101600" marT="50800" marB="50800" anchor="ctr">
                    <a:solidFill>
                      <a:srgbClr val="063D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O1 — Manual steps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≤ 3 in guided mode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O2 — App coverage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≥ 80% of top-50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238 entries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O3 — File integrity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≥ 95% pass SHA-256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O4 — Sovereignty Score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≥ 85%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Scored every run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O5 — Qt/CLI parity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Identical policy, both interfaces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One shared module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251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O6 — Cycle time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&lt; 20 min for ≤ 5GB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Timed every run — see Critique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Work breakdown &amp; risk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63D79"/>
                </a:solidFill>
                <a:latin typeface="Segoe UI"/>
              </a:rPr>
              <a:t>7 WORK PACKAGES + 6-DAY RISK BUFFER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0" y="1618488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1">
                <a:solidFill>
                  <a:srgbClr val="B97000"/>
                </a:solidFill>
                <a:latin typeface="Segoe UI"/>
              </a:rPr>
              <a:t>Open risk: no physical-hardware E2E test — VM pair only</a:t>
            </a:r>
          </a:p>
        </p:txBody>
      </p:sp>
      <p:pic>
        <p:nvPicPr>
          <p:cNvPr id="7" name="Picture 6" descr="gantt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48840"/>
            <a:ext cx="11064240" cy="322707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2960" y="28346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063D79"/>
                </a:solidFill>
                <a:latin typeface="Segoe UI"/>
              </a:rPr>
              <a:t>EVIDENCE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794760"/>
            <a:ext cx="1188720" cy="508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77393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Motivation</a:t>
            </a:r>
          </a:p>
        </p:txBody>
      </p:sp>
      <p:sp>
        <p:nvSpPr>
          <p:cNvPr id="7" name="Oval 6"/>
          <p:cNvSpPr/>
          <p:nvPr/>
        </p:nvSpPr>
        <p:spPr>
          <a:xfrm>
            <a:off x="387705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92608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Idea</a:t>
            </a:r>
          </a:p>
        </p:txBody>
      </p:sp>
      <p:sp>
        <p:nvSpPr>
          <p:cNvPr id="9" name="Oval 8"/>
          <p:cNvSpPr/>
          <p:nvPr/>
        </p:nvSpPr>
        <p:spPr>
          <a:xfrm>
            <a:off x="598017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Method</a:t>
            </a:r>
          </a:p>
        </p:txBody>
      </p:sp>
      <p:sp>
        <p:nvSpPr>
          <p:cNvPr id="11" name="Oval 10"/>
          <p:cNvSpPr/>
          <p:nvPr/>
        </p:nvSpPr>
        <p:spPr>
          <a:xfrm>
            <a:off x="808329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3232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63D79"/>
                </a:solidFill>
                <a:latin typeface="Segoe UI"/>
              </a:rPr>
              <a:t>Evidence</a:t>
            </a:r>
          </a:p>
        </p:txBody>
      </p:sp>
      <p:sp>
        <p:nvSpPr>
          <p:cNvPr id="13" name="Oval 12"/>
          <p:cNvSpPr/>
          <p:nvPr/>
        </p:nvSpPr>
        <p:spPr>
          <a:xfrm>
            <a:off x="10186416" y="4572000"/>
            <a:ext cx="201168" cy="2011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23544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Takeaway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Quantified improvement over the proof of concept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110642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1074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Aspect</a:t>
                      </a:r>
                    </a:p>
                  </a:txBody>
                  <a:tcPr marL="101600" marR="101600" marT="50800" marB="50800" anchor="ctr">
                    <a:solidFill>
                      <a:srgbClr val="063D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Proof of concept</a:t>
                      </a:r>
                    </a:p>
                  </a:txBody>
                  <a:tcPr marL="101600" marR="101600" marT="50800" marB="50800" anchor="ctr">
                    <a:solidFill>
                      <a:srgbClr val="063D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This project</a:t>
                      </a:r>
                    </a:p>
                  </a:txBody>
                  <a:tcPr marL="101600" marR="101600" marT="50800" marB="50800" anchor="ctr">
                    <a:solidFill>
                      <a:srgbClr val="063D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Change</a:t>
                      </a:r>
                    </a:p>
                  </a:txBody>
                  <a:tcPr marL="101600" marR="101600" marT="50800" marB="50800" anchor="ctr">
                    <a:solidFill>
                      <a:srgbClr val="063D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App mappings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25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238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9.5×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Source LOC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4,031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17,467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4.3×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Automated tests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192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0 → 192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GUI framework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Tkinter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Qt (PySide6)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rewritten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App-matching stages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1 (substring)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3 (fuzzy + confidence + online)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1 → 3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107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Platforms packaged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1 (Linux)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2 (Win + Linux, auto-embed)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1 → 2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349240"/>
            <a:ext cx="11064240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 dirty="0">
                <a:solidFill>
                  <a:srgbClr val="3F3F3F"/>
                </a:solidFill>
                <a:latin typeface="Segoe UI"/>
              </a:rPr>
              <a:t>github.com/</a:t>
            </a:r>
            <a:r>
              <a:rPr sz="1250" b="0" i="1" dirty="0" err="1">
                <a:solidFill>
                  <a:srgbClr val="3F3F3F"/>
                </a:solidFill>
                <a:latin typeface="Segoe UI"/>
              </a:rPr>
              <a:t>PenCoder</a:t>
            </a:r>
            <a:r>
              <a:rPr sz="1250" b="0" i="1" dirty="0">
                <a:solidFill>
                  <a:srgbClr val="3F3F3F"/>
                </a:solidFill>
                <a:latin typeface="Segoe UI"/>
              </a:rPr>
              <a:t>/semi-auto-migration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7 guided steps, then 1 click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23544" y="1600199"/>
            <a:ext cx="548640" cy="54864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12848"/>
            <a:ext cx="14813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1A1A1A"/>
                </a:solidFill>
                <a:latin typeface="Segoe UI"/>
              </a:rPr>
              <a:t>Welcome</a:t>
            </a:r>
          </a:p>
        </p:txBody>
      </p:sp>
      <p:sp>
        <p:nvSpPr>
          <p:cNvPr id="7" name="Right Arrow 6"/>
          <p:cNvSpPr/>
          <p:nvPr/>
        </p:nvSpPr>
        <p:spPr>
          <a:xfrm>
            <a:off x="1892808" y="1785619"/>
            <a:ext cx="155448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2514600" y="1600199"/>
            <a:ext cx="548640" cy="54864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48256" y="2212848"/>
            <a:ext cx="14813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1A1A1A"/>
                </a:solidFill>
                <a:latin typeface="Segoe UI"/>
              </a:rPr>
              <a:t>Mode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483864" y="1785619"/>
            <a:ext cx="155448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4105656" y="1600199"/>
            <a:ext cx="548640" cy="54864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9312" y="2212848"/>
            <a:ext cx="14813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1A1A1A"/>
                </a:solidFill>
                <a:latin typeface="Segoe UI"/>
              </a:rPr>
              <a:t>Scan +</a:t>
            </a:r>
          </a:p>
          <a:p>
            <a:pPr algn="ctr"/>
            <a:r>
              <a:rPr sz="1150" b="1" i="0">
                <a:solidFill>
                  <a:srgbClr val="1A1A1A"/>
                </a:solidFill>
                <a:latin typeface="Segoe UI"/>
              </a:rPr>
              <a:t>Match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074920" y="1785619"/>
            <a:ext cx="155448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5696712" y="1600199"/>
            <a:ext cx="548640" cy="54864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30368" y="2212848"/>
            <a:ext cx="14813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1A1A1A"/>
                </a:solidFill>
                <a:latin typeface="Segoe UI"/>
              </a:rPr>
              <a:t>Data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665976" y="1785619"/>
            <a:ext cx="155448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7287768" y="1600199"/>
            <a:ext cx="548640" cy="54864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21424" y="2212848"/>
            <a:ext cx="14813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1A1A1A"/>
                </a:solidFill>
                <a:latin typeface="Segoe UI"/>
              </a:rPr>
              <a:t>Review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257032" y="1785619"/>
            <a:ext cx="155448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8878824" y="1600199"/>
            <a:ext cx="548640" cy="54864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2212848"/>
            <a:ext cx="14813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1A1A1A"/>
                </a:solidFill>
                <a:latin typeface="Segoe UI"/>
              </a:rPr>
              <a:t>Backup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848088" y="1785619"/>
            <a:ext cx="155448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10469880" y="1600199"/>
            <a:ext cx="548640" cy="54864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03536" y="2212848"/>
            <a:ext cx="14813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1A1A1A"/>
                </a:solidFill>
                <a:latin typeface="Segoe UI"/>
              </a:rPr>
              <a:t>Bundle</a:t>
            </a:r>
          </a:p>
          <a:p>
            <a:pPr algn="ctr"/>
            <a:r>
              <a:rPr sz="1150" b="1" i="0">
                <a:solidFill>
                  <a:srgbClr val="1A1A1A"/>
                </a:solidFill>
                <a:latin typeface="Segoe UI"/>
              </a:rPr>
              <a:t>Report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2788920"/>
            <a:ext cx="105156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 sz="1300" b="0" i="1" dirty="0">
              <a:solidFill>
                <a:srgbClr val="3F3F3F"/>
              </a:solidFill>
              <a:latin typeface="Segoe UI"/>
            </a:endParaRPr>
          </a:p>
        </p:txBody>
      </p:sp>
      <p:sp>
        <p:nvSpPr>
          <p:cNvPr id="26" name="Oval 25"/>
          <p:cNvSpPr/>
          <p:nvPr/>
        </p:nvSpPr>
        <p:spPr>
          <a:xfrm>
            <a:off x="548640" y="3291840"/>
            <a:ext cx="640080" cy="640080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25880" y="33832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 dirty="0">
                <a:solidFill>
                  <a:srgbClr val="1A1A1A"/>
                </a:solidFill>
                <a:latin typeface="Segoe UI"/>
              </a:rPr>
              <a:t>Restore &amp; Report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5880" y="3749039"/>
            <a:ext cx="4114800" cy="2864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endParaRPr sz="1200" b="0" i="0" dirty="0">
              <a:solidFill>
                <a:srgbClr val="3F3F3F"/>
              </a:solidFill>
              <a:latin typeface="Segoe UI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5958840" y="3124200"/>
            <a:ext cx="3019044" cy="2758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D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final_repo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3200400"/>
            <a:ext cx="2866644" cy="260604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035040" y="5908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1" dirty="0">
                <a:solidFill>
                  <a:srgbClr val="3F3F3F"/>
                </a:solidFill>
                <a:latin typeface="Segoe UI"/>
              </a:rPr>
              <a:t>Real report — actual VM restore, 3,344 files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 dirty="0">
                <a:solidFill>
                  <a:srgbClr val="1A1A1A"/>
                </a:solidFill>
                <a:latin typeface="Segoe UI"/>
              </a:rPr>
              <a:t>192 tests — and 4 bugs only a live VM run exposed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691640"/>
          <a:ext cx="548640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Oval 5"/>
          <p:cNvSpPr/>
          <p:nvPr/>
        </p:nvSpPr>
        <p:spPr>
          <a:xfrm>
            <a:off x="6309360" y="1764792"/>
            <a:ext cx="365760" cy="365760"/>
          </a:xfrm>
          <a:prstGeom prst="ellipse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12280" y="1783080"/>
            <a:ext cx="4709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1A1A1A"/>
                </a:solidFill>
                <a:latin typeface="Segoe UI"/>
              </a:rPr>
              <a:t>Bad package name failed ALL installs</a:t>
            </a:r>
          </a:p>
        </p:txBody>
      </p:sp>
      <p:sp>
        <p:nvSpPr>
          <p:cNvPr id="8" name="Oval 7"/>
          <p:cNvSpPr/>
          <p:nvPr/>
        </p:nvSpPr>
        <p:spPr>
          <a:xfrm>
            <a:off x="6309360" y="2167128"/>
            <a:ext cx="365760" cy="365760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12280" y="2194560"/>
            <a:ext cx="4709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08439"/>
                </a:solidFill>
                <a:latin typeface="Segoe UI"/>
              </a:rPr>
              <a:t>per-package fallback</a:t>
            </a:r>
          </a:p>
        </p:txBody>
      </p:sp>
      <p:sp>
        <p:nvSpPr>
          <p:cNvPr id="10" name="Oval 9"/>
          <p:cNvSpPr/>
          <p:nvPr/>
        </p:nvSpPr>
        <p:spPr>
          <a:xfrm>
            <a:off x="6309360" y="2606040"/>
            <a:ext cx="365760" cy="365760"/>
          </a:xfrm>
          <a:prstGeom prst="ellipse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2624328"/>
            <a:ext cx="4709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Segoe UI"/>
              </a:rPr>
              <a:t>Shortcuts matched requested, not installed</a:t>
            </a:r>
          </a:p>
        </p:txBody>
      </p:sp>
      <p:sp>
        <p:nvSpPr>
          <p:cNvPr id="12" name="Oval 11"/>
          <p:cNvSpPr/>
          <p:nvPr/>
        </p:nvSpPr>
        <p:spPr>
          <a:xfrm>
            <a:off x="6309360" y="3008376"/>
            <a:ext cx="365760" cy="365760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3035808"/>
            <a:ext cx="4709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08439"/>
                </a:solidFill>
                <a:latin typeface="Segoe UI"/>
              </a:rPr>
              <a:t>matched to actual installs</a:t>
            </a:r>
          </a:p>
        </p:txBody>
      </p:sp>
      <p:sp>
        <p:nvSpPr>
          <p:cNvPr id="14" name="Oval 13"/>
          <p:cNvSpPr/>
          <p:nvPr/>
        </p:nvSpPr>
        <p:spPr>
          <a:xfrm>
            <a:off x="6309360" y="3447288"/>
            <a:ext cx="365760" cy="365760"/>
          </a:xfrm>
          <a:prstGeom prst="ellipse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80" y="3465576"/>
            <a:ext cx="4709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Segoe UI"/>
              </a:rPr>
              <a:t>Silent multi-minute log gaps</a:t>
            </a:r>
          </a:p>
        </p:txBody>
      </p:sp>
      <p:sp>
        <p:nvSpPr>
          <p:cNvPr id="16" name="Oval 15"/>
          <p:cNvSpPr/>
          <p:nvPr/>
        </p:nvSpPr>
        <p:spPr>
          <a:xfrm>
            <a:off x="6309360" y="3849624"/>
            <a:ext cx="365760" cy="365760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3877056"/>
            <a:ext cx="4709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08439"/>
                </a:solidFill>
                <a:latin typeface="Segoe UI"/>
              </a:rPr>
              <a:t>periodic progress logging</a:t>
            </a:r>
          </a:p>
        </p:txBody>
      </p:sp>
      <p:sp>
        <p:nvSpPr>
          <p:cNvPr id="18" name="Oval 17"/>
          <p:cNvSpPr/>
          <p:nvPr/>
        </p:nvSpPr>
        <p:spPr>
          <a:xfrm>
            <a:off x="6309360" y="4288536"/>
            <a:ext cx="365760" cy="365760"/>
          </a:xfrm>
          <a:prstGeom prst="ellipse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!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12280" y="4306824"/>
            <a:ext cx="4709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Segoe UI"/>
              </a:rPr>
              <a:t>Unanswered prompt could hang forever</a:t>
            </a:r>
          </a:p>
        </p:txBody>
      </p:sp>
      <p:sp>
        <p:nvSpPr>
          <p:cNvPr id="20" name="Oval 19"/>
          <p:cNvSpPr/>
          <p:nvPr/>
        </p:nvSpPr>
        <p:spPr>
          <a:xfrm>
            <a:off x="6309360" y="4690872"/>
            <a:ext cx="365760" cy="365760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80" y="4718304"/>
            <a:ext cx="4709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08439"/>
                </a:solidFill>
                <a:latin typeface="Segoe UI"/>
              </a:rPr>
              <a:t>120s timeout per attempt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0749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 dirty="0">
                <a:solidFill>
                  <a:srgbClr val="3F3F3F"/>
                </a:solidFill>
                <a:latin typeface="Segoe UI"/>
              </a:rPr>
              <a:t>CI passing ≠ the real app works.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Reset undoes the whole restore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480060" y="1668780"/>
            <a:ext cx="868680" cy="868680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400" b="1">
                <a:solidFill>
                  <a:srgbClr val="FFFFFF"/>
                </a:solidFill>
              </a:rPr>
              <a:t>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" y="2606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1A1A"/>
                </a:solidFill>
                <a:latin typeface="Segoe UI"/>
              </a:rPr>
              <a:t>Files</a:t>
            </a:r>
          </a:p>
        </p:txBody>
      </p:sp>
      <p:sp>
        <p:nvSpPr>
          <p:cNvPr id="7" name="Oval 6"/>
          <p:cNvSpPr/>
          <p:nvPr/>
        </p:nvSpPr>
        <p:spPr>
          <a:xfrm>
            <a:off x="2811780" y="1668780"/>
            <a:ext cx="868680" cy="868680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400" b="1">
                <a:solidFill>
                  <a:srgbClr val="FFFFFF"/>
                </a:solidFill>
              </a:rPr>
              <a:t>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23160" y="2606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1A1A"/>
                </a:solidFill>
                <a:latin typeface="Segoe UI"/>
              </a:rPr>
              <a:t>Shortcuts</a:t>
            </a:r>
          </a:p>
        </p:txBody>
      </p:sp>
      <p:sp>
        <p:nvSpPr>
          <p:cNvPr id="9" name="Oval 8"/>
          <p:cNvSpPr/>
          <p:nvPr/>
        </p:nvSpPr>
        <p:spPr>
          <a:xfrm>
            <a:off x="5143500" y="1668780"/>
            <a:ext cx="868680" cy="868680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400" b="1">
                <a:solidFill>
                  <a:srgbClr val="FFFFFF"/>
                </a:solidFill>
              </a:rPr>
              <a:t>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2606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1A1A"/>
                </a:solidFill>
                <a:latin typeface="Segoe UI"/>
              </a:rPr>
              <a:t>Wallpaper</a:t>
            </a:r>
          </a:p>
        </p:txBody>
      </p:sp>
      <p:sp>
        <p:nvSpPr>
          <p:cNvPr id="11" name="Oval 10"/>
          <p:cNvSpPr/>
          <p:nvPr/>
        </p:nvSpPr>
        <p:spPr>
          <a:xfrm>
            <a:off x="7475220" y="1668780"/>
            <a:ext cx="868680" cy="868680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400" b="1">
                <a:solidFill>
                  <a:srgbClr val="FFFFFF"/>
                </a:solidFill>
              </a:rPr>
              <a:t>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2606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1A1A"/>
                </a:solidFill>
                <a:latin typeface="Segoe UI"/>
              </a:rPr>
              <a:t>Apps (opt-in)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20040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3F3F3F"/>
                </a:solidFill>
                <a:latin typeface="Segoe UI"/>
              </a:rPr>
              <a:t>Reset now undoes all of the above — opt-in for apps, live progress in the Activity Log.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63D79"/>
                </a:solidFill>
                <a:latin typeface="Segoe UI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1A"/>
                </a:solidFill>
                <a:latin typeface="Segoe UI"/>
              </a:rPr>
              <a:t>Double-click distribution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22960" y="2011680"/>
            <a:ext cx="4937760" cy="20116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2926080" y="2240280"/>
            <a:ext cx="731520" cy="73152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06324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3F3F3F"/>
                </a:solidFill>
                <a:latin typeface="Segoe UI"/>
              </a:rPr>
              <a:t>migrate.exe</a:t>
            </a:r>
          </a:p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3F3F3F"/>
                </a:solidFill>
                <a:latin typeface="Segoe UI"/>
              </a:rPr>
              <a:t>PyInstaller; can bake the Linux</a:t>
            </a:r>
          </a:p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3F3F3F"/>
                </a:solidFill>
                <a:latin typeface="Segoe UI"/>
              </a:rPr>
              <a:t>binary in for a single-file standalone.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2011680"/>
            <a:ext cx="4937760" cy="20116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8412480" y="2240280"/>
            <a:ext cx="731520" cy="731520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06324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3F3F3F"/>
                </a:solidFill>
                <a:latin typeface="Segoe UI"/>
              </a:rPr>
              <a:t>restore (ELF binary)</a:t>
            </a:r>
          </a:p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3F3F3F"/>
                </a:solidFill>
                <a:latin typeface="Segoe UI"/>
              </a:rPr>
              <a:t>Built on the target distro; embedded</a:t>
            </a:r>
          </a:p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3F3F3F"/>
                </a:solidFill>
                <a:latin typeface="Segoe UI"/>
              </a:rPr>
              <a:t>automatically into every bundle.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2976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 dirty="0">
                <a:solidFill>
                  <a:srgbClr val="3F3F3F"/>
                </a:solidFill>
                <a:latin typeface="Segoe UI"/>
              </a:rPr>
              <a:t>Live now: github.com/</a:t>
            </a:r>
            <a:r>
              <a:rPr sz="1300" b="0" i="1" dirty="0" err="1">
                <a:solidFill>
                  <a:srgbClr val="3F3F3F"/>
                </a:solidFill>
                <a:latin typeface="Segoe UI"/>
              </a:rPr>
              <a:t>PenCoder</a:t>
            </a:r>
            <a:r>
              <a:rPr sz="1300" b="0" i="1" dirty="0">
                <a:solidFill>
                  <a:srgbClr val="3F3F3F"/>
                </a:solidFill>
                <a:latin typeface="Segoe UI"/>
              </a:rPr>
              <a:t>/full-auto-migration — migrate.exe downloadable from a real GitHub Release.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7091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3F3F3F"/>
                </a:solidFill>
                <a:latin typeface="Segoe UI"/>
              </a:rPr>
              <a:t>Docs site: pencoder.github.io/full-auto-migration — user guide, project walkthrough, and Praktikum report, published.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What the project delivers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514600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783080"/>
            <a:ext cx="2514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063D79"/>
                </a:solidFill>
                <a:latin typeface="Segoe UI"/>
              </a:rPr>
              <a:t>238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377440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1A1A1A"/>
                </a:solidFill>
                <a:latin typeface="Segoe UI"/>
              </a:rPr>
              <a:t>app mappings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64992" y="1645920"/>
            <a:ext cx="2514600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364992" y="1783080"/>
            <a:ext cx="2514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063D79"/>
                </a:solidFill>
                <a:latin typeface="Segoe UI"/>
              </a:rPr>
              <a:t>192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02152" y="2377440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1A1A1A"/>
                </a:solidFill>
                <a:latin typeface="Segoe UI"/>
              </a:rPr>
              <a:t>automated tests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98464" y="1645920"/>
            <a:ext cx="2514600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98464" y="1783080"/>
            <a:ext cx="2514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063D79"/>
                </a:solidFill>
                <a:latin typeface="Segoe U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35624" y="2377440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1A1A1A"/>
                </a:solidFill>
                <a:latin typeface="Segoe UI"/>
              </a:rPr>
              <a:t>guidance modes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31936" y="1645920"/>
            <a:ext cx="2514600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31936" y="1783080"/>
            <a:ext cx="2514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063D79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69096" y="2377440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1A1A1A"/>
                </a:solidFill>
                <a:latin typeface="Segoe UI"/>
              </a:rPr>
              <a:t>platforms packaged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31520" y="3246120"/>
          <a:ext cx="502920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6050280" y="3124200"/>
            <a:ext cx="2968752" cy="27127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D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final_repo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3200400"/>
            <a:ext cx="2816352" cy="25603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126480" y="586232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1">
                <a:solidFill>
                  <a:srgbClr val="3F3F3F"/>
                </a:solidFill>
                <a:latin typeface="Segoe UI"/>
              </a:rPr>
              <a:t>100% sovereignty score — real restore, 3,344 files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Two things that didn't hold up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F3F3F"/>
                </a:solidFill>
                <a:latin typeface="Segoe UI"/>
              </a:rPr>
              <a:t>Checking our own claims against the system found two honest gaps: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286000"/>
            <a:ext cx="45720" cy="914400"/>
          </a:xfrm>
          <a:prstGeom prst="rect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228600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97000"/>
                </a:solidFill>
                <a:latin typeface="Segoe UI"/>
              </a:rPr>
              <a:t>O6 — CYCLE 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65176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1A1A1A"/>
                </a:solidFill>
                <a:latin typeface="Segoe UI"/>
              </a:rPr>
              <a:t>Target was &lt;20 min for ≤5GB; the real logged run took ~30–35 minutes for extract+restore+verify alone.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611880"/>
            <a:ext cx="45720" cy="914400"/>
          </a:xfrm>
          <a:prstGeom prst="rect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361188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97000"/>
                </a:solidFill>
                <a:latin typeface="Segoe UI"/>
              </a:rPr>
              <a:t>RECOMMENDATION QUALITY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977639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1A1A1A"/>
                </a:solidFill>
                <a:latin typeface="Segoe UI"/>
              </a:rPr>
              <a:t>Precision/recall is 0% measured. Methodology is defined; no ground-truth evaluation script has been built or run.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0292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3F3F3F"/>
                </a:solidFill>
                <a:latin typeface="Segoe UI"/>
              </a:rPr>
              <a:t>Both are carried forward as named, open items — not silently dropped.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2960" y="28346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063D79"/>
                </a:solidFill>
                <a:latin typeface="Segoe UI"/>
              </a:rPr>
              <a:t>TAKEAWAY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794760"/>
            <a:ext cx="1188720" cy="508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77393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Motivation</a:t>
            </a:r>
          </a:p>
        </p:txBody>
      </p:sp>
      <p:sp>
        <p:nvSpPr>
          <p:cNvPr id="7" name="Oval 6"/>
          <p:cNvSpPr/>
          <p:nvPr/>
        </p:nvSpPr>
        <p:spPr>
          <a:xfrm>
            <a:off x="387705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92608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Idea</a:t>
            </a:r>
          </a:p>
        </p:txBody>
      </p:sp>
      <p:sp>
        <p:nvSpPr>
          <p:cNvPr id="9" name="Oval 8"/>
          <p:cNvSpPr/>
          <p:nvPr/>
        </p:nvSpPr>
        <p:spPr>
          <a:xfrm>
            <a:off x="598017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Method</a:t>
            </a:r>
          </a:p>
        </p:txBody>
      </p:sp>
      <p:sp>
        <p:nvSpPr>
          <p:cNvPr id="11" name="Oval 10"/>
          <p:cNvSpPr/>
          <p:nvPr/>
        </p:nvSpPr>
        <p:spPr>
          <a:xfrm>
            <a:off x="808329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3232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Evidence</a:t>
            </a:r>
          </a:p>
        </p:txBody>
      </p:sp>
      <p:sp>
        <p:nvSpPr>
          <p:cNvPr id="13" name="Oval 12"/>
          <p:cNvSpPr/>
          <p:nvPr/>
        </p:nvSpPr>
        <p:spPr>
          <a:xfrm>
            <a:off x="1018641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23544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63D79"/>
                </a:solidFill>
                <a:latin typeface="Segoe UI"/>
              </a:rPr>
              <a:t>Takeaway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Conclusion &amp; future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783080"/>
            <a:ext cx="45720" cy="4434840"/>
          </a:xfrm>
          <a:prstGeom prst="rect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8439"/>
                </a:solidFill>
                <a:latin typeface="Segoe UI"/>
              </a:rPr>
              <a:t>DELIVERED</a:t>
            </a:r>
          </a:p>
        </p:txBody>
      </p:sp>
      <p:sp>
        <p:nvSpPr>
          <p:cNvPr id="7" name="Oval 6"/>
          <p:cNvSpPr/>
          <p:nvPr/>
        </p:nvSpPr>
        <p:spPr>
          <a:xfrm>
            <a:off x="923544" y="2331720"/>
            <a:ext cx="347472" cy="347472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368296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Dynamic recommendation engine</a:t>
            </a:r>
          </a:p>
        </p:txBody>
      </p:sp>
      <p:sp>
        <p:nvSpPr>
          <p:cNvPr id="9" name="Oval 8"/>
          <p:cNvSpPr/>
          <p:nvPr/>
        </p:nvSpPr>
        <p:spPr>
          <a:xfrm>
            <a:off x="923544" y="2898648"/>
            <a:ext cx="347472" cy="347472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935224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Unified mode policy (Qt + CLI)</a:t>
            </a:r>
          </a:p>
        </p:txBody>
      </p:sp>
      <p:sp>
        <p:nvSpPr>
          <p:cNvPr id="11" name="Oval 10"/>
          <p:cNvSpPr/>
          <p:nvPr/>
        </p:nvSpPr>
        <p:spPr>
          <a:xfrm>
            <a:off x="923544" y="3465576"/>
            <a:ext cx="347472" cy="347472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502152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Per-stage execution timing</a:t>
            </a:r>
          </a:p>
        </p:txBody>
      </p:sp>
      <p:sp>
        <p:nvSpPr>
          <p:cNvPr id="13" name="Oval 12"/>
          <p:cNvSpPr/>
          <p:nvPr/>
        </p:nvSpPr>
        <p:spPr>
          <a:xfrm>
            <a:off x="923544" y="4032504"/>
            <a:ext cx="347472" cy="347472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4069080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192 test regression coverage</a:t>
            </a:r>
          </a:p>
        </p:txBody>
      </p:sp>
      <p:sp>
        <p:nvSpPr>
          <p:cNvPr id="15" name="Oval 14"/>
          <p:cNvSpPr/>
          <p:nvPr/>
        </p:nvSpPr>
        <p:spPr>
          <a:xfrm>
            <a:off x="923544" y="4599432"/>
            <a:ext cx="347472" cy="347472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6360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Real-VM-tested reliability fixes</a:t>
            </a:r>
          </a:p>
        </p:txBody>
      </p:sp>
      <p:sp>
        <p:nvSpPr>
          <p:cNvPr id="17" name="Oval 16"/>
          <p:cNvSpPr/>
          <p:nvPr/>
        </p:nvSpPr>
        <p:spPr>
          <a:xfrm>
            <a:off x="923544" y="5166360"/>
            <a:ext cx="347472" cy="347472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5202936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Full undo/reset + packaging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26480" y="1783080"/>
            <a:ext cx="45720" cy="4023360"/>
          </a:xfrm>
          <a:prstGeom prst="rect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0" y="1737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97000"/>
                </a:solidFill>
                <a:latin typeface="Segoe UI"/>
              </a:rPr>
              <a:t>NEXT</a:t>
            </a:r>
          </a:p>
        </p:txBody>
      </p:sp>
      <p:sp>
        <p:nvSpPr>
          <p:cNvPr id="21" name="Oval 20"/>
          <p:cNvSpPr/>
          <p:nvPr/>
        </p:nvSpPr>
        <p:spPr>
          <a:xfrm>
            <a:off x="6409944" y="2331720"/>
            <a:ext cx="347472" cy="347472"/>
          </a:xfrm>
          <a:prstGeom prst="ellipse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3720" y="2331720"/>
            <a:ext cx="4480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Real precision/recall evaluation script</a:t>
            </a:r>
          </a:p>
        </p:txBody>
      </p:sp>
      <p:sp>
        <p:nvSpPr>
          <p:cNvPr id="23" name="Oval 22"/>
          <p:cNvSpPr/>
          <p:nvPr/>
        </p:nvSpPr>
        <p:spPr>
          <a:xfrm>
            <a:off x="6409944" y="2971800"/>
            <a:ext cx="347472" cy="347472"/>
          </a:xfrm>
          <a:prstGeom prst="ellipse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2971800"/>
            <a:ext cx="4480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Real E2E test, physical machines</a:t>
            </a:r>
          </a:p>
        </p:txBody>
      </p:sp>
      <p:sp>
        <p:nvSpPr>
          <p:cNvPr id="25" name="Oval 24"/>
          <p:cNvSpPr/>
          <p:nvPr/>
        </p:nvSpPr>
        <p:spPr>
          <a:xfrm>
            <a:off x="6409944" y="3611880"/>
            <a:ext cx="347472" cy="347472"/>
          </a:xfrm>
          <a:prstGeom prst="ellipse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03720" y="3611880"/>
            <a:ext cx="4480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Live USB write automation</a:t>
            </a:r>
          </a:p>
        </p:txBody>
      </p:sp>
      <p:sp>
        <p:nvSpPr>
          <p:cNvPr id="27" name="Oval 26"/>
          <p:cNvSpPr/>
          <p:nvPr/>
        </p:nvSpPr>
        <p:spPr>
          <a:xfrm>
            <a:off x="6409944" y="4251960"/>
            <a:ext cx="347472" cy="347472"/>
          </a:xfrm>
          <a:prstGeom prst="ellipse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20" y="4251960"/>
            <a:ext cx="4480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Resume/checkpoint for large restores</a:t>
            </a:r>
          </a:p>
        </p:txBody>
      </p:sp>
      <p:sp>
        <p:nvSpPr>
          <p:cNvPr id="29" name="Oval 28"/>
          <p:cNvSpPr/>
          <p:nvPr/>
        </p:nvSpPr>
        <p:spPr>
          <a:xfrm>
            <a:off x="923544" y="5733288"/>
            <a:ext cx="347472" cy="347472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5769864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Public docs site + GitHub release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Documentation &amp; downloads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3F3F3F"/>
                </a:solidFill>
                <a:latin typeface="Segoe UI"/>
              </a:rPr>
              <a:t>Everything in this talk is public — code, docs, and a downloadable build.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560320"/>
            <a:ext cx="10515600" cy="1371600"/>
          </a:xfrm>
          <a:prstGeom prst="roundRect">
            <a:avLst>
              <a:gd name="adj" fmla="val 8000"/>
            </a:avLst>
          </a:prstGeom>
          <a:solidFill>
            <a:srgbClr val="DCE6F0"/>
          </a:solidFill>
          <a:ln>
            <a:solidFill>
              <a:srgbClr val="DC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97280" y="2697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3D79"/>
                </a:solidFill>
                <a:latin typeface="Segoe UI"/>
              </a:rPr>
              <a:t>DOCUMENTATION SITE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01752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A1A1A"/>
                </a:solidFill>
                <a:latin typeface="Segoe UI"/>
              </a:rPr>
              <a:t>pencoder.github.io/full-auto-migration</a:t>
            </a:r>
          </a:p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A1A1A"/>
                </a:solidFill>
                <a:latin typeface="Segoe UI"/>
              </a:rPr>
              <a:t>User guide, project walkthrough, full automation exposé, Praktikum report, testing docs.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160520"/>
            <a:ext cx="10515600" cy="1371600"/>
          </a:xfrm>
          <a:prstGeom prst="roundRect">
            <a:avLst>
              <a:gd name="adj" fmla="val 8000"/>
            </a:avLst>
          </a:prstGeom>
          <a:solidFill>
            <a:srgbClr val="E2F1E8"/>
          </a:solidFill>
          <a:ln>
            <a:solidFill>
              <a:srgbClr val="E2F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97280" y="4297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8439"/>
                </a:solidFill>
                <a:latin typeface="Segoe UI"/>
              </a:rPr>
              <a:t>DOWNLOAD &amp; SOURCE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61772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A1A1A"/>
                </a:solidFill>
                <a:latin typeface="Segoe UI"/>
              </a:rPr>
              <a:t>github.com/PenCoder/full-auto-migration</a:t>
            </a:r>
          </a:p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A1A1A"/>
                </a:solidFill>
                <a:latin typeface="Segoe UI"/>
              </a:rPr>
              <a:t>v1.0.0 release with migrate.exe attached — clone, build, or download and run today.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References — sovereignty framing cited from the term paper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1A1A1A"/>
                </a:solidFill>
                <a:latin typeface="Segoe UI"/>
              </a:rPr>
              <a:t>•  Floridi, L. (2020). The fight for digital sovereignty. Philosophy &amp; Technology, 33(3), 369–378.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1A1A1A"/>
                </a:solidFill>
                <a:latin typeface="Segoe UI"/>
              </a:rPr>
              <a:t>•  Pohle, J., &amp; Thiel, T. (2020). Digital sovereignty. Internet Policy Review, 9(4).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0896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1A1A1A"/>
                </a:solidFill>
                <a:latin typeface="Segoe UI"/>
              </a:rPr>
              <a:t>•  Roberts, H., et al. (2021). Safeguarding European values with digital sovereignty. Internet Policy Review, 10(3).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1A1A1A"/>
                </a:solidFill>
                <a:latin typeface="Segoe UI"/>
              </a:rPr>
              <a:t>•  Wehnes, H. (2024). Preventing digital colony and lock-in. INFORMATIK 2024, Gesellschaft für Informatik.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2976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1A1A1A"/>
                </a:solidFill>
                <a:latin typeface="Segoe UI"/>
              </a:rPr>
              <a:t>•  Wire (2025); StatCounter Global Stats (2025). Digital sovereignty survey &amp; OS market share, Europe.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074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3F3F3F"/>
                </a:solidFill>
                <a:latin typeface="Segoe UI"/>
              </a:rPr>
              <a:t>Full bibliography: Arthur, J. — Digital Sovereignty Through Semi-Automated OS Migration (term paper).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sz="quarter" idx="1"/>
          </p:nvPr>
        </p:nvSpPr>
        <p:spPr/>
        <p:txBody>
          <a:bodyPr/>
          <a:lstStyle/>
          <a:p>
            <a:r>
              <a:t>Questions &amp; live demo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3_powerpoint_2016_wide">
  <a:themeElements>
    <a:clrScheme name="LS3 Scheme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63D79"/>
      </a:accent1>
      <a:accent2>
        <a:srgbClr val="B92700"/>
      </a:accent2>
      <a:accent3>
        <a:srgbClr val="008439"/>
      </a:accent3>
      <a:accent4>
        <a:srgbClr val="B97000"/>
      </a:accent4>
      <a:accent5>
        <a:srgbClr val="D8DADC"/>
      </a:accent5>
      <a:accent6>
        <a:srgbClr val="3F3F3F"/>
      </a:accent6>
      <a:hlink>
        <a:srgbClr val="063D79"/>
      </a:hlink>
      <a:folHlink>
        <a:srgbClr val="D8DADC"/>
      </a:folHlink>
    </a:clrScheme>
    <a:fontScheme name="Vorlag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</a:spPr>
      <a:bodyPr vert="horz" wrap="square" lIns="91440" tIns="45720" rIns="91440" bIns="4572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1600" b="1" i="0" u="none" strike="noStrike" cap="none" normalizeH="0" baseline="0" dirty="0" smtClean="0">
            <a:ln>
              <a:noFill/>
            </a:ln>
            <a:solidFill>
              <a:schemeClr val="tx1"/>
            </a:solidFill>
            <a:effectLst/>
            <a:latin typeface="+mn-lt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4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 Rounded MT Bold" pitchFamily="34" charset="0"/>
          </a:defRPr>
        </a:defPPr>
      </a:lstStyle>
    </a:lnDef>
    <a:txDef>
      <a:spPr>
        <a:noFill/>
      </a:spPr>
      <a:bodyPr wrap="square" rtlCol="0">
        <a:spAutoFit/>
      </a:bodyPr>
      <a:lstStyle>
        <a:defPPr>
          <a:defRPr sz="1600" b="0" dirty="0" err="1" smtClean="0">
            <a:latin typeface="+mn-lt"/>
          </a:defRPr>
        </a:defPPr>
      </a:lstStyle>
    </a:txDef>
  </a:objectDefaults>
  <a:extraClrSchemeLst>
    <a:extraClrScheme>
      <a:clrScheme name="Vorlage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orlag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orlage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orlage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orlage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orlage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orlage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Präsentation1" id="{2FFA4946-9F4B-4605-8084-75765F482D84}" vid="{CE7CD113-EA7C-43EC-B83E-E9DFC241FB65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247</TotalTime>
  <Words>1538</Words>
  <Application>Microsoft Office PowerPoint</Application>
  <PresentationFormat>Widescreen</PresentationFormat>
  <Paragraphs>321</Paragraphs>
  <Slides>27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4" baseType="lpstr">
      <vt:lpstr>Arial</vt:lpstr>
      <vt:lpstr>Arial Rounded MT Bold</vt:lpstr>
      <vt:lpstr>Segoe UI</vt:lpstr>
      <vt:lpstr>Times New Roman</vt:lpstr>
      <vt:lpstr>Wingdings</vt:lpstr>
      <vt:lpstr>Wingdings 3</vt:lpstr>
      <vt:lpstr>i3_powerpoint_2016_wide</vt:lpstr>
      <vt:lpstr>Fully Automated Migration Framework from Windows 11 to Linux Mint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</vt:lpstr>
    </vt:vector>
  </TitlesOfParts>
  <Company>Universitaet Wuerzburg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christopher.metter</dc:creator>
  <cp:lastModifiedBy>Japhet Appau Arthur</cp:lastModifiedBy>
  <cp:revision>306</cp:revision>
  <dcterms:created xsi:type="dcterms:W3CDTF">2016-06-17T10:34:47Z</dcterms:created>
  <dcterms:modified xsi:type="dcterms:W3CDTF">2026-06-23T05:32:44Z</dcterms:modified>
</cp:coreProperties>
</file>