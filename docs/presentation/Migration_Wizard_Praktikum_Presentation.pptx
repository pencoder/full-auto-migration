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2" r:id="rId21"/>
    <p:sldId id="275" r:id="rId22"/>
    <p:sldId id="283" r:id="rId23"/>
    <p:sldId id="278" r:id="rId24"/>
    <p:sldId id="279" r:id="rId25"/>
    <p:sldId id="284" r:id="rId26"/>
    <p:sldId id="280" r:id="rId27"/>
    <p:sldId id="281" r:id="rId28"/>
  </p:sldIdLst>
  <p:sldSz cx="12192000" cy="6858000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 Rounded MT Bold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A7F7"/>
    <a:srgbClr val="C5DAF3"/>
    <a:srgbClr val="FFFFFF"/>
    <a:srgbClr val="1F5394"/>
    <a:srgbClr val="FFCBBE"/>
    <a:srgbClr val="B6E1D6"/>
    <a:srgbClr val="6DC4AD"/>
    <a:srgbClr val="FF987D"/>
    <a:srgbClr val="306AAB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3593" autoAdjust="0"/>
  </p:normalViewPr>
  <p:slideViewPr>
    <p:cSldViewPr>
      <p:cViewPr varScale="1">
        <p:scale>
          <a:sx n="76" d="100"/>
          <a:sy n="76" d="100"/>
        </p:scale>
        <p:origin x="134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370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/>
              <a:t>The preference-behaviour gap (Wire/StatCounter 2025)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063D79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A1A1A"/>
                    </a:solidFill>
                  </a:defRPr>
                </a:pPr>
                <a:endParaRPr lang="en-G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Rate open-source
critical</c:v>
                </c:pt>
                <c:pt idx="1">
                  <c:v>Cite reducing
US-vendor dep.</c:v>
                </c:pt>
                <c:pt idx="2">
                  <c:v>Still run
Windows (EU)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63.2</c:v>
                </c:pt>
                <c:pt idx="1">
                  <c:v>47.4</c:v>
                </c:pt>
                <c:pt idx="2">
                  <c:v>67.75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CD8-4974-B678-59EC95B36EF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8DADC"/>
            </a:solidFill>
          </a:ln>
        </c:spPr>
        <c:txPr>
          <a:bodyPr/>
          <a:lstStyle/>
          <a:p>
            <a:pPr>
              <a:defRPr sz="1300">
                <a:solidFill>
                  <a:srgbClr val="1A1A1A"/>
                </a:solidFill>
              </a:defRPr>
            </a:pPr>
            <a:endParaRPr lang="en-GH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/>
              <a:t>This codebase's network calls — counted, not claimed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Outbound calls</c:v>
                </c:pt>
              </c:strCache>
            </c:strRef>
          </c:tx>
          <c:spPr>
            <a:solidFill>
              <a:srgbClr val="008439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A1A1A"/>
                    </a:solidFill>
                  </a:defRPr>
                </a:pPr>
                <a:endParaRPr lang="en-G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Repology
(opt-in)</c:v>
                </c:pt>
                <c:pt idx="1">
                  <c:v>Telemetry</c:v>
                </c:pt>
                <c:pt idx="2">
                  <c:v>Ads/
tracking</c:v>
                </c:pt>
                <c:pt idx="3">
                  <c:v>Remote
analytics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3BA-4D68-A66B-6498899D612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8DADC"/>
            </a:solidFill>
          </a:ln>
        </c:spPr>
        <c:txPr>
          <a:bodyPr/>
          <a:lstStyle/>
          <a:p>
            <a:pPr>
              <a:defRPr sz="1300">
                <a:solidFill>
                  <a:srgbClr val="1A1A1A"/>
                </a:solidFill>
              </a:defRPr>
            </a:pPr>
            <a:endParaRPr lang="en-GH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functions</c:v>
                </c:pt>
              </c:strCache>
            </c:strRef>
          </c:tx>
          <c:spPr>
            <a:solidFill>
              <a:srgbClr val="063D79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A1A1A"/>
                    </a:solidFill>
                  </a:defRPr>
                </a:pPr>
                <a:endParaRPr lang="en-G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Unit</c:v>
                </c:pt>
                <c:pt idx="1">
                  <c:v>Integ.</c:v>
                </c:pt>
                <c:pt idx="2">
                  <c:v>Perf.</c:v>
                </c:pt>
                <c:pt idx="3">
                  <c:v>E2E</c:v>
                </c:pt>
                <c:pt idx="4">
                  <c:v>UI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68</c:v>
                </c:pt>
                <c:pt idx="2">
                  <c:v>18</c:v>
                </c:pt>
                <c:pt idx="3">
                  <c:v>15</c:v>
                </c:pt>
                <c:pt idx="4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1D3-4B7C-8883-2AF9F4DBB91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8DADC"/>
            </a:solidFill>
          </a:ln>
        </c:spPr>
        <c:txPr>
          <a:bodyPr/>
          <a:lstStyle/>
          <a:p>
            <a:pPr>
              <a:defRPr sz="1300">
                <a:solidFill>
                  <a:srgbClr val="1A1A1A"/>
                </a:solidFill>
              </a:defRPr>
            </a:pPr>
            <a:endParaRPr lang="en-GH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/>
              <a:t>App mapping table growth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 mappings</c:v>
                </c:pt>
              </c:strCache>
            </c:strRef>
          </c:tx>
          <c:spPr>
            <a:solidFill>
              <a:srgbClr val="008439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A1A1A"/>
                    </a:solidFill>
                  </a:defRPr>
                </a:pPr>
                <a:endParaRPr lang="en-G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Now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149</c:v>
                </c:pt>
                <c:pt idx="1">
                  <c:v>238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30-492A-AE73-A0CA52B56C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8DADC"/>
            </a:solidFill>
          </a:ln>
        </c:spPr>
        <c:txPr>
          <a:bodyPr/>
          <a:lstStyle/>
          <a:p>
            <a:pPr>
              <a:defRPr sz="1300">
                <a:solidFill>
                  <a:srgbClr val="1A1A1A"/>
                </a:solidFill>
              </a:defRPr>
            </a:pPr>
            <a:endParaRPr lang="en-GH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13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fld id="{66D17C0D-3159-464E-A332-7C83698A29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4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15113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Klicken Sie, um die Formate des Vorlagentextes zu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 b="0">
                <a:latin typeface="Times New Roman" pitchFamily="18" charset="0"/>
              </a:defRPr>
            </a:lvl1pPr>
          </a:lstStyle>
          <a:p>
            <a:fld id="{412C2970-D838-4E16-9F7E-5362C8D6E63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214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dirty="0">
                <a:solidFill>
                  <a:srgbClr val="3F3F3F"/>
                </a:solidFill>
                <a:latin typeface="Segoe UI"/>
              </a:rPr>
              <a:t>Verified by identity, not output: </a:t>
            </a:r>
            <a:r>
              <a:rPr lang="en-US" sz="1200" b="0" i="1" dirty="0" err="1">
                <a:solidFill>
                  <a:srgbClr val="3F3F3F"/>
                </a:solidFill>
                <a:latin typeface="Segoe UI"/>
              </a:rPr>
              <a:t>Qt.resolve_app_recommendation_strategy</a:t>
            </a:r>
            <a:r>
              <a:rPr lang="en-US" sz="1200" b="0" i="1" dirty="0">
                <a:solidFill>
                  <a:srgbClr val="3F3F3F"/>
                </a:solidFill>
                <a:latin typeface="Segoe UI"/>
              </a:rPr>
              <a:t> is </a:t>
            </a:r>
            <a:r>
              <a:rPr lang="en-US" sz="1200" b="0" i="1" dirty="0" err="1">
                <a:solidFill>
                  <a:srgbClr val="3F3F3F"/>
                </a:solidFill>
                <a:latin typeface="Segoe UI"/>
              </a:rPr>
              <a:t>CLI.resolve_app_recommendation_strategy</a:t>
            </a:r>
            <a:r>
              <a:rPr lang="en-US" sz="1200" b="0" i="1" dirty="0">
                <a:solidFill>
                  <a:srgbClr val="3F3F3F"/>
                </a:solidFill>
                <a:latin typeface="Segoe UI"/>
              </a:rPr>
              <a:t> — both call paths hold the same function object, so a policy change can't silently apply to only one interface.</a:t>
            </a:r>
          </a:p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C2970-D838-4E16-9F7E-5362C8D6E63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0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rgbClr val="1A1A1A"/>
                </a:solidFill>
                <a:latin typeface="Segoe UI"/>
              </a:rPr>
              <a:t>New capabilities with no proof-of-concept equivalent: settings/wallpaper migration, desktop shortcuts, full reset/undo, completeness scoring.</a:t>
            </a:r>
          </a:p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C2970-D838-4E16-9F7E-5362C8D6E63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64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dirty="0">
                <a:solidFill>
                  <a:srgbClr val="3F3F3F"/>
                </a:solidFill>
                <a:latin typeface="Segoe UI"/>
              </a:rPr>
              <a:t>→ migration_bundle.zip (manifest + SHA-256, apps, settings, optional Linux binary)</a:t>
            </a:r>
          </a:p>
          <a:p>
            <a:endParaRPr lang="en-US" dirty="0"/>
          </a:p>
          <a:p>
            <a:pPr algn="l">
              <a:lnSpc>
                <a:spcPct val="115000"/>
              </a:lnSpc>
            </a:pPr>
            <a:r>
              <a:rPr lang="en-US" sz="1200" b="0" i="0" dirty="0">
                <a:solidFill>
                  <a:srgbClr val="3F3F3F"/>
                </a:solidFill>
                <a:latin typeface="Segoe UI"/>
              </a:rPr>
              <a:t>Restore, verify (SHA-256), and report</a:t>
            </a:r>
          </a:p>
          <a:p>
            <a:pPr algn="l">
              <a:lnSpc>
                <a:spcPct val="115000"/>
              </a:lnSpc>
            </a:pPr>
            <a:r>
              <a:rPr lang="en-US" sz="1200" b="0" i="0" dirty="0">
                <a:solidFill>
                  <a:srgbClr val="3F3F3F"/>
                </a:solidFill>
                <a:latin typeface="Segoe UI"/>
              </a:rPr>
              <a:t>all happen within that one click.</a:t>
            </a:r>
          </a:p>
          <a:p>
            <a:endParaRPr 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rgbClr val="3F3F3F"/>
                </a:solidFill>
                <a:latin typeface="Segoe UI"/>
              </a:rPr>
              <a:t>Failed step? Restart or Review &amp; Complete Anyway. Reset undoes files, shortcuts, the wallpaper file, and (opt-in) apps.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C2970-D838-4E16-9F7E-5362C8D6E63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64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wmf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9.jpeg"/><Relationship Id="rId9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488951" y="1960563"/>
            <a:ext cx="11214100" cy="1828800"/>
          </a:xfrm>
        </p:spPr>
        <p:txBody>
          <a:bodyPr/>
          <a:lstStyle>
            <a:lvl1pPr algn="ctr">
              <a:defRPr sz="4000"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  <a:endParaRPr lang="en-GB" dirty="0"/>
          </a:p>
        </p:txBody>
      </p:sp>
      <p:sp>
        <p:nvSpPr>
          <p:cNvPr id="181253" name="Rectangle 5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1828800" y="4149725"/>
            <a:ext cx="8534400" cy="406400"/>
          </a:xfrm>
        </p:spPr>
        <p:txBody>
          <a:bodyPr lIns="91440" tIns="45720" rIns="91440" bIns="45720"/>
          <a:lstStyle>
            <a:lvl1pPr marL="0" indent="0" algn="ctr">
              <a:buFont typeface="Wingdings 3" pitchFamily="18" charset="2"/>
              <a:buNone/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author name</a:t>
            </a:r>
            <a:endParaRPr lang="de-DE" dirty="0"/>
          </a:p>
        </p:txBody>
      </p:sp>
      <p:sp>
        <p:nvSpPr>
          <p:cNvPr id="181255" name="Text Box 7"/>
          <p:cNvSpPr txBox="1">
            <a:spLocks noChangeArrowheads="1"/>
          </p:cNvSpPr>
          <p:nvPr/>
        </p:nvSpPr>
        <p:spPr bwMode="auto">
          <a:xfrm>
            <a:off x="1775885" y="4616301"/>
            <a:ext cx="8640233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de-DE" sz="2000" i="1" dirty="0">
                <a:solidFill>
                  <a:srgbClr val="777777"/>
                </a:solidFill>
                <a:latin typeface="Arial" charset="0"/>
              </a:rPr>
              <a:t>comnet.informatik.uni-wuerzburg.de</a:t>
            </a:r>
          </a:p>
        </p:txBody>
      </p:sp>
      <p:grpSp>
        <p:nvGrpSpPr>
          <p:cNvPr id="5" name="Gruppieren 4"/>
          <p:cNvGrpSpPr/>
          <p:nvPr userDrawn="1"/>
        </p:nvGrpSpPr>
        <p:grpSpPr>
          <a:xfrm>
            <a:off x="0" y="431800"/>
            <a:ext cx="12191999" cy="898525"/>
            <a:chOff x="0" y="431800"/>
            <a:chExt cx="12191999" cy="898525"/>
          </a:xfrm>
        </p:grpSpPr>
        <p:sp>
          <p:nvSpPr>
            <p:cNvPr id="2" name="Rechteck 1"/>
            <p:cNvSpPr/>
            <p:nvPr userDrawn="1"/>
          </p:nvSpPr>
          <p:spPr bwMode="auto">
            <a:xfrm>
              <a:off x="9768408" y="431800"/>
              <a:ext cx="2423591" cy="898525"/>
            </a:xfrm>
            <a:prstGeom prst="rect">
              <a:avLst/>
            </a:prstGeom>
            <a:solidFill>
              <a:srgbClr val="D0D0D0"/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Rounded MT Bold" pitchFamily="34" charset="0"/>
              </a:endParaRPr>
            </a:p>
          </p:txBody>
        </p:sp>
        <p:pic>
          <p:nvPicPr>
            <p:cNvPr id="39" name="Picture 9" descr="unilogo4c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 r="20525"/>
            <a:stretch>
              <a:fillRect/>
            </a:stretch>
          </p:blipFill>
          <p:spPr bwMode="auto">
            <a:xfrm>
              <a:off x="624408" y="431800"/>
              <a:ext cx="9144000" cy="898525"/>
            </a:xfrm>
            <a:prstGeom prst="rect">
              <a:avLst/>
            </a:prstGeom>
            <a:noFill/>
          </p:spPr>
        </p:pic>
        <p:sp>
          <p:nvSpPr>
            <p:cNvPr id="181258" name="Rectangle 10"/>
            <p:cNvSpPr>
              <a:spLocks noChangeArrowheads="1"/>
            </p:cNvSpPr>
            <p:nvPr/>
          </p:nvSpPr>
          <p:spPr bwMode="auto">
            <a:xfrm>
              <a:off x="4968552" y="500063"/>
              <a:ext cx="6096000" cy="73866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sz="1400" b="0" dirty="0" err="1">
                  <a:latin typeface="Arial" charset="0"/>
                </a:rPr>
                <a:t>Institut</a:t>
              </a:r>
              <a:r>
                <a:rPr lang="en-US" sz="1400" b="0" dirty="0">
                  <a:latin typeface="Arial" charset="0"/>
                </a:rPr>
                <a:t> f</a:t>
              </a:r>
              <a:r>
                <a:rPr lang="de-DE" sz="1400" b="0" dirty="0" err="1">
                  <a:latin typeface="Arial" charset="0"/>
                </a:rPr>
                <a:t>ür</a:t>
              </a:r>
              <a:r>
                <a:rPr lang="de-DE" sz="1400" b="0" dirty="0">
                  <a:latin typeface="Arial" charset="0"/>
                </a:rPr>
                <a:t> Informatik</a:t>
              </a:r>
              <a:endParaRPr lang="en-US" sz="1400" b="0" dirty="0">
                <a:latin typeface="Arial" charset="0"/>
              </a:endParaRPr>
            </a:p>
            <a:p>
              <a:pPr algn="r"/>
              <a:r>
                <a:rPr lang="en-US" sz="1400" b="0" dirty="0" err="1">
                  <a:latin typeface="Arial" charset="0"/>
                </a:rPr>
                <a:t>Lehrstuhl</a:t>
              </a:r>
              <a:r>
                <a:rPr lang="en-US" sz="1400" b="0" dirty="0">
                  <a:latin typeface="Arial" charset="0"/>
                </a:rPr>
                <a:t> </a:t>
              </a:r>
              <a:r>
                <a:rPr lang="en-US" sz="1400" b="0" dirty="0" err="1">
                  <a:latin typeface="Arial" charset="0"/>
                </a:rPr>
                <a:t>für</a:t>
              </a:r>
              <a:r>
                <a:rPr lang="en-US" sz="1400" b="0" dirty="0">
                  <a:latin typeface="Arial" charset="0"/>
                </a:rPr>
                <a:t> </a:t>
              </a:r>
              <a:r>
                <a:rPr lang="en-US" sz="1400" b="0" dirty="0" err="1">
                  <a:latin typeface="Arial" charset="0"/>
                </a:rPr>
                <a:t>Kommunikationsnetze</a:t>
              </a:r>
              <a:endParaRPr lang="en-US" sz="1400" b="0" dirty="0">
                <a:latin typeface="Arial" charset="0"/>
              </a:endParaRPr>
            </a:p>
            <a:p>
              <a:pPr algn="r"/>
              <a:r>
                <a:rPr lang="en-US" sz="1400" b="0" dirty="0">
                  <a:latin typeface="Arial" charset="0"/>
                </a:rPr>
                <a:t>Prof. Dr.</a:t>
              </a:r>
              <a:r>
                <a:rPr lang="en-US" sz="1400" b="0" baseline="0" dirty="0">
                  <a:latin typeface="Arial" charset="0"/>
                </a:rPr>
                <a:t> T</a:t>
              </a:r>
              <a:r>
                <a:rPr lang="en-US" sz="1400" b="0" dirty="0">
                  <a:latin typeface="Arial" charset="0"/>
                </a:rPr>
                <a:t>. </a:t>
              </a:r>
              <a:r>
                <a:rPr lang="en-US" sz="1400" b="0" dirty="0" err="1">
                  <a:latin typeface="Arial" charset="0"/>
                </a:rPr>
                <a:t>Hoßfeld</a:t>
              </a:r>
              <a:endParaRPr lang="en-US" sz="1400" b="0" dirty="0">
                <a:latin typeface="Arial" charset="0"/>
              </a:endParaRPr>
            </a:p>
          </p:txBody>
        </p:sp>
        <p:pic>
          <p:nvPicPr>
            <p:cNvPr id="23" name="Picture 11"/>
            <p:cNvPicPr>
              <a:picLocks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70219" y="509826"/>
              <a:ext cx="700088" cy="719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63500" dir="3187806" algn="ctr" rotWithShape="0">
                <a:schemeClr val="bg2">
                  <a:alpha val="50000"/>
                </a:schemeClr>
              </a:outerShdw>
            </a:effectLst>
          </p:spPr>
        </p:pic>
        <p:sp>
          <p:nvSpPr>
            <p:cNvPr id="40" name="Rechteck 39"/>
            <p:cNvSpPr/>
            <p:nvPr userDrawn="1"/>
          </p:nvSpPr>
          <p:spPr bwMode="auto">
            <a:xfrm>
              <a:off x="0" y="431800"/>
              <a:ext cx="2855640" cy="898525"/>
            </a:xfrm>
            <a:prstGeom prst="rect">
              <a:avLst/>
            </a:prstGeom>
            <a:solidFill>
              <a:srgbClr val="D0D0D0"/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Rounded MT Bold" pitchFamily="34" charset="0"/>
              </a:endParaRPr>
            </a:p>
          </p:txBody>
        </p:sp>
        <p:pic>
          <p:nvPicPr>
            <p:cNvPr id="41" name="Picture 13" descr="unilogo4cohne_small.jpg"/>
            <p:cNvPicPr>
              <a:picLocks noChangeAspect="1"/>
            </p:cNvPicPr>
            <p:nvPr userDrawn="1"/>
          </p:nvPicPr>
          <p:blipFill rotWithShape="1">
            <a:blip r:embed="rId4" cstate="print">
              <a:clrChange>
                <a:clrFrom>
                  <a:srgbClr val="FFFEFD"/>
                </a:clrFrom>
                <a:clrTo>
                  <a:srgbClr val="FFFEFD">
                    <a:alpha val="0"/>
                  </a:srgbClr>
                </a:clrTo>
              </a:clrChange>
            </a:blip>
            <a:srcRect l="44640"/>
            <a:stretch/>
          </p:blipFill>
          <p:spPr>
            <a:xfrm>
              <a:off x="911424" y="431800"/>
              <a:ext cx="1130294" cy="898525"/>
            </a:xfrm>
            <a:prstGeom prst="rect">
              <a:avLst/>
            </a:prstGeom>
          </p:spPr>
        </p:pic>
        <p:pic>
          <p:nvPicPr>
            <p:cNvPr id="42" name="Picture 13" descr="unilogo4cohne_small.jpg"/>
            <p:cNvPicPr>
              <a:picLocks noChangeAspect="1"/>
            </p:cNvPicPr>
            <p:nvPr userDrawn="1"/>
          </p:nvPicPr>
          <p:blipFill rotWithShape="1">
            <a:blip r:embed="rId4" cstate="print"/>
            <a:srcRect r="55678"/>
            <a:stretch/>
          </p:blipFill>
          <p:spPr>
            <a:xfrm>
              <a:off x="0" y="431800"/>
              <a:ext cx="904920" cy="898524"/>
            </a:xfrm>
            <a:prstGeom prst="rect">
              <a:avLst/>
            </a:prstGeom>
          </p:spPr>
        </p:pic>
      </p:grp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6921631"/>
            <a:ext cx="2371832" cy="313200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445454" y="6921631"/>
            <a:ext cx="2371832" cy="31320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890910" y="6921631"/>
            <a:ext cx="2371821" cy="313200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363896" y="6921631"/>
            <a:ext cx="2371832" cy="313200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844392" y="6921631"/>
            <a:ext cx="2347606" cy="31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63D79"/>
              </a:buClr>
              <a:defRPr/>
            </a:lvl1pPr>
            <a:lvl2pPr>
              <a:buClr>
                <a:srgbClr val="063D79"/>
              </a:buClr>
              <a:defRPr/>
            </a:lvl2pPr>
            <a:lvl3pPr>
              <a:buClr>
                <a:srgbClr val="063D79"/>
              </a:buClr>
              <a:defRPr/>
            </a:lvl3pPr>
            <a:lvl4pPr>
              <a:buClr>
                <a:srgbClr val="063D79"/>
              </a:buClr>
              <a:defRPr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170847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4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Textfeld 3"/>
          <p:cNvSpPr txBox="1"/>
          <p:nvPr userDrawn="1"/>
        </p:nvSpPr>
        <p:spPr>
          <a:xfrm>
            <a:off x="2639616" y="1052736"/>
            <a:ext cx="2664296" cy="1008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1600" b="0" dirty="0" err="1">
              <a:latin typeface="+mn-lt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96E6EF-3D8E-4957-A439-5D2280CE1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914400"/>
            <a:ext cx="5232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914400"/>
            <a:ext cx="5232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B828CE34-CC67-4E17-A5B3-FF421A963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DE93AAB1-B7D0-42C5-8489-BBD1FAE5F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A1004EE9-71F7-49C3-AEC6-27984ECF0994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arbsch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Farbschema</a:t>
            </a:r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43920" y="1196752"/>
            <a:ext cx="8208912" cy="4879878"/>
          </a:xfrm>
          <a:prstGeom prst="rect">
            <a:avLst/>
          </a:prstGeom>
        </p:spPr>
      </p:pic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A7FE386-66AB-4DE5-8F99-809013B25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93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DD5045F2-FFB1-4BE6-A82D-044410B8000A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AFEFF89-82C5-4C87-9183-1A0960BC685D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2FEC48EB-43B2-4181-B567-7B6D76C21DEE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00FEDB-E43B-402C-9059-9FCEEF9AAB25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2200" y="30164"/>
            <a:ext cx="2667000" cy="5989637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0" y="30164"/>
            <a:ext cx="7797800" cy="5989637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98839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ED38E1-331D-45BD-909D-93E0D8906D71}"/>
              </a:ext>
            </a:extLst>
          </p:cNvPr>
          <p:cNvSpPr txBox="1">
            <a:spLocks/>
          </p:cNvSpPr>
          <p:nvPr userDrawn="1"/>
        </p:nvSpPr>
        <p:spPr>
          <a:xfrm>
            <a:off x="8904312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 Rounded MT Bold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w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9668" y="30163"/>
            <a:ext cx="1065741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Klicken</a:t>
            </a:r>
            <a:r>
              <a:rPr lang="en-GB" dirty="0"/>
              <a:t> um das </a:t>
            </a:r>
            <a:r>
              <a:rPr lang="en-GB" dirty="0" err="1"/>
              <a:t>Titelformat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914400"/>
            <a:ext cx="10668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, um die </a:t>
            </a:r>
            <a:r>
              <a:rPr lang="en-GB" dirty="0" err="1"/>
              <a:t>Formate</a:t>
            </a:r>
            <a:r>
              <a:rPr lang="en-GB" dirty="0"/>
              <a:t> des </a:t>
            </a:r>
            <a:r>
              <a:rPr lang="en-GB" dirty="0" err="1"/>
              <a:t>Vorlagentextes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921631"/>
            <a:ext cx="2371832" cy="313200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445454" y="6921631"/>
            <a:ext cx="2371832" cy="313200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4890910" y="6921631"/>
            <a:ext cx="2371821" cy="313200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363896" y="6921631"/>
            <a:ext cx="2371832" cy="31320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844392" y="6921631"/>
            <a:ext cx="2347606" cy="313200"/>
          </a:xfrm>
          <a:prstGeom prst="rect">
            <a:avLst/>
          </a:prstGeom>
        </p:spPr>
      </p:pic>
      <p:pic>
        <p:nvPicPr>
          <p:cNvPr id="17" name="Picture 18"/>
          <p:cNvPicPr>
            <a:picLocks noChangeArrowheads="1"/>
          </p:cNvPicPr>
          <p:nvPr userDrawn="1"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11797333" y="6497655"/>
            <a:ext cx="275331" cy="27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63500" dir="3187806" algn="ctr" rotWithShape="0">
              <a:srgbClr val="C0C0C0">
                <a:alpha val="50000"/>
              </a:srgbClr>
            </a:outerShdw>
          </a:effectLst>
        </p:spPr>
      </p:pic>
      <p:sp>
        <p:nvSpPr>
          <p:cNvPr id="18" name="Rectangle 25"/>
          <p:cNvSpPr>
            <a:spLocks noChangeArrowheads="1"/>
          </p:cNvSpPr>
          <p:nvPr userDrawn="1"/>
        </p:nvSpPr>
        <p:spPr bwMode="auto">
          <a:xfrm>
            <a:off x="9494300" y="6523182"/>
            <a:ext cx="1676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0" i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cs typeface="Segoe UI" pitchFamily="34" charset="0"/>
              </a:rPr>
              <a:t>Japhet Kofi Appau Arthur</a:t>
            </a:r>
          </a:p>
        </p:txBody>
      </p:sp>
      <p:pic>
        <p:nvPicPr>
          <p:cNvPr id="19" name="Grafik 18"/>
          <p:cNvPicPr>
            <a:picLocks noChangeAspect="1"/>
          </p:cNvPicPr>
          <p:nvPr userDrawn="1"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822"/>
          <a:stretch/>
        </p:blipFill>
        <p:spPr>
          <a:xfrm>
            <a:off x="0" y="6468810"/>
            <a:ext cx="391865" cy="389190"/>
          </a:xfrm>
          <a:prstGeom prst="rect">
            <a:avLst/>
          </a:prstGeom>
        </p:spPr>
      </p:pic>
      <p:sp>
        <p:nvSpPr>
          <p:cNvPr id="2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204987" y="6525068"/>
            <a:ext cx="541777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E3075A1-C8E0-4AC9-B60D-1132CF388043}" type="slidenum">
              <a:rPr 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63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63D79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SzPct val="80000"/>
        <a:buFont typeface="Wingdings 3" pitchFamily="18" charset="2"/>
        <a:buChar char="u"/>
        <a:defRPr sz="20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SzPct val="100000"/>
        <a:buFont typeface="Wingdings" pitchFamily="2" charset="2"/>
        <a:buChar char="§"/>
        <a:defRPr sz="1800">
          <a:solidFill>
            <a:srgbClr val="4D4D4D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Char char="–"/>
        <a:defRPr sz="1600">
          <a:solidFill>
            <a:srgbClr val="4D4D4D"/>
          </a:solidFill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Char char="•"/>
        <a:defRPr sz="1600">
          <a:solidFill>
            <a:srgbClr val="4D4D4D"/>
          </a:solidFill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lr>
          <a:srgbClr val="063D79"/>
        </a:buClr>
        <a:buChar char=" "/>
        <a:defRPr sz="1600">
          <a:solidFill>
            <a:srgbClr val="4D4D4D"/>
          </a:solidFill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har char=" "/>
        <a:defRPr sz="2000">
          <a:solidFill>
            <a:srgbClr val="4D4D4D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GH" dirty="0"/>
              <a:t>Fully Automated Migration Framework from Windows 11 to Linux Mint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dirty="0"/>
              <a:t>Japhet Kofi Appau Arthur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834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63D79"/>
                </a:solidFill>
                <a:latin typeface="Segoe UI"/>
              </a:rP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188720" cy="508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7393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3D79"/>
                </a:solidFill>
                <a:latin typeface="Segoe UI"/>
              </a:rPr>
              <a:t>Motivation</a:t>
            </a:r>
          </a:p>
        </p:txBody>
      </p:sp>
      <p:sp>
        <p:nvSpPr>
          <p:cNvPr id="7" name="Oval 6"/>
          <p:cNvSpPr/>
          <p:nvPr/>
        </p:nvSpPr>
        <p:spPr>
          <a:xfrm>
            <a:off x="387705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Idea</a:t>
            </a:r>
          </a:p>
        </p:txBody>
      </p:sp>
      <p:sp>
        <p:nvSpPr>
          <p:cNvPr id="9" name="Oval 8"/>
          <p:cNvSpPr/>
          <p:nvPr/>
        </p:nvSpPr>
        <p:spPr>
          <a:xfrm>
            <a:off x="59801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Method</a:t>
            </a:r>
          </a:p>
        </p:txBody>
      </p:sp>
      <p:sp>
        <p:nvSpPr>
          <p:cNvPr id="11" name="Oval 10"/>
          <p:cNvSpPr/>
          <p:nvPr/>
        </p:nvSpPr>
        <p:spPr>
          <a:xfrm>
            <a:off x="808329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Evidence</a:t>
            </a:r>
          </a:p>
        </p:txBody>
      </p:sp>
      <p:sp>
        <p:nvSpPr>
          <p:cNvPr id="13" name="Oval 12"/>
          <p:cNvSpPr/>
          <p:nvPr/>
        </p:nvSpPr>
        <p:spPr>
          <a:xfrm>
            <a:off x="1018641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Takeaway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176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1" dirty="0">
                <a:solidFill>
                  <a:srgbClr val="3F3F3F"/>
                </a:solidFill>
                <a:latin typeface="Segoe UI"/>
              </a:rPr>
              <a:t>Meaningful control over digital infrastructure, data flows, and computational processes.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F3F3F"/>
                </a:solidFill>
                <a:latin typeface="Segoe UI"/>
              </a:rPr>
              <a:t>— </a:t>
            </a:r>
            <a:r>
              <a:rPr sz="1400" b="0" i="0" dirty="0" err="1">
                <a:solidFill>
                  <a:srgbClr val="3F3F3F"/>
                </a:solidFill>
                <a:latin typeface="Segoe UI"/>
              </a:rPr>
              <a:t>Floridi</a:t>
            </a:r>
            <a:r>
              <a:rPr sz="1400" b="0" i="0" dirty="0">
                <a:solidFill>
                  <a:srgbClr val="3F3F3F"/>
                </a:solidFill>
                <a:latin typeface="Segoe UI"/>
              </a:rPr>
              <a:t> (2020); Pohle &amp; Thiel (2020)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dirty="0">
                <a:solidFill>
                  <a:srgbClr val="063D79"/>
                </a:solidFill>
                <a:latin typeface="Segoe UI"/>
              </a:rPr>
              <a:t>Windows 11 cannot be fully audited or constrained — this project asks whether a migration tool can close that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Sovereignty, measured — not claimed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874519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17920" y="1874519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669280"/>
            <a:ext cx="45720" cy="548640"/>
          </a:xfrm>
          <a:prstGeom prst="rect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576072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439"/>
                </a:solidFill>
                <a:latin typeface="Segoe UI"/>
              </a:rPr>
              <a:t>sovereignty_score = integrity_score + openness_bonus  —  every restore reports 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834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63D79"/>
                </a:solidFill>
                <a:latin typeface="Segoe UI"/>
              </a:rPr>
              <a:t>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188720" cy="508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7393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Motivation</a:t>
            </a:r>
          </a:p>
        </p:txBody>
      </p:sp>
      <p:sp>
        <p:nvSpPr>
          <p:cNvPr id="7" name="Oval 6"/>
          <p:cNvSpPr/>
          <p:nvPr/>
        </p:nvSpPr>
        <p:spPr>
          <a:xfrm>
            <a:off x="387705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3D79"/>
                </a:solidFill>
                <a:latin typeface="Segoe UI"/>
              </a:rPr>
              <a:t>Idea</a:t>
            </a:r>
          </a:p>
        </p:txBody>
      </p:sp>
      <p:sp>
        <p:nvSpPr>
          <p:cNvPr id="9" name="Oval 8"/>
          <p:cNvSpPr/>
          <p:nvPr/>
        </p:nvSpPr>
        <p:spPr>
          <a:xfrm>
            <a:off x="598017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Method</a:t>
            </a:r>
          </a:p>
        </p:txBody>
      </p:sp>
      <p:sp>
        <p:nvSpPr>
          <p:cNvPr id="11" name="Oval 10"/>
          <p:cNvSpPr/>
          <p:nvPr/>
        </p:nvSpPr>
        <p:spPr>
          <a:xfrm>
            <a:off x="808329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Evidence</a:t>
            </a:r>
          </a:p>
        </p:txBody>
      </p:sp>
      <p:sp>
        <p:nvSpPr>
          <p:cNvPr id="13" name="Oval 12"/>
          <p:cNvSpPr/>
          <p:nvPr/>
        </p:nvSpPr>
        <p:spPr>
          <a:xfrm>
            <a:off x="1018641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Takeaway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1A1A1A"/>
                </a:solidFill>
                <a:latin typeface="Segoe UI"/>
              </a:rPr>
              <a:t>Extending </a:t>
            </a:r>
            <a:r>
              <a:rPr lang="en-US" sz="2700" b="1" i="0" dirty="0">
                <a:solidFill>
                  <a:srgbClr val="1A1A1A"/>
                </a:solidFill>
                <a:latin typeface="Segoe UI"/>
              </a:rPr>
              <a:t>semi-auto-migration POC </a:t>
            </a:r>
            <a:r>
              <a:rPr sz="2700" b="1" i="0" dirty="0">
                <a:solidFill>
                  <a:srgbClr val="1A1A1A"/>
                </a:solidFill>
                <a:latin typeface="Segoe UI"/>
              </a:rPr>
              <a:t>into a working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CF83287-F063-E3B5-7FFD-A84A80B7FA25}"/>
              </a:ext>
            </a:extLst>
          </p:cNvPr>
          <p:cNvGrpSpPr/>
          <p:nvPr/>
        </p:nvGrpSpPr>
        <p:grpSpPr>
          <a:xfrm>
            <a:off x="731520" y="1691640"/>
            <a:ext cx="10698480" cy="1371600"/>
            <a:chOff x="731520" y="1691640"/>
            <a:chExt cx="10698480" cy="1371600"/>
          </a:xfrm>
        </p:grpSpPr>
        <p:sp>
          <p:nvSpPr>
            <p:cNvPr id="5" name="Rounded Rectangle 4"/>
            <p:cNvSpPr/>
            <p:nvPr/>
          </p:nvSpPr>
          <p:spPr>
            <a:xfrm>
              <a:off x="731520" y="1691640"/>
              <a:ext cx="10698480" cy="13716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2700">
              <a:solidFill>
                <a:srgbClr val="D8DA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828800"/>
              <a:ext cx="101498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50" b="1" i="0">
                  <a:solidFill>
                    <a:srgbClr val="063D79"/>
                  </a:solidFill>
                  <a:latin typeface="Segoe UI"/>
                </a:rPr>
                <a:t>TERM PAPER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05840" y="2148840"/>
              <a:ext cx="1014984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800" b="1" i="0">
                  <a:solidFill>
                    <a:srgbClr val="1A1A1A"/>
                  </a:solidFill>
                  <a:latin typeface="Segoe UI"/>
                </a:rPr>
                <a:t>“Digital Sovereignty Through Semi-Automated Migration from Windows to Linux”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05840" y="2670048"/>
              <a:ext cx="1014984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50" b="0" i="1">
                  <a:solidFill>
                    <a:srgbClr val="3F3F3F"/>
                  </a:solidFill>
                  <a:latin typeface="Segoe UI"/>
                </a:rPr>
                <a:t>Japhet Arthur — Julius-Maximilians-Universität Würzburg, Lehrstuhl für Kommunikationsnetze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B399C4-B9B4-4590-A997-E7F30C6D11BD}"/>
              </a:ext>
            </a:extLst>
          </p:cNvPr>
          <p:cNvGrpSpPr/>
          <p:nvPr/>
        </p:nvGrpSpPr>
        <p:grpSpPr>
          <a:xfrm>
            <a:off x="731520" y="3337560"/>
            <a:ext cx="10698480" cy="1097280"/>
            <a:chOff x="731520" y="3337560"/>
            <a:chExt cx="10698480" cy="1097280"/>
          </a:xfrm>
        </p:grpSpPr>
        <p:sp>
          <p:nvSpPr>
            <p:cNvPr id="9" name="TextBox 8"/>
            <p:cNvSpPr txBox="1"/>
            <p:nvPr/>
          </p:nvSpPr>
          <p:spPr>
            <a:xfrm>
              <a:off x="731520" y="3337560"/>
              <a:ext cx="1069848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063D79"/>
                  </a:solidFill>
                  <a:latin typeface="Segoe UI"/>
                </a:rPr>
                <a:t>RESEARCH QUESTION IT ASKED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0" y="3657600"/>
              <a:ext cx="10698480" cy="777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sz="1600" b="0" i="0">
                  <a:solidFill>
                    <a:srgbClr val="1A1A1A"/>
                  </a:solidFill>
                  <a:latin typeface="Segoe UI"/>
                </a:rPr>
                <a:t>How can semi-automated migration frameworks reduce technical barriers to OS-level</a:t>
              </a:r>
            </a:p>
            <a:p>
              <a:pPr algn="l">
                <a:lnSpc>
                  <a:spcPct val="125000"/>
                </a:lnSpc>
              </a:pPr>
              <a:r>
                <a:rPr sz="1600" b="0" i="0">
                  <a:solidFill>
                    <a:srgbClr val="1A1A1A"/>
                  </a:solidFill>
                  <a:latin typeface="Segoe UI"/>
                </a:rPr>
                <a:t>sovereignty restoration while maintaining user control, data integrity, and workflow continuity?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DAFAE79-2A7C-08A9-8C2C-0C604CF645D3}"/>
              </a:ext>
            </a:extLst>
          </p:cNvPr>
          <p:cNvGrpSpPr/>
          <p:nvPr/>
        </p:nvGrpSpPr>
        <p:grpSpPr>
          <a:xfrm>
            <a:off x="731520" y="4663440"/>
            <a:ext cx="10607040" cy="1508760"/>
            <a:chOff x="731520" y="4663440"/>
            <a:chExt cx="10607040" cy="1508760"/>
          </a:xfrm>
        </p:grpSpPr>
        <p:sp>
          <p:nvSpPr>
            <p:cNvPr id="11" name="Rectangle 10"/>
            <p:cNvSpPr/>
            <p:nvPr/>
          </p:nvSpPr>
          <p:spPr>
            <a:xfrm>
              <a:off x="731520" y="4663440"/>
              <a:ext cx="45720" cy="1508760"/>
            </a:xfrm>
            <a:prstGeom prst="rect">
              <a:avLst/>
            </a:prstGeom>
            <a:solidFill>
              <a:srgbClr val="B97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05840" y="4663440"/>
              <a:ext cx="103327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B97000"/>
                  </a:solidFill>
                  <a:latin typeface="Segoe UI"/>
                </a:rPr>
                <a:t>WHAT IT BUILT — AND STATED AS LIMITATIONS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05840" y="4983480"/>
              <a:ext cx="103327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3F3F3F"/>
                  </a:solidFill>
                  <a:latin typeface="Segoe UI"/>
                </a:rPr>
                <a:t>A working 5-phase pipeline (Assess → Review → Prepare → Migrate → Verify).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05840" y="5394960"/>
              <a:ext cx="10332720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2100" b="1" i="1" dirty="0">
                  <a:solidFill>
                    <a:srgbClr val="1A1A1A"/>
                  </a:solidFill>
                  <a:latin typeface="Segoe UI"/>
                </a:rPr>
                <a:t>“…heuristic matching… not guaranteeing feature parity.”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The proof of concept this project actually started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3783" y="5833872"/>
            <a:ext cx="10698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3F3F3F"/>
                </a:solidFill>
                <a:latin typeface="Segoe UI"/>
              </a:rPr>
              <a:t>github.com/</a:t>
            </a:r>
            <a:r>
              <a:rPr sz="1300" b="0" i="1" dirty="0" err="1">
                <a:solidFill>
                  <a:srgbClr val="3F3F3F"/>
                </a:solidFill>
                <a:latin typeface="Segoe UI"/>
              </a:rPr>
              <a:t>PenCoder</a:t>
            </a:r>
            <a:r>
              <a:rPr sz="1300" b="0" i="1" dirty="0">
                <a:solidFill>
                  <a:srgbClr val="3F3F3F"/>
                </a:solidFill>
                <a:latin typeface="Segoe UI"/>
              </a:rPr>
              <a:t>/semi-auto-migration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98923B1-2B40-E716-E03E-295734453EE3}"/>
              </a:ext>
            </a:extLst>
          </p:cNvPr>
          <p:cNvGrpSpPr/>
          <p:nvPr/>
        </p:nvGrpSpPr>
        <p:grpSpPr>
          <a:xfrm>
            <a:off x="932868" y="1846580"/>
            <a:ext cx="10332720" cy="2040128"/>
            <a:chOff x="932868" y="1846580"/>
            <a:chExt cx="10332720" cy="2040128"/>
          </a:xfrm>
        </p:grpSpPr>
        <p:sp>
          <p:nvSpPr>
            <p:cNvPr id="6" name="Oval 5"/>
            <p:cNvSpPr/>
            <p:nvPr/>
          </p:nvSpPr>
          <p:spPr>
            <a:xfrm>
              <a:off x="1698678" y="1846580"/>
              <a:ext cx="914400" cy="914400"/>
            </a:xfrm>
            <a:prstGeom prst="ellipse">
              <a:avLst/>
            </a:prstGeom>
            <a:solidFill>
              <a:srgbClr val="B97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2600" b="1">
                  <a:solidFill>
                    <a:srgbClr val="FFFFFF"/>
                  </a:solidFill>
                </a:rPr>
                <a:t>🖥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32868" y="2862580"/>
              <a:ext cx="24460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500" b="1" i="0">
                  <a:solidFill>
                    <a:srgbClr val="1A1A1A"/>
                  </a:solidFill>
                  <a:latin typeface="Segoe UI"/>
                </a:rPr>
                <a:t>Tkinter GUI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32868" y="3246628"/>
              <a:ext cx="244602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50" b="0" i="0" dirty="0">
                  <a:solidFill>
                    <a:srgbClr val="3F3F3F"/>
                  </a:solidFill>
                  <a:latin typeface="Segoe UI"/>
                </a:rPr>
                <a:t>no Qt, no CLI parity</a:t>
              </a:r>
            </a:p>
            <a:p>
              <a:pPr algn="ctr">
                <a:lnSpc>
                  <a:spcPct val="115000"/>
                </a:lnSpc>
              </a:pPr>
              <a:r>
                <a:rPr sz="1250" b="0" i="0" dirty="0">
                  <a:solidFill>
                    <a:srgbClr val="3F3F3F"/>
                  </a:solidFill>
                  <a:latin typeface="Segoe UI"/>
                </a:rPr>
                <a:t>claim made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327578" y="1846580"/>
              <a:ext cx="914400" cy="914400"/>
            </a:xfrm>
            <a:prstGeom prst="ellipse">
              <a:avLst/>
            </a:prstGeom>
            <a:solidFill>
              <a:srgbClr val="B97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2600" b="1">
                  <a:solidFill>
                    <a:srgbClr val="FFFFFF"/>
                  </a:solidFill>
                </a:rPr>
                <a:t>📋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61768" y="2862580"/>
              <a:ext cx="24460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500" b="1" i="0">
                  <a:solidFill>
                    <a:srgbClr val="1A1A1A"/>
                  </a:solidFill>
                  <a:latin typeface="Segoe UI"/>
                </a:rPr>
                <a:t>25 mappings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61768" y="3246628"/>
              <a:ext cx="244602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50" b="0" i="0">
                  <a:solidFill>
                    <a:srgbClr val="3F3F3F"/>
                  </a:solidFill>
                  <a:latin typeface="Segoe UI"/>
                </a:rPr>
                <a:t>substring match</a:t>
              </a:r>
            </a:p>
            <a:p>
              <a:pPr algn="ctr">
                <a:lnSpc>
                  <a:spcPct val="115000"/>
                </a:lnSpc>
              </a:pPr>
              <a:r>
                <a:rPr sz="1250" b="0" i="0">
                  <a:solidFill>
                    <a:srgbClr val="3F3F3F"/>
                  </a:solidFill>
                  <a:latin typeface="Segoe UI"/>
                </a:rPr>
                <a:t>only, 1 stage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6956478" y="1846580"/>
              <a:ext cx="914400" cy="914400"/>
            </a:xfrm>
            <a:prstGeom prst="ellipse">
              <a:avLst/>
            </a:prstGeom>
            <a:solidFill>
              <a:srgbClr val="B97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2600" b="1">
                  <a:solidFill>
                    <a:srgbClr val="FFFFFF"/>
                  </a:solidFill>
                </a:rPr>
                <a:t>🧪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190668" y="2862580"/>
              <a:ext cx="24460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500" b="1" i="0">
                  <a:solidFill>
                    <a:srgbClr val="1A1A1A"/>
                  </a:solidFill>
                  <a:latin typeface="Segoe UI"/>
                </a:rPr>
                <a:t>0 tests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190668" y="3246628"/>
              <a:ext cx="244602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50" b="0" i="0">
                  <a:solidFill>
                    <a:srgbClr val="3F3F3F"/>
                  </a:solidFill>
                  <a:latin typeface="Segoe UI"/>
                </a:rPr>
                <a:t>no automated</a:t>
              </a:r>
            </a:p>
            <a:p>
              <a:pPr algn="ctr">
                <a:lnSpc>
                  <a:spcPct val="115000"/>
                </a:lnSpc>
              </a:pPr>
              <a:r>
                <a:rPr sz="1250" b="0" i="0">
                  <a:solidFill>
                    <a:srgbClr val="3F3F3F"/>
                  </a:solidFill>
                  <a:latin typeface="Segoe UI"/>
                </a:rPr>
                <a:t>regression coverage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9585378" y="1846580"/>
              <a:ext cx="914400" cy="914400"/>
            </a:xfrm>
            <a:prstGeom prst="ellipse">
              <a:avLst/>
            </a:prstGeom>
            <a:solidFill>
              <a:srgbClr val="B97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2600" b="1">
                  <a:solidFill>
                    <a:srgbClr val="FFFFFF"/>
                  </a:solidFill>
                </a:rPr>
                <a:t>🐧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819568" y="2862580"/>
              <a:ext cx="24460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500" b="1" i="0">
                  <a:solidFill>
                    <a:srgbClr val="1A1A1A"/>
                  </a:solidFill>
                  <a:latin typeface="Segoe UI"/>
                </a:rPr>
                <a:t>Linux-only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819568" y="3246628"/>
              <a:ext cx="244602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50" b="0" i="0">
                  <a:solidFill>
                    <a:srgbClr val="3F3F3F"/>
                  </a:solidFill>
                  <a:latin typeface="Segoe UI"/>
                </a:rPr>
                <a:t>packaging; one</a:t>
              </a:r>
            </a:p>
            <a:p>
              <a:pPr algn="ctr">
                <a:lnSpc>
                  <a:spcPct val="115000"/>
                </a:lnSpc>
              </a:pPr>
              <a:r>
                <a:rPr sz="1250" b="0" i="0">
                  <a:solidFill>
                    <a:srgbClr val="3F3F3F"/>
                  </a:solidFill>
                  <a:latin typeface="Segoe UI"/>
                </a:rPr>
                <a:t>22.5MB binary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4717F43-43C3-42E9-8A77-615546EDD97D}"/>
              </a:ext>
            </a:extLst>
          </p:cNvPr>
          <p:cNvGrpSpPr/>
          <p:nvPr/>
        </p:nvGrpSpPr>
        <p:grpSpPr>
          <a:xfrm>
            <a:off x="731520" y="4343400"/>
            <a:ext cx="10652760" cy="1188720"/>
            <a:chOff x="731520" y="4343400"/>
            <a:chExt cx="10652760" cy="1188720"/>
          </a:xfrm>
        </p:grpSpPr>
        <p:sp>
          <p:nvSpPr>
            <p:cNvPr id="18" name="Rectangle 17"/>
            <p:cNvSpPr/>
            <p:nvPr/>
          </p:nvSpPr>
          <p:spPr>
            <a:xfrm>
              <a:off x="731520" y="4343400"/>
              <a:ext cx="45720" cy="1188720"/>
            </a:xfrm>
            <a:prstGeom prst="rect">
              <a:avLst/>
            </a:prstGeom>
            <a:solidFill>
              <a:srgbClr val="B97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60120" y="4343400"/>
              <a:ext cx="104241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50" b="1" i="0" dirty="0">
                  <a:solidFill>
                    <a:srgbClr val="B97000"/>
                  </a:solidFill>
                  <a:latin typeface="Segoe UI"/>
                </a:rPr>
                <a:t>INHERITED DEFECT, FOUND AND FIXED THIS SESSION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60120" y="4663440"/>
              <a:ext cx="10424160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sz="1350" b="0" i="0" dirty="0">
                  <a:solidFill>
                    <a:srgbClr val="1A1A1A"/>
                  </a:solidFill>
                  <a:latin typeface="Segoe UI"/>
                </a:rPr>
                <a:t>The proof of concept's apt-get install is one atomic batch call — no per-package fallback, no timeout,</a:t>
              </a:r>
            </a:p>
            <a:p>
              <a:pPr algn="l">
                <a:lnSpc>
                  <a:spcPct val="120000"/>
                </a:lnSpc>
              </a:pPr>
              <a:r>
                <a:rPr lang="en-US" sz="1350" b="0" i="0" dirty="0">
                  <a:solidFill>
                    <a:srgbClr val="1A1A1A"/>
                  </a:solidFill>
                  <a:latin typeface="Segoe UI"/>
                </a:rPr>
                <a:t>failures silently logged and ignored. Same defect existed here until this session's fix.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Same pipeline, three levels of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rapezoid 4"/>
          <p:cNvSpPr/>
          <p:nvPr/>
        </p:nvSpPr>
        <p:spPr>
          <a:xfrm>
            <a:off x="960120" y="1828800"/>
            <a:ext cx="5943600" cy="1051560"/>
          </a:xfrm>
          <a:prstGeom prst="trapezoid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Guided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2140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1A1A1A"/>
                </a:solidFill>
                <a:latin typeface="Segoe UI"/>
              </a:rPr>
              <a:t>Zero decisions after mode pick</a:t>
            </a:r>
          </a:p>
        </p:txBody>
      </p:sp>
      <p:sp>
        <p:nvSpPr>
          <p:cNvPr id="7" name="Trapezoid 6"/>
          <p:cNvSpPr/>
          <p:nvPr/>
        </p:nvSpPr>
        <p:spPr>
          <a:xfrm>
            <a:off x="1783080" y="2990088"/>
            <a:ext cx="4297680" cy="1051560"/>
          </a:xfrm>
          <a:prstGeom prst="trapezoid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Balanced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28269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1A1A1A"/>
                </a:solidFill>
                <a:latin typeface="Segoe UI"/>
              </a:rPr>
              <a:t>+ file type selection</a:t>
            </a:r>
          </a:p>
        </p:txBody>
      </p:sp>
      <p:sp>
        <p:nvSpPr>
          <p:cNvPr id="9" name="Trapezoid 8"/>
          <p:cNvSpPr/>
          <p:nvPr/>
        </p:nvSpPr>
        <p:spPr>
          <a:xfrm>
            <a:off x="2606040" y="4151376"/>
            <a:ext cx="2651760" cy="1051560"/>
          </a:xfrm>
          <a:prstGeom prst="trapezoid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Expert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44398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1A1A1A"/>
                </a:solidFill>
                <a:latin typeface="Segoe UI"/>
              </a:rPr>
              <a:t>+ overrides + online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3F3F3F"/>
                </a:solidFill>
                <a:latin typeface="Segoe UI"/>
              </a:rPr>
              <a:t>Decreasing automation, increasing manual control, top to bottom.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87AB91A-F7F6-3E79-09B3-AD5B54C91497}"/>
              </a:ext>
            </a:extLst>
          </p:cNvPr>
          <p:cNvGrpSpPr/>
          <p:nvPr/>
        </p:nvGrpSpPr>
        <p:grpSpPr>
          <a:xfrm>
            <a:off x="822960" y="5806440"/>
            <a:ext cx="10469880" cy="365760"/>
            <a:chOff x="822960" y="5806440"/>
            <a:chExt cx="10469880" cy="365760"/>
          </a:xfrm>
        </p:grpSpPr>
        <p:sp>
          <p:nvSpPr>
            <p:cNvPr id="12" name="Rectangle 11"/>
            <p:cNvSpPr/>
            <p:nvPr/>
          </p:nvSpPr>
          <p:spPr>
            <a:xfrm>
              <a:off x="822960" y="5806440"/>
              <a:ext cx="45720" cy="365760"/>
            </a:xfrm>
            <a:prstGeom prst="rect">
              <a:avLst/>
            </a:prstGeom>
            <a:solidFill>
              <a:srgbClr val="B97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51560" y="5806440"/>
              <a:ext cx="102412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0" i="0">
                  <a:solidFill>
                    <a:srgbClr val="1A1A1A"/>
                  </a:solidFill>
                  <a:latin typeface="Segoe UI"/>
                </a:rPr>
                <a:t>Only Expert mode touches the network — only to verify a package already chosen, never to find it.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834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188720" cy="508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7393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Motivation</a:t>
            </a:r>
          </a:p>
        </p:txBody>
      </p:sp>
      <p:sp>
        <p:nvSpPr>
          <p:cNvPr id="7" name="Oval 6"/>
          <p:cNvSpPr/>
          <p:nvPr/>
        </p:nvSpPr>
        <p:spPr>
          <a:xfrm>
            <a:off x="387705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Idea</a:t>
            </a:r>
          </a:p>
        </p:txBody>
      </p:sp>
      <p:sp>
        <p:nvSpPr>
          <p:cNvPr id="9" name="Oval 8"/>
          <p:cNvSpPr/>
          <p:nvPr/>
        </p:nvSpPr>
        <p:spPr>
          <a:xfrm>
            <a:off x="59801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11" name="Oval 10"/>
          <p:cNvSpPr/>
          <p:nvPr/>
        </p:nvSpPr>
        <p:spPr>
          <a:xfrm>
            <a:off x="808329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Evidence</a:t>
            </a:r>
          </a:p>
        </p:txBody>
      </p:sp>
      <p:sp>
        <p:nvSpPr>
          <p:cNvPr id="13" name="Oval 12"/>
          <p:cNvSpPr/>
          <p:nvPr/>
        </p:nvSpPr>
        <p:spPr>
          <a:xfrm>
            <a:off x="1018641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Takeaway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Two machines, four clean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ABBE9AB-BB80-AD91-6CF9-14DDFC969E1C}"/>
              </a:ext>
            </a:extLst>
          </p:cNvPr>
          <p:cNvGrpSpPr/>
          <p:nvPr/>
        </p:nvGrpSpPr>
        <p:grpSpPr>
          <a:xfrm>
            <a:off x="548640" y="1737360"/>
            <a:ext cx="4892040" cy="914400"/>
            <a:chOff x="548640" y="1737360"/>
            <a:chExt cx="4892040" cy="914400"/>
          </a:xfrm>
        </p:grpSpPr>
        <p:sp>
          <p:nvSpPr>
            <p:cNvPr id="5" name="Rectangle 4"/>
            <p:cNvSpPr/>
            <p:nvPr/>
          </p:nvSpPr>
          <p:spPr>
            <a:xfrm>
              <a:off x="548640" y="1737360"/>
              <a:ext cx="45720" cy="914400"/>
            </a:xfrm>
            <a:prstGeom prst="rect">
              <a:avLst/>
            </a:prstGeom>
            <a:solidFill>
              <a:srgbClr val="0084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1737360"/>
              <a:ext cx="466344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i="0">
                  <a:solidFill>
                    <a:srgbClr val="1A1A1A"/>
                  </a:solidFill>
                  <a:latin typeface="Segoe UI"/>
                </a:rPr>
                <a:t>1 — Prepare (Windows)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7240" y="2148840"/>
              <a:ext cx="466344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50" b="0" i="0">
                  <a:solidFill>
                    <a:srgbClr val="3F3F3F"/>
                  </a:solidFill>
                  <a:latin typeface="Segoe UI"/>
                </a:rPr>
                <a:t>Scan → map apps → pack a bundle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03FB05-56D3-4B8B-CB89-9326F74D9AB3}"/>
              </a:ext>
            </a:extLst>
          </p:cNvPr>
          <p:cNvGrpSpPr/>
          <p:nvPr/>
        </p:nvGrpSpPr>
        <p:grpSpPr>
          <a:xfrm>
            <a:off x="6035040" y="1737360"/>
            <a:ext cx="5257800" cy="914400"/>
            <a:chOff x="6035040" y="1737360"/>
            <a:chExt cx="5257800" cy="914400"/>
          </a:xfrm>
        </p:grpSpPr>
        <p:sp>
          <p:nvSpPr>
            <p:cNvPr id="8" name="Rectangle 7"/>
            <p:cNvSpPr/>
            <p:nvPr/>
          </p:nvSpPr>
          <p:spPr>
            <a:xfrm>
              <a:off x="6035040" y="1737360"/>
              <a:ext cx="45720" cy="914400"/>
            </a:xfrm>
            <a:prstGeom prst="rect">
              <a:avLst/>
            </a:prstGeom>
            <a:solidFill>
              <a:srgbClr val="063D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263640" y="1737360"/>
              <a:ext cx="5029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i="0">
                  <a:solidFill>
                    <a:srgbClr val="1A1A1A"/>
                  </a:solidFill>
                  <a:latin typeface="Segoe UI"/>
                </a:rPr>
                <a:t>2 — Restore (Linux Mint)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63640" y="2148840"/>
              <a:ext cx="502920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50" b="0" i="0">
                  <a:solidFill>
                    <a:srgbClr val="3F3F3F"/>
                  </a:solidFill>
                  <a:latin typeface="Segoe UI"/>
                </a:rPr>
                <a:t>Unzip → restore → verify → report</a:t>
              </a:r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640080" y="3383280"/>
            <a:ext cx="2606040" cy="1005840"/>
          </a:xfrm>
          <a:prstGeom prst="roundRect">
            <a:avLst>
              <a:gd name="adj" fmla="val 7000"/>
            </a:avLst>
          </a:prstGeom>
          <a:solidFill>
            <a:srgbClr val="E2F1E8"/>
          </a:solidFill>
          <a:ln w="12700">
            <a:solidFill>
              <a:srgbClr val="E2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8439"/>
                </a:solidFill>
                <a:latin typeface="Segoe UI"/>
              </a:rPr>
              <a:t>inventory/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46120" y="3797300"/>
            <a:ext cx="228600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74720" y="3383280"/>
            <a:ext cx="2606040" cy="1005840"/>
          </a:xfrm>
          <a:prstGeom prst="roundRect">
            <a:avLst>
              <a:gd name="adj" fmla="val 7000"/>
            </a:avLst>
          </a:prstGeom>
          <a:solidFill>
            <a:srgbClr val="DCE6F0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37033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3D79"/>
                </a:solidFill>
                <a:latin typeface="Segoe UI"/>
              </a:rPr>
              <a:t>analysis/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80760" y="3797300"/>
            <a:ext cx="228600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09360" y="3383280"/>
            <a:ext cx="2606040" cy="1005840"/>
          </a:xfrm>
          <a:prstGeom prst="roundRect">
            <a:avLst>
              <a:gd name="adj" fmla="val 7000"/>
            </a:avLst>
          </a:prstGeom>
          <a:solidFill>
            <a:srgbClr val="F7ECDC"/>
          </a:solidFill>
          <a:ln w="12700">
            <a:solidFill>
              <a:srgbClr val="F7E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37033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97000"/>
                </a:solidFill>
                <a:latin typeface="Segoe UI"/>
              </a:rPr>
              <a:t>services/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15400" y="3797300"/>
            <a:ext cx="228600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0" y="3383280"/>
            <a:ext cx="2606040" cy="1005840"/>
          </a:xfrm>
          <a:prstGeom prst="roundRect">
            <a:avLst>
              <a:gd name="adj" fmla="val 7000"/>
            </a:avLst>
          </a:prstGeom>
          <a:solidFill>
            <a:srgbClr val="DCE6F0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37033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3D79"/>
                </a:solidFill>
                <a:latin typeface="Segoe UI"/>
              </a:rPr>
              <a:t>qt_ui/ + cli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4709160"/>
            <a:ext cx="9601200" cy="88622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54480" y="4892040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63D79"/>
                </a:solidFill>
                <a:latin typeface="Segoe UI"/>
              </a:rPr>
              <a:t>17,467 LOC (</a:t>
            </a:r>
            <a:r>
              <a:rPr sz="1400" b="1" i="0" dirty="0" err="1">
                <a:solidFill>
                  <a:srgbClr val="063D79"/>
                </a:solidFill>
                <a:latin typeface="Segoe UI"/>
              </a:rPr>
              <a:t>src</a:t>
            </a:r>
            <a:r>
              <a:rPr sz="1400" b="1" i="0" dirty="0">
                <a:solidFill>
                  <a:srgbClr val="063D79"/>
                </a:solidFill>
                <a:latin typeface="Segoe UI"/>
              </a:rPr>
              <a:t>) · 3,595 LOC (tests) · 89 files · MIT licensed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One shared decision module, two call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166360" cy="457200"/>
          </a:xfrm>
          <a:prstGeom prst="roundRect">
            <a:avLst>
              <a:gd name="adj" fmla="val 7000"/>
            </a:avLst>
          </a:prstGeom>
          <a:solidFill>
            <a:srgbClr val="DCE6F0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3D79"/>
                </a:solidFill>
                <a:latin typeface="Segoe UI"/>
              </a:rPr>
              <a:t>Qt Wizard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463040"/>
            <a:ext cx="5166360" cy="457200"/>
          </a:xfrm>
          <a:prstGeom prst="roundRect">
            <a:avLst>
              <a:gd name="adj" fmla="val 7000"/>
            </a:avLst>
          </a:prstGeom>
          <a:solidFill>
            <a:srgbClr val="DCE6F0"/>
          </a:solidFill>
          <a:ln w="12700"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89320" y="157276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3D79"/>
                </a:solidFill>
                <a:latin typeface="Segoe UI"/>
              </a:rPr>
              <a:t>CLI — python -m src.cli scan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5166360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6712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Segoe UI"/>
              </a:rPr>
              <a:t>OperationsController / AutomationCoordinator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057400"/>
            <a:ext cx="5166360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89320" y="216712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Segoe UI"/>
              </a:rPr>
              <a:t>scan_command()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042920" y="2542032"/>
            <a:ext cx="177800" cy="365760"/>
          </a:xfrm>
          <a:prstGeom prst="down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wn Arrow 13"/>
          <p:cNvSpPr/>
          <p:nvPr/>
        </p:nvSpPr>
        <p:spPr>
          <a:xfrm>
            <a:off x="8483600" y="2542032"/>
            <a:ext cx="177800" cy="365760"/>
          </a:xfrm>
          <a:prstGeom prst="down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2944368"/>
            <a:ext cx="10607040" cy="1325880"/>
          </a:xfrm>
          <a:prstGeom prst="roundRect">
            <a:avLst>
              <a:gd name="adj" fmla="val 7000"/>
            </a:avLst>
          </a:prstGeom>
          <a:solidFill>
            <a:srgbClr val="F7ECDC"/>
          </a:solidFill>
          <a:ln w="12700">
            <a:solidFill>
              <a:srgbClr val="F7E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03580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97000"/>
                </a:solidFill>
                <a:latin typeface="Segoe UI"/>
              </a:rPr>
              <a:t>src/orchestration/mode_policy.py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8328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Segoe UI"/>
              </a:rPr>
              <a:t>•  should_run_analysis(mode)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75888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Segoe UI"/>
              </a:rPr>
              <a:t>•  should_run_file_recommendations(mode)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6849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Segoe UI"/>
              </a:rPr>
              <a:t>•  resolve_app_recommendation_strategy(mode)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037580" y="4297680"/>
            <a:ext cx="177800" cy="365760"/>
          </a:xfrm>
          <a:prstGeom prst="down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" y="4709160"/>
            <a:ext cx="10607040" cy="502920"/>
          </a:xfrm>
          <a:prstGeom prst="roundRect">
            <a:avLst>
              <a:gd name="adj" fmla="val 7000"/>
            </a:avLst>
          </a:prstGeom>
          <a:solidFill>
            <a:srgbClr val="E2F1E8"/>
          </a:solidFill>
          <a:ln w="12700">
            <a:solidFill>
              <a:srgbClr val="E2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818888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Segoe UI"/>
              </a:rPr>
              <a:t>Services Layer — MigrationService · RecommendationService · FileRecommendationService · RestoreService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Windows app → Linux package — and a named gap, closed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25930" y="1645920"/>
            <a:ext cx="822960" cy="82296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7048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1A1A1A"/>
                </a:solidFill>
                <a:latin typeface="Segoe UI"/>
              </a:rPr>
              <a:t>CSV mapping (238)</a:t>
            </a:r>
          </a:p>
        </p:txBody>
      </p:sp>
      <p:sp>
        <p:nvSpPr>
          <p:cNvPr id="7" name="Oval 6"/>
          <p:cNvSpPr/>
          <p:nvPr/>
        </p:nvSpPr>
        <p:spPr>
          <a:xfrm>
            <a:off x="4354830" y="1645920"/>
            <a:ext cx="822960" cy="82296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3300" y="257048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1A1A1A"/>
                </a:solidFill>
                <a:latin typeface="Segoe UI"/>
              </a:rPr>
              <a:t>Fuzzy match</a:t>
            </a:r>
          </a:p>
        </p:txBody>
      </p:sp>
      <p:sp>
        <p:nvSpPr>
          <p:cNvPr id="9" name="Oval 8"/>
          <p:cNvSpPr/>
          <p:nvPr/>
        </p:nvSpPr>
        <p:spPr>
          <a:xfrm>
            <a:off x="6983730" y="1645920"/>
            <a:ext cx="822960" cy="82296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7048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1A1A1A"/>
                </a:solidFill>
                <a:latin typeface="Segoe UI"/>
              </a:rPr>
              <a:t>Confidence floor</a:t>
            </a:r>
          </a:p>
        </p:txBody>
      </p:sp>
      <p:sp>
        <p:nvSpPr>
          <p:cNvPr id="11" name="Oval 10"/>
          <p:cNvSpPr/>
          <p:nvPr/>
        </p:nvSpPr>
        <p:spPr>
          <a:xfrm>
            <a:off x="9612630" y="1645920"/>
            <a:ext cx="822960" cy="82296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1100" y="257048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1A1A1A"/>
                </a:solidFill>
                <a:latin typeface="Segoe UI"/>
              </a:rPr>
              <a:t>Repology check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77540" y="2032508"/>
            <a:ext cx="320040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5806440" y="2032508"/>
            <a:ext cx="320040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8435340" y="2032508"/>
            <a:ext cx="320040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291840"/>
            <a:ext cx="45720" cy="640080"/>
          </a:xfrm>
          <a:prstGeom prst="rect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1A1A1A"/>
                </a:solidFill>
                <a:latin typeface="Segoe UI"/>
              </a:rPr>
              <a:t>Term paper: “Compatibility mapping relies on heuristic matching... not guaranteeing feature parity.”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3D79"/>
                </a:solidFill>
                <a:latin typeface="Segoe UI"/>
              </a:rPr>
              <a:t>WHAT THIS PROJECT FIXED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439"/>
                </a:solidFill>
                <a:latin typeface="Sego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994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Fuzzy matching (SequenceMatcher) replaces exact-string-only lookup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439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023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Confidence floors stop the algorithm silently downgrading curated matches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439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052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Live Repology verification — package existence checked, not assumed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Measurable objectives, defined at project 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Objective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O1 — Manual steps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≤ 3 in guided mode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O2 — App coverage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≥ 80% of top-50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238 entries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O3 — File integrity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≥ 95% pass SHA-256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O4 — Sovereignty Score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≥ 85%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Scored every run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O5 — Qt/CLI parity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Identical policy, both interfaces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One shared module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O6 — Cycle time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&lt; 20 min for ≤ 5GB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Segoe UI"/>
                        </a:rPr>
                        <a:t>Timed every run — see Critique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Work breakdown &amp;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3D79"/>
                </a:solidFill>
                <a:latin typeface="Segoe UI"/>
              </a:rPr>
              <a:t>7 WORK PACKAGES + 6-DAY RISK BUFFER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61848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B97000"/>
                </a:solidFill>
                <a:latin typeface="Segoe UI"/>
              </a:rPr>
              <a:t>Open risk: no physical-hardware E2E test — VM pair only</a:t>
            </a:r>
          </a:p>
        </p:txBody>
      </p:sp>
      <p:pic>
        <p:nvPicPr>
          <p:cNvPr id="7" name="Picture 6" descr="gant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11064240" cy="32270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834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63D79"/>
                </a:solidFill>
                <a:latin typeface="Segoe UI"/>
              </a:rPr>
              <a:t>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188720" cy="508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7393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Motivation</a:t>
            </a:r>
          </a:p>
        </p:txBody>
      </p:sp>
      <p:sp>
        <p:nvSpPr>
          <p:cNvPr id="7" name="Oval 6"/>
          <p:cNvSpPr/>
          <p:nvPr/>
        </p:nvSpPr>
        <p:spPr>
          <a:xfrm>
            <a:off x="387705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Idea</a:t>
            </a:r>
          </a:p>
        </p:txBody>
      </p:sp>
      <p:sp>
        <p:nvSpPr>
          <p:cNvPr id="9" name="Oval 8"/>
          <p:cNvSpPr/>
          <p:nvPr/>
        </p:nvSpPr>
        <p:spPr>
          <a:xfrm>
            <a:off x="59801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Method</a:t>
            </a:r>
          </a:p>
        </p:txBody>
      </p:sp>
      <p:sp>
        <p:nvSpPr>
          <p:cNvPr id="11" name="Oval 10"/>
          <p:cNvSpPr/>
          <p:nvPr/>
        </p:nvSpPr>
        <p:spPr>
          <a:xfrm>
            <a:off x="808329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3D79"/>
                </a:solidFill>
                <a:latin typeface="Segoe UI"/>
              </a:rPr>
              <a:t>Evidence</a:t>
            </a:r>
          </a:p>
        </p:txBody>
      </p:sp>
      <p:sp>
        <p:nvSpPr>
          <p:cNvPr id="13" name="Oval 12"/>
          <p:cNvSpPr/>
          <p:nvPr/>
        </p:nvSpPr>
        <p:spPr>
          <a:xfrm>
            <a:off x="10186416" y="45720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Takeaway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Quantified improvement over the proof of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Aspect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Proof of concept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This project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Change</a:t>
                      </a:r>
                    </a:p>
                  </a:txBody>
                  <a:tcPr marL="101600" marR="101600" marT="50800" marB="50800" anchor="ctr">
                    <a:solidFill>
                      <a:srgbClr val="063D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App mappings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238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9.5×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Source LOC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4,031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17,467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4.3×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Automated tests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192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0 → 192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GUI framework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Tkinter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Qt (PySide6)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rewritten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App-matching stages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1 (substring)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3 (fuzzy + confidence + online)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1 → 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07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Platforms packaged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1 (Linux)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2 (Win + Linux, auto-embed)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Segoe UI"/>
                        </a:rPr>
                        <a:t>1 → 2</a:t>
                      </a:r>
                    </a:p>
                  </a:txBody>
                  <a:tcPr marL="101600" marR="101600" marT="50800" marB="50800" anchor="ctr">
                    <a:solidFill>
                      <a:srgbClr val="EE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49240"/>
            <a:ext cx="1106424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 dirty="0">
                <a:solidFill>
                  <a:srgbClr val="3F3F3F"/>
                </a:solidFill>
                <a:latin typeface="Segoe UI"/>
              </a:rPr>
              <a:t>github.com/</a:t>
            </a:r>
            <a:r>
              <a:rPr sz="1250" b="0" i="1" dirty="0" err="1">
                <a:solidFill>
                  <a:srgbClr val="3F3F3F"/>
                </a:solidFill>
                <a:latin typeface="Segoe UI"/>
              </a:rPr>
              <a:t>PenCoder</a:t>
            </a:r>
            <a:r>
              <a:rPr sz="1250" b="0" i="1" dirty="0">
                <a:solidFill>
                  <a:srgbClr val="3F3F3F"/>
                </a:solidFill>
                <a:latin typeface="Segoe UI"/>
              </a:rPr>
              <a:t>/semi-auto-migration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7 guided steps, then 1 click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3544" y="1600199"/>
            <a:ext cx="548640" cy="5486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128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Welcome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92808" y="1785619"/>
            <a:ext cx="155448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514600" y="1600199"/>
            <a:ext cx="548640" cy="5486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22128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Mode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83864" y="1785619"/>
            <a:ext cx="155448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105656" y="1600199"/>
            <a:ext cx="548640" cy="5486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2128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Scan +</a:t>
            </a:r>
          </a:p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Match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74920" y="1785619"/>
            <a:ext cx="155448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96712" y="1600199"/>
            <a:ext cx="548640" cy="5486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2128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Data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665976" y="1785619"/>
            <a:ext cx="155448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287768" y="1600199"/>
            <a:ext cx="548640" cy="5486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2128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Review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257032" y="1785619"/>
            <a:ext cx="155448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78824" y="1600199"/>
            <a:ext cx="548640" cy="5486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128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Backup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848088" y="1785619"/>
            <a:ext cx="155448" cy="177800"/>
          </a:xfrm>
          <a:prstGeom prst="rightArrow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469880" y="1600199"/>
            <a:ext cx="548640" cy="54864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3536" y="22128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Bundle</a:t>
            </a:r>
          </a:p>
          <a:p>
            <a:pPr algn="ctr"/>
            <a:r>
              <a:rPr sz="1150" b="1" i="0">
                <a:solidFill>
                  <a:srgbClr val="1A1A1A"/>
                </a:solidFill>
                <a:latin typeface="Segoe UI"/>
              </a:rPr>
              <a:t>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78892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300" b="0" i="1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48640" y="3291840"/>
            <a:ext cx="640080" cy="64008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1A1A1A"/>
                </a:solidFill>
                <a:latin typeface="Segoe UI"/>
              </a:rPr>
              <a:t>Restore &amp;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749039"/>
            <a:ext cx="4114800" cy="286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endParaRPr sz="1200" b="0" i="0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958840" y="3124200"/>
            <a:ext cx="3019044" cy="2758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inal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200400"/>
            <a:ext cx="2866644" cy="26060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0" y="5908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 dirty="0">
                <a:solidFill>
                  <a:srgbClr val="3F3F3F"/>
                </a:solidFill>
                <a:latin typeface="Segoe UI"/>
              </a:rPr>
              <a:t>Real report — actual VM restore, 3,344 files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1A1A1A"/>
                </a:solidFill>
                <a:latin typeface="Segoe UI"/>
              </a:rPr>
              <a:t>192 tests — and 4 bugs only a live VM run exposed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9164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Oval 5"/>
          <p:cNvSpPr/>
          <p:nvPr/>
        </p:nvSpPr>
        <p:spPr>
          <a:xfrm>
            <a:off x="6309360" y="1764792"/>
            <a:ext cx="365760" cy="365760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78308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1A"/>
                </a:solidFill>
                <a:latin typeface="Segoe UI"/>
              </a:rPr>
              <a:t>Bad package name failed ALL installs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2167128"/>
            <a:ext cx="365760" cy="36576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19456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8439"/>
                </a:solidFill>
                <a:latin typeface="Segoe UI"/>
              </a:rPr>
              <a:t>per-package fallback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2606040"/>
            <a:ext cx="365760" cy="365760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624328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Shortcuts matched requested, not installed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3008376"/>
            <a:ext cx="365760" cy="36576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035808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8439"/>
                </a:solidFill>
                <a:latin typeface="Segoe UI"/>
              </a:rPr>
              <a:t>matched to actual installs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3447288"/>
            <a:ext cx="365760" cy="365760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465576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Silent multi-minute log gaps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3849624"/>
            <a:ext cx="365760" cy="36576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877056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8439"/>
                </a:solidFill>
                <a:latin typeface="Segoe UI"/>
              </a:rPr>
              <a:t>periodic progress logging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4288536"/>
            <a:ext cx="365760" cy="365760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306824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Unanswered prompt could hang forever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4690872"/>
            <a:ext cx="365760" cy="36576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718304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8439"/>
                </a:solidFill>
                <a:latin typeface="Segoe UI"/>
              </a:rPr>
              <a:t>120s timeout per attempt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74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3F3F3F"/>
                </a:solidFill>
                <a:latin typeface="Segoe UI"/>
              </a:rPr>
              <a:t>CI passing ≠ the real app works.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Reset undoes the whole restore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80060" y="1668780"/>
            <a:ext cx="868680" cy="86868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Segoe UI"/>
              </a:rPr>
              <a:t>Files</a:t>
            </a:r>
          </a:p>
        </p:txBody>
      </p:sp>
      <p:sp>
        <p:nvSpPr>
          <p:cNvPr id="7" name="Oval 6"/>
          <p:cNvSpPr/>
          <p:nvPr/>
        </p:nvSpPr>
        <p:spPr>
          <a:xfrm>
            <a:off x="2811780" y="1668780"/>
            <a:ext cx="868680" cy="86868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Segoe UI"/>
              </a:rPr>
              <a:t>Shortcuts</a:t>
            </a:r>
          </a:p>
        </p:txBody>
      </p:sp>
      <p:sp>
        <p:nvSpPr>
          <p:cNvPr id="9" name="Oval 8"/>
          <p:cNvSpPr/>
          <p:nvPr/>
        </p:nvSpPr>
        <p:spPr>
          <a:xfrm>
            <a:off x="5143500" y="1668780"/>
            <a:ext cx="868680" cy="86868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Segoe UI"/>
              </a:rPr>
              <a:t>Wallpaper</a:t>
            </a:r>
          </a:p>
        </p:txBody>
      </p:sp>
      <p:sp>
        <p:nvSpPr>
          <p:cNvPr id="11" name="Oval 10"/>
          <p:cNvSpPr/>
          <p:nvPr/>
        </p:nvSpPr>
        <p:spPr>
          <a:xfrm>
            <a:off x="7475220" y="1668780"/>
            <a:ext cx="868680" cy="86868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Segoe UI"/>
              </a:rPr>
              <a:t>Apps (opt-in)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F3F3F"/>
                </a:solidFill>
                <a:latin typeface="Segoe UI"/>
              </a:rPr>
              <a:t>Reset now undoes all of the above — opt-in for apps, live progress in the Activity Log.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63D79"/>
                </a:solidFill>
                <a:latin typeface="Segoe U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1A"/>
                </a:solidFill>
                <a:latin typeface="Segoe UI"/>
              </a:rPr>
              <a:t>Double-click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2011680"/>
            <a:ext cx="493776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926080" y="2240280"/>
            <a:ext cx="731520" cy="731520"/>
          </a:xfrm>
          <a:prstGeom prst="ellipse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632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F3F3F"/>
                </a:solidFill>
                <a:latin typeface="Segoe UI"/>
              </a:rPr>
              <a:t>migrate.exe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F3F3F"/>
                </a:solidFill>
                <a:latin typeface="Segoe UI"/>
              </a:rPr>
              <a:t>PyInstaller; can bake the Linux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F3F3F"/>
                </a:solidFill>
                <a:latin typeface="Segoe UI"/>
              </a:rPr>
              <a:t>binary in for a single-file standalone.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011680"/>
            <a:ext cx="493776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12480" y="2240280"/>
            <a:ext cx="731520" cy="731520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632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F3F3F"/>
                </a:solidFill>
                <a:latin typeface="Segoe UI"/>
              </a:rPr>
              <a:t>restore (ELF binary)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F3F3F"/>
                </a:solidFill>
                <a:latin typeface="Segoe UI"/>
              </a:rPr>
              <a:t>Built on the target distro; embedded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F3F3F"/>
                </a:solidFill>
                <a:latin typeface="Segoe UI"/>
              </a:rPr>
              <a:t>automatically into every bundle.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3F3F3F"/>
                </a:solidFill>
                <a:latin typeface="Segoe UI"/>
              </a:rPr>
              <a:t>Live now: github.com/</a:t>
            </a:r>
            <a:r>
              <a:rPr sz="1300" b="0" i="1" dirty="0" err="1">
                <a:solidFill>
                  <a:srgbClr val="3F3F3F"/>
                </a:solidFill>
                <a:latin typeface="Segoe UI"/>
              </a:rPr>
              <a:t>PenCoder</a:t>
            </a:r>
            <a:r>
              <a:rPr sz="1300" b="0" i="1" dirty="0">
                <a:solidFill>
                  <a:srgbClr val="3F3F3F"/>
                </a:solidFill>
                <a:latin typeface="Segoe UI"/>
              </a:rPr>
              <a:t>/full-auto-migration — migrate.exe downloadable from a real GitHub Release.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F3F3F"/>
                </a:solidFill>
                <a:latin typeface="Segoe UI"/>
              </a:rPr>
              <a:t>Docs site: pencoder.github.io/full-auto-migration — user guide, project walkthrough, and Praktikum report, published.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What the project delivers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3D79"/>
                </a:solidFill>
                <a:latin typeface="Segoe UI"/>
              </a:rPr>
              <a:t>238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Segoe UI"/>
              </a:rPr>
              <a:t>app mappings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645920"/>
            <a:ext cx="25146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64992" y="17830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3D79"/>
                </a:solidFill>
                <a:latin typeface="Segoe UI"/>
              </a:rPr>
              <a:t>192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23774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Segoe UI"/>
              </a:rPr>
              <a:t>automated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8464" y="1645920"/>
            <a:ext cx="25146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98464" y="17830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3D79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5624" y="23774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Segoe UI"/>
              </a:rPr>
              <a:t>guidance modes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31936" y="1645920"/>
            <a:ext cx="25146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31936" y="17830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3D79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9096" y="23774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Segoe UI"/>
              </a:rPr>
              <a:t>platforms packaged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31520" y="324612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050280" y="3124200"/>
            <a:ext cx="2968752" cy="2712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inal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200400"/>
            <a:ext cx="2816352" cy="2560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26480" y="5862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3F3F3F"/>
                </a:solidFill>
                <a:latin typeface="Segoe UI"/>
              </a:rPr>
              <a:t>100% sovereignty score — real restore, 3,344 files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Two things that didn't hold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F3F3F"/>
                </a:solidFill>
                <a:latin typeface="Segoe UI"/>
              </a:rPr>
              <a:t>Checking our own claims against the system found two honest gaps: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45720" cy="914400"/>
          </a:xfrm>
          <a:prstGeom prst="rect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7000"/>
                </a:solidFill>
                <a:latin typeface="Segoe UI"/>
              </a:rPr>
              <a:t>O6 — CYCLE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A1A"/>
                </a:solidFill>
                <a:latin typeface="Segoe UI"/>
              </a:rPr>
              <a:t>Target was &lt;20 min for ≤5GB; the real logged run took ~30–35 minutes for extract+restore+verify alone.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11880"/>
            <a:ext cx="45720" cy="914400"/>
          </a:xfrm>
          <a:prstGeom prst="rect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7000"/>
                </a:solidFill>
                <a:latin typeface="Segoe UI"/>
              </a:rPr>
              <a:t>RECOMMENDATION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A1A"/>
                </a:solidFill>
                <a:latin typeface="Segoe UI"/>
              </a:rPr>
              <a:t>Precision/recall is 0% measured. Methodology is defined; no ground-truth evaluation script has been built or 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F3F3F"/>
                </a:solidFill>
                <a:latin typeface="Segoe UI"/>
              </a:rPr>
              <a:t>Both are carried forward as named, open items — not silently dropped.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834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63D79"/>
                </a:solidFill>
                <a:latin typeface="Segoe UI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188720" cy="508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7393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Motivation</a:t>
            </a:r>
          </a:p>
        </p:txBody>
      </p:sp>
      <p:sp>
        <p:nvSpPr>
          <p:cNvPr id="7" name="Oval 6"/>
          <p:cNvSpPr/>
          <p:nvPr/>
        </p:nvSpPr>
        <p:spPr>
          <a:xfrm>
            <a:off x="387705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Idea</a:t>
            </a:r>
          </a:p>
        </p:txBody>
      </p:sp>
      <p:sp>
        <p:nvSpPr>
          <p:cNvPr id="9" name="Oval 8"/>
          <p:cNvSpPr/>
          <p:nvPr/>
        </p:nvSpPr>
        <p:spPr>
          <a:xfrm>
            <a:off x="598017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Method</a:t>
            </a:r>
          </a:p>
        </p:txBody>
      </p:sp>
      <p:sp>
        <p:nvSpPr>
          <p:cNvPr id="11" name="Oval 10"/>
          <p:cNvSpPr/>
          <p:nvPr/>
        </p:nvSpPr>
        <p:spPr>
          <a:xfrm>
            <a:off x="808329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F3F3F"/>
                </a:solidFill>
                <a:latin typeface="Segoe UI"/>
              </a:rPr>
              <a:t>Evidence</a:t>
            </a:r>
          </a:p>
        </p:txBody>
      </p:sp>
      <p:sp>
        <p:nvSpPr>
          <p:cNvPr id="13" name="Oval 12"/>
          <p:cNvSpPr/>
          <p:nvPr/>
        </p:nvSpPr>
        <p:spPr>
          <a:xfrm>
            <a:off x="10186416" y="4572000"/>
            <a:ext cx="201168" cy="201168"/>
          </a:xfrm>
          <a:prstGeom prst="ellipse">
            <a:avLst/>
          </a:prstGeom>
          <a:solidFill>
            <a:srgbClr val="063D79"/>
          </a:solidFill>
          <a:ln w="15875">
            <a:solidFill>
              <a:srgbClr val="063D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3D79"/>
                </a:solidFill>
                <a:latin typeface="Segoe UI"/>
              </a:rPr>
              <a:t>Takeaway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45720" cy="4434840"/>
          </a:xfrm>
          <a:prstGeom prst="rect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439"/>
                </a:solidFill>
                <a:latin typeface="Segoe UI"/>
              </a:rPr>
              <a:t>DELIVERED</a:t>
            </a:r>
          </a:p>
        </p:txBody>
      </p:sp>
      <p:sp>
        <p:nvSpPr>
          <p:cNvPr id="7" name="Oval 6"/>
          <p:cNvSpPr/>
          <p:nvPr/>
        </p:nvSpPr>
        <p:spPr>
          <a:xfrm>
            <a:off x="923544" y="2331720"/>
            <a:ext cx="347472" cy="347472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36829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Dynamic recommendation engine</a:t>
            </a:r>
          </a:p>
        </p:txBody>
      </p:sp>
      <p:sp>
        <p:nvSpPr>
          <p:cNvPr id="9" name="Oval 8"/>
          <p:cNvSpPr/>
          <p:nvPr/>
        </p:nvSpPr>
        <p:spPr>
          <a:xfrm>
            <a:off x="923544" y="2898648"/>
            <a:ext cx="347472" cy="347472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93522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Unified mode policy (Qt + CLI)</a:t>
            </a:r>
          </a:p>
        </p:txBody>
      </p:sp>
      <p:sp>
        <p:nvSpPr>
          <p:cNvPr id="11" name="Oval 10"/>
          <p:cNvSpPr/>
          <p:nvPr/>
        </p:nvSpPr>
        <p:spPr>
          <a:xfrm>
            <a:off x="923544" y="3465576"/>
            <a:ext cx="347472" cy="347472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50215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Per-stage execution timing</a:t>
            </a:r>
          </a:p>
        </p:txBody>
      </p:sp>
      <p:sp>
        <p:nvSpPr>
          <p:cNvPr id="13" name="Oval 12"/>
          <p:cNvSpPr/>
          <p:nvPr/>
        </p:nvSpPr>
        <p:spPr>
          <a:xfrm>
            <a:off x="923544" y="4032504"/>
            <a:ext cx="347472" cy="347472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69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192 test regression coverage</a:t>
            </a:r>
          </a:p>
        </p:txBody>
      </p:sp>
      <p:sp>
        <p:nvSpPr>
          <p:cNvPr id="15" name="Oval 14"/>
          <p:cNvSpPr/>
          <p:nvPr/>
        </p:nvSpPr>
        <p:spPr>
          <a:xfrm>
            <a:off x="923544" y="4599432"/>
            <a:ext cx="347472" cy="347472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360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Real-VM-tested reliability fixes</a:t>
            </a:r>
          </a:p>
        </p:txBody>
      </p:sp>
      <p:sp>
        <p:nvSpPr>
          <p:cNvPr id="17" name="Oval 16"/>
          <p:cNvSpPr/>
          <p:nvPr/>
        </p:nvSpPr>
        <p:spPr>
          <a:xfrm>
            <a:off x="923544" y="5166360"/>
            <a:ext cx="347472" cy="347472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0293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Full undo/reset + packaging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783080"/>
            <a:ext cx="45720" cy="4023360"/>
          </a:xfrm>
          <a:prstGeom prst="rect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97000"/>
                </a:solidFill>
                <a:latin typeface="Segoe UI"/>
              </a:rPr>
              <a:t>NEXT</a:t>
            </a:r>
          </a:p>
        </p:txBody>
      </p:sp>
      <p:sp>
        <p:nvSpPr>
          <p:cNvPr id="21" name="Oval 20"/>
          <p:cNvSpPr/>
          <p:nvPr/>
        </p:nvSpPr>
        <p:spPr>
          <a:xfrm>
            <a:off x="6409944" y="2331720"/>
            <a:ext cx="347472" cy="347472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3317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Real precision/recall evaluation script</a:t>
            </a:r>
          </a:p>
        </p:txBody>
      </p:sp>
      <p:sp>
        <p:nvSpPr>
          <p:cNvPr id="23" name="Oval 22"/>
          <p:cNvSpPr/>
          <p:nvPr/>
        </p:nvSpPr>
        <p:spPr>
          <a:xfrm>
            <a:off x="6409944" y="2971800"/>
            <a:ext cx="347472" cy="347472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9718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Real E2E test, physical machines</a:t>
            </a:r>
          </a:p>
        </p:txBody>
      </p:sp>
      <p:sp>
        <p:nvSpPr>
          <p:cNvPr id="25" name="Oval 24"/>
          <p:cNvSpPr/>
          <p:nvPr/>
        </p:nvSpPr>
        <p:spPr>
          <a:xfrm>
            <a:off x="6409944" y="3611880"/>
            <a:ext cx="347472" cy="347472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61188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Live USB write automation</a:t>
            </a:r>
          </a:p>
        </p:txBody>
      </p:sp>
      <p:sp>
        <p:nvSpPr>
          <p:cNvPr id="27" name="Oval 26"/>
          <p:cNvSpPr/>
          <p:nvPr/>
        </p:nvSpPr>
        <p:spPr>
          <a:xfrm>
            <a:off x="6409944" y="4251960"/>
            <a:ext cx="347472" cy="347472"/>
          </a:xfrm>
          <a:prstGeom prst="ellipse">
            <a:avLst/>
          </a:prstGeom>
          <a:solidFill>
            <a:srgbClr val="B9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2519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Resume/checkpoint for large restores</a:t>
            </a:r>
          </a:p>
        </p:txBody>
      </p:sp>
      <p:sp>
        <p:nvSpPr>
          <p:cNvPr id="29" name="Oval 28"/>
          <p:cNvSpPr/>
          <p:nvPr/>
        </p:nvSpPr>
        <p:spPr>
          <a:xfrm>
            <a:off x="923544" y="5733288"/>
            <a:ext cx="347472" cy="347472"/>
          </a:xfrm>
          <a:prstGeom prst="ellipse">
            <a:avLst/>
          </a:prstGeom>
          <a:solidFill>
            <a:srgbClr val="008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76986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Segoe UI"/>
              </a:rPr>
              <a:t>Public docs site + GitHub release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Documentation &amp; downloads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F3F3F"/>
                </a:solidFill>
                <a:latin typeface="Segoe UI"/>
              </a:rPr>
              <a:t>Everything in this talk is public — code, docs, and a downloadable build.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DCE6F0"/>
          </a:solidFill>
          <a:ln>
            <a:solidFill>
              <a:srgbClr val="DC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3D79"/>
                </a:solidFill>
                <a:latin typeface="Segoe UI"/>
              </a:rPr>
              <a:t>DOCUMENTATION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A1A1A"/>
                </a:solidFill>
                <a:latin typeface="Segoe UI"/>
              </a:rPr>
              <a:t>pencoder.github.io/full-auto-migration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A1A1A"/>
                </a:solidFill>
                <a:latin typeface="Segoe UI"/>
              </a:rPr>
              <a:t>User guide, project walkthrough, full automation exposé, Praktikum report, testing docs.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052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E2F1E8"/>
          </a:solidFill>
          <a:ln>
            <a:solidFill>
              <a:srgbClr val="E2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439"/>
                </a:solidFill>
                <a:latin typeface="Segoe UI"/>
              </a:rPr>
              <a:t>DOWNLOAD &amp;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177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A1A1A"/>
                </a:solidFill>
                <a:latin typeface="Segoe UI"/>
              </a:rPr>
              <a:t>github.com/PenCoder/full-auto-migration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A1A1A"/>
                </a:solidFill>
                <a:latin typeface="Segoe UI"/>
              </a:rPr>
              <a:t>v1.0.0 release with migrate.exe attached — clone, build, or download and run today.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3D79"/>
                </a:solidFill>
                <a:latin typeface="Segoe U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Segoe UI"/>
              </a:rPr>
              <a:t>References — sovereignty framing cited from the term paper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005840" cy="38100"/>
          </a:xfrm>
          <a:prstGeom prst="rect">
            <a:avLst/>
          </a:prstGeom>
          <a:solidFill>
            <a:srgbClr val="063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Segoe UI"/>
              </a:rPr>
              <a:t>•  Floridi, L. (2020). The fight for digital sovereignty. Philosophy &amp; Technology, 33(3), 369–378.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Segoe UI"/>
              </a:rPr>
              <a:t>•  Pohle, J., &amp; Thiel, T. (2020). Digital sovereignty. Internet Policy Review, 9(4).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Segoe UI"/>
              </a:rPr>
              <a:t>•  Roberts, H., et al. (2021). Safeguarding European values with digital sovereignty. Internet Policy Review, 10(3).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Segoe UI"/>
              </a:rPr>
              <a:t>•  Wehnes, H. (2024). Preventing digital colony and lock-in. INFORMATIK 2024, Gesellschaft für Informatik.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Segoe UI"/>
              </a:rPr>
              <a:t>•  Wire (2025); StatCounter Global Stats (2025). Digital sovereignty survey &amp; OS market share, Europe.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F3F3F"/>
                </a:solidFill>
                <a:latin typeface="Segoe UI"/>
              </a:rPr>
              <a:t>Full bibliography: Arthur, J. — Digital Sovereignty Through Semi-Automated OS Migration (term paper).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t>Questions &amp;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3_powerpoint_2016_wide">
  <a:themeElements>
    <a:clrScheme name="LS3 Scheme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63D79"/>
      </a:accent1>
      <a:accent2>
        <a:srgbClr val="B92700"/>
      </a:accent2>
      <a:accent3>
        <a:srgbClr val="008439"/>
      </a:accent3>
      <a:accent4>
        <a:srgbClr val="B97000"/>
      </a:accent4>
      <a:accent5>
        <a:srgbClr val="D8DADC"/>
      </a:accent5>
      <a:accent6>
        <a:srgbClr val="3F3F3F"/>
      </a:accent6>
      <a:hlink>
        <a:srgbClr val="063D79"/>
      </a:hlink>
      <a:folHlink>
        <a:srgbClr val="D8DADC"/>
      </a:folHlink>
    </a:clrScheme>
    <a:fontScheme name="Vorla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Rounded MT Bold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600" b="0" dirty="0" err="1" smtClean="0">
            <a:latin typeface="+mn-lt"/>
          </a:defRPr>
        </a:defPPr>
      </a:lstStyle>
    </a:txDef>
  </a:objectDefaults>
  <a:extraClrSchemeLst>
    <a:extraClrScheme>
      <a:clrScheme name="Vorlag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orlag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äsentation1" id="{2FFA4946-9F4B-4605-8084-75765F482D84}" vid="{CE7CD113-EA7C-43EC-B83E-E9DFC241FB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</TotalTime>
  <Words>1538</Words>
  <Application>Microsoft Office PowerPoint</Application>
  <PresentationFormat>Widescreen</PresentationFormat>
  <Paragraphs>321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Arial Rounded MT Bold</vt:lpstr>
      <vt:lpstr>Segoe UI</vt:lpstr>
      <vt:lpstr>Times New Roman</vt:lpstr>
      <vt:lpstr>Wingdings</vt:lpstr>
      <vt:lpstr>Wingdings 3</vt:lpstr>
      <vt:lpstr>i3_powerpoint_2016_wide</vt:lpstr>
      <vt:lpstr>Fully Automated Migration Framework from Windows 11 to Linux Mint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Universitaet Wuerzburg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christopher.metter</dc:creator>
  <cp:lastModifiedBy>Japhet Appau Arthur</cp:lastModifiedBy>
  <cp:revision>306</cp:revision>
  <dcterms:created xsi:type="dcterms:W3CDTF">2016-06-17T10:34:47Z</dcterms:created>
  <dcterms:modified xsi:type="dcterms:W3CDTF">2026-06-23T05:32:44Z</dcterms:modified>
</cp:coreProperties>
</file>