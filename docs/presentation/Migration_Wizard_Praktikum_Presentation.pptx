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1B3A86"/>
          </a:solidFill>
          <a:ln w="12700">
            <a:solidFill>
              <a:srgbClr val="1B3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MOBILE COMPUTING SEMINAR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Migration Wizard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CE6FF"/>
                </a:solidFill>
                <a:latin typeface="Segoe UI"/>
              </a:rPr>
              <a:t>Toward a Fully Automated Migration Framework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CE6FF"/>
                </a:solidFill>
                <a:latin typeface="Segoe UI"/>
              </a:rPr>
              <a:t>from Windows 11 to Linux Mint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C2E8"/>
                </a:solidFill>
                <a:latin typeface="Segoe UI"/>
              </a:rPr>
              <a:t>Japhet Kofi Appau Arthur  ·  Praktikum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Switching from Windows to Linux is harder than it should be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6675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700">
                <a:solidFill>
                  <a:srgbClr val="1B1E28"/>
                </a:solidFill>
                <a:latin typeface="Segoe UI"/>
              </a:rPr>
              <a:t>Files, installed apps, and desktop settings all live in different,
incompatible places between Windows and Linux.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700">
                <a:solidFill>
                  <a:srgbClr val="1B1E28"/>
                </a:solidFill>
                <a:latin typeface="Segoe UI"/>
              </a:rPr>
              <a:t>Manually figuring out “what's the Linux equivalent of this app?”
for dozens of programs is tedious and error-prone.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700">
                <a:solidFill>
                  <a:srgbClr val="1B1E28"/>
                </a:solidFill>
                <a:latin typeface="Segoe UI"/>
              </a:rPr>
              <a:t>Most existing tools handle one piece (file copy, or app install)
— never the full picture, and rarely for non-technical users.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700">
                <a:solidFill>
                  <a:srgbClr val="1B1E28"/>
                </a:solidFill>
                <a:latin typeface="Segoe UI"/>
              </a:rPr>
              <a:t>Goal: one guided tool that handles the whole journey —
files, apps, and settings — with as little manual decision-making
as the user wants.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3736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920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WHAT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Personal files (Documents, Pictures, …)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Installed applications → Linux equivalents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Desktop settings (wallpaper, theme, light/dark)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Desktop shortcuts &amp; taskbar launchers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A guided, two-phase, privacy-preserving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 w="1270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1E28"/>
                </a:solidFill>
                <a:latin typeface="Segoe UI"/>
              </a:rP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Segoe UI"/>
              </a:rPr>
              <a:t>Windows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46E7A"/>
                </a:solidFill>
                <a:latin typeface="Segoe UI"/>
              </a:rPr>
              <a:t>Scan → app mapping → file &amp; settings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46E7A"/>
                </a:solidFill>
                <a:latin typeface="Segoe UI"/>
              </a:rPr>
              <a:t>selection → packed into one bundle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0" y="21031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3A86"/>
          </a:solidFill>
          <a:ln w="12700">
            <a:solidFill>
              <a:srgbClr val="1B3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1E28"/>
                </a:solidFill>
                <a:latin typeface="Segoe UI"/>
              </a:rPr>
              <a:t>Restore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86"/>
                </a:solidFill>
                <a:latin typeface="Segoe UI"/>
              </a:rPr>
              <a:t>Linux Mint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46E7A"/>
                </a:solidFill>
                <a:latin typeface="Segoe UI"/>
              </a:rPr>
              <a:t>Bundle copied via USB → files restored,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46E7A"/>
                </a:solidFill>
                <a:latin typeface="Segoe UI"/>
              </a:rPr>
              <a:t>apps installed, settings 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46E7A"/>
                </a:solidFill>
                <a:latin typeface="Segoe UI"/>
              </a:rPr>
              <a:t>Three guidance levels (Guided / Balanced / Expert) control how many of these</a:t>
            </a:r>
          </a:p>
          <a:p>
            <a:pPr algn="l"/>
            <a:r>
              <a:rPr sz="1500" b="0" i="1">
                <a:solidFill>
                  <a:srgbClr val="546E7A"/>
                </a:solidFill>
                <a:latin typeface="Segoe UI"/>
              </a:rPr>
              <a:t>decisions the user makes themselves — same destination, different amount of control.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Clean layer separation, MVC on the Qt 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Segoe UI"/>
              </a:rPr>
              <a:t>src/inventory/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4708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1E28"/>
                </a:solidFill>
                <a:latin typeface="Segoe UI"/>
              </a:rPr>
              <a:t>Hardware, software, settings collectors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78608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DCE6FF"/>
          </a:solidFill>
          <a:ln w="12700">
            <a:solidFill>
              <a:srgbClr val="DC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86"/>
                </a:solidFill>
                <a:latin typeface="Segoe UI"/>
              </a:rPr>
              <a:t>src/analysis/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88336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1E28"/>
                </a:solidFill>
                <a:latin typeface="Segoe UI"/>
              </a:rPr>
              <a:t>Hardware matrix + software mapping (fuzzy + confidence)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19856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2700">
            <a:solidFill>
              <a:srgbClr val="FFF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2958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  <a:latin typeface="Segoe UI"/>
              </a:rPr>
              <a:t>src/services/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1E28"/>
                </a:solidFill>
                <a:latin typeface="Segoe UI"/>
              </a:rPr>
              <a:t>Recommendation, migration, restore, validation, report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61104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E8F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7083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5E20"/>
                </a:solidFill>
                <a:latin typeface="Segoe UI"/>
              </a:rPr>
              <a:t>src/orchestration/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370832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1E28"/>
                </a:solidFill>
                <a:latin typeface="Segoe UI"/>
              </a:rPr>
              <a:t>Error handling + checkpointing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02352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DCE6FF"/>
          </a:solidFill>
          <a:ln w="12700">
            <a:solidFill>
              <a:srgbClr val="DC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12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86"/>
                </a:solidFill>
                <a:latin typeface="Segoe UI"/>
              </a:rPr>
              <a:t>src/qt_ui/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21208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1E28"/>
                </a:solidFill>
                <a:latin typeface="Segoe UI"/>
              </a:rPr>
              <a:t>Pages (view) + Controllers + shared state (MVC)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46E7A"/>
                </a:solidFill>
                <a:latin typeface="Segoe UI"/>
              </a:rPr>
              <a:t>Qt window stays thin: AutomationCoordinator, NavigationController, ModeController, and</a:t>
            </a:r>
          </a:p>
          <a:p>
            <a:pPr algn="l"/>
            <a:r>
              <a:rPr sz="1400" b="0" i="1">
                <a:solidFill>
                  <a:srgbClr val="546E7A"/>
                </a:solidFill>
                <a:latin typeface="Segoe UI"/>
              </a:rPr>
              <a:t>OperationsController do the real work — the window just wires pages to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One pipeline, three levels of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181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Guided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Balanced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Expert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Inventory scan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Compatibility analysis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App recommendations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local mapping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local mapping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local + Repology online check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File recommendations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all files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usage-based, AI-assisted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Manual overrides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749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46E7A"/>
                </a:solidFill>
                <a:latin typeface="Segoe UI"/>
              </a:rPr>
              <a:t>Guided and Balanced never touch the network — only Expert mode triggers a live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46E7A"/>
                </a:solidFill>
                <a:latin typeface="Segoe UI"/>
              </a:rPr>
              <a:t>Repology lookup, and only to verify package availability for an already-chosen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46E7A"/>
                </a:solidFill>
                <a:latin typeface="Segoe UI"/>
              </a:rPr>
              <a:t>Linux package, never to “discover” the mapping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CORE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How a Windows app becomes a Linux package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CSV mapping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7568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46E7A"/>
                </a:solidFill>
                <a:latin typeface="Segoe UI"/>
              </a:rPr>
              <a:t>238 curated entries (configs/linux_ms_map.csv): Windows app name → Linux package, category, migration strategy, expert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7063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24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Fuzzy matching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46E7A"/>
                </a:solidFill>
                <a:latin typeface="Segoe UI"/>
              </a:rPr>
              <a:t>SequenceMatcher finds the best CSV row even with version numbers or naming variations (e.g. “7-Zip 24.09 (x64)”).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962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0390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Confidence floors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33672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46E7A"/>
                </a:solidFill>
                <a:latin typeface="Segoe UI"/>
              </a:rPr>
              <a:t>Expert-assigned CSV confidence (high/medium/low) sets a minimum score — a curated match is never silently downgraded.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286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8289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Online verification (Expert mode only)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12664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46E7A"/>
                </a:solidFill>
                <a:latin typeface="Segoe UI"/>
              </a:rPr>
              <a:t>Repology API confirms the chosen package actually exists in Mint/Ubuntu repos before recommending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WORKFLOW — WINDOWS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7 guided steps from scan to bundle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Welcome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0604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Choose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System Scan</a:t>
            </a:r>
          </a:p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+ App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500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Settings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6948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Select 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2396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Review &amp;</a:t>
            </a:r>
          </a:p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Confirm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F6FE0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2377440"/>
            <a:ext cx="1508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378440" y="2560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3F6FE0"/>
          </a:solidFill>
          <a:ln w="12700">
            <a:solidFill>
              <a:srgbClr val="3F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8672" y="3154680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1E28"/>
                </a:solidFill>
                <a:latin typeface="Segoe UI"/>
              </a:rPr>
              <a:t>Create Bundle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06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Output: migration_bundle.zip — manifest + SHA-256 checksums, app install list, settings, shortcuts, and (optionally) a pre-built Linux restore binary, all self-contained.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00">
                <a:solidFill>
                  <a:srgbClr val="1B1E28"/>
                </a:solidFill>
                <a:latin typeface="Segoe UI"/>
              </a:rPr>
              <a:t>Carried to the Linux machine via USB, network share, or cloud storage.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WORKFLOW — LINUX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One click: restore → verify →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 w="1270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Extract &amp; Restore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Unzip bundle, copy files preserving folder structure, install apps, recreate shortcuts, apply wallpaper/theme.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7830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 w="1270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97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246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Re-hash every restored file (SHA-256) against the manifest — confirms nothing got corrupted.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7830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 w="12700">
            <a:solidFill>
              <a:srgbClr val="1B5E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6974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1E28"/>
                </a:solidFill>
                <a:latin typeface="Segoe UI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Sovereignty Score + JSON/Markdown/HTML report: what succeeded, what needs manual setup, what failed and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50">
                <a:solidFill>
                  <a:srgbClr val="1B1E28"/>
                </a:solidFill>
                <a:latin typeface="Segoe UI"/>
              </a:rPr>
              <a:t>If a step fails partway: “Restart” (full reset) or “Review &amp; Complete Anyway” — nothing fails silently.</a:t>
            </a:r>
          </a:p>
          <a:p>
            <a:pPr>
              <a:spcAft>
                <a:spcPts val="1000"/>
              </a:spcAft>
            </a:pPr>
            <a:r>
              <a:rPr sz="145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50">
                <a:solidFill>
                  <a:srgbClr val="1B1E28"/>
                </a:solidFill>
                <a:latin typeface="Segoe UI"/>
              </a:rPr>
              <a:t>Reset can also undo a previous restore entirely: files, shortcuts, settings files, and (opt-in) installed apps.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DESIGN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Privacy by default, every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Privacy measure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File inventory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Files never leave the local machine; paths redacted in logs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Repology lookup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Only name / version / publisher sent — no file content, ever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AI-assisted ranking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Expert mode only; opt-in, never sends file paths externally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Research metrics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Machine ID anonymised; no personal identifiers recorded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Backup bundle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Stored locally; user chooses and controls the destination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EVIDENCE THE MIGRATION WORKED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Sovereignty Score &amp; multi-format reports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Every restored file is hash-verified (SHA-256) against the original manifest.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Sovereignty Score (0–100%) summarises integrity across the whole restore.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Final report ships in three formats: JSON (machine-readable), Markdown,
and a styled standalone HTML page — openable straight from the app,
even in a brand-new session (no bundle required to re-open it).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Report surfaces what actually happened: files restored, apps installed
vs. failed, settings applied vs. needing manual setup, and any warnings
— not just a pass/fail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REPORT SECTIONS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3774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Key Metrics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Warnings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Timing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Settings &amp; Configuration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App Matches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Shortcuts &amp; Launchers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Restore Details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Activity 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190+ automated tests across four levels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Level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Coverage</a:t>
                      </a:r>
                    </a:p>
                  </a:txBody>
                  <a:tcPr marL="101600" marR="101600" marT="50800" marB="50800" anchor="ctr">
                    <a:solidFill>
                      <a:srgbClr val="1B3A8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Mapping accuracy, scoring, graceful failure handling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Integration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Mode gating, timing, category/confidence propagation, CLI parity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End-to-end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Full mode-selection → scan → recommendation flow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Performance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E28"/>
                          </a:solidFill>
                          <a:latin typeface="Segoe UI"/>
                        </a:rPr>
                        <a:t>Throughput benchmarks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06640" y="173736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WHY IT MATTERS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657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CI tests pass ≠ the real app works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Several real bugs this session were
found only by running the app on
a live Windows + Linux Mint VM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46E7A"/>
                </a:solidFill>
                <a:latin typeface="Segoe UI"/>
              </a:rPr>
              <a:t>→ next slide: what running it for real actually surfaced.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FOUND VIA LIVE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Real bugs only a live VM run exposed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1E28"/>
                </a:solidFill>
                <a:latin typeface="Segoe UI"/>
              </a:rPr>
              <a:t>Atomic install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65100"/>
                </a:solidFill>
                <a:latin typeface="Segoe UI"/>
              </a:rPr>
              <a:t>Problem: One invalid package name failed the ENTIRE apt-get batch — nothing installed, not just the bad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500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5E20"/>
                </a:solidFill>
                <a:latin typeface="Segoe UI"/>
              </a:rPr>
              <a:t>Fix: Batch attempt first, falls back to one-package-at-a-time on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706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1E28"/>
                </a:solidFill>
                <a:latin typeface="Segoe UI"/>
              </a:rPr>
              <a:t>Shortcuts matched the wrong 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181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65100"/>
                </a:solidFill>
                <a:latin typeface="Segoe UI"/>
              </a:rPr>
              <a:t>Problem: Desktop shortcuts were matched against requested apps, not apps that actually installed.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5E20"/>
                </a:solidFill>
                <a:latin typeface="Segoe UI"/>
              </a:rPr>
              <a:t>Fix: Shortcuts now matched only against genuinely-installed apps.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962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1E28"/>
                </a:solidFill>
                <a:latin typeface="Segoe UI"/>
              </a:rPr>
              <a:t>Silent multi-minute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970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65100"/>
                </a:solidFill>
                <a:latin typeface="Segoe UI"/>
              </a:rPr>
              <a:t>Problem: Extraction, file restore, and verification produced zero log output for minutes at a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079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5E20"/>
                </a:solidFill>
                <a:latin typeface="Segoe UI"/>
              </a:rPr>
              <a:t>Fix: Periodic progress logging added to every long-running phase.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2861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1E28"/>
                </a:solidFill>
                <a:latin typeface="Segoe UI"/>
              </a:rPr>
              <a:t>No timeout on elevation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760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65100"/>
                </a:solidFill>
                <a:latin typeface="Segoe UI"/>
              </a:rPr>
              <a:t>Problem: An unanswered pkexec prompt could hang Reset/Install forever.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86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5E20"/>
                </a:solidFill>
                <a:latin typeface="Segoe UI"/>
              </a:rPr>
              <a:t>Fix: 120s timeout per attempt; treated as a normal failure, not a hang.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NEW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Reset now undoes a restore completely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Previously: Reset only deleted the restored files.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Now: files, desktop shortcuts/launchers, the wallpaper file written during
restore — and optionally, the apps that were installed.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App removal is opt-in and off by default: removing a shared dependency
could affect other software — the checkbox makes that risk explicit.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Works from a brand-new app session too — reads entirely from the
already-written restore report, no original bundle required.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3F6FE0"/>
                </a:solidFill>
                <a:latin typeface="Segoe UI"/>
              </a:rPr>
              <a:t>›  </a:t>
            </a:r>
            <a:r>
              <a:rPr sz="1600">
                <a:solidFill>
                  <a:srgbClr val="1B1E28"/>
                </a:solidFill>
                <a:latin typeface="Segoe UI"/>
              </a:rPr>
              <a:t>Live progress reported the same way restore does — visible in the
Activity Log, not just the log file.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Double-click standalone apps, both platforms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206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86"/>
                </a:solidFill>
                <a:latin typeface="Segoe UI"/>
              </a:rPr>
              <a:t>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6FE0"/>
                </a:solidFill>
                <a:latin typeface="Segoe UI"/>
              </a:rPr>
              <a:t>MigrationWizard.exe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80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PyInstaller --onefile build of the full Qt app.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Optionally bakes the Linux binary in directly,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for a true single-file standalone.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783080"/>
            <a:ext cx="51206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86"/>
                </a:solidFill>
                <a:latin typeface="Segoe UI"/>
              </a:rPr>
              <a:t>Linux Mint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F6FE0"/>
                </a:solidFill>
                <a:latin typeface="Segoe UI"/>
              </a:rPr>
              <a:t>MigrationWizard (ELF binary)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Built on the target distro itself — PyInstaller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can't cross-compile. Embedded automatically into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46E7A"/>
                </a:solidFill>
                <a:latin typeface="Segoe UI"/>
              </a:rPr>
              <a:t>every bundle the Windows app creates.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46E7A"/>
                </a:solidFill>
                <a:latin typeface="Segoe UI"/>
              </a:rPr>
              <a:t>Bundle stays self-contained: unzip, run the embedded binary, click Browse → Restore.</a:t>
            </a:r>
          </a:p>
          <a:p>
            <a:pPr algn="l"/>
            <a:r>
              <a:rPr sz="1500" b="0" i="1">
                <a:solidFill>
                  <a:srgbClr val="546E7A"/>
                </a:solidFill>
                <a:latin typeface="Segoe UI"/>
              </a:rPr>
              <a:t>No Python install required on either machine.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What the project actually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6FE0"/>
                </a:solidFill>
                <a:latin typeface="Segoe UI"/>
              </a:rPr>
              <a:t>238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curated Windows→Linux</a:t>
            </a:r>
          </a:p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app mappings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8288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2057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6FE0"/>
                </a:solidFill>
                <a:latin typeface="Segoe UI"/>
              </a:rPr>
              <a:t>190+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880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automated tests</a:t>
            </a:r>
          </a:p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across 4 levels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8288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6FE0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80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guidance modes,</a:t>
            </a:r>
          </a:p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one consistent pipeline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8288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057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3F6FE0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8803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platforms packaged as</a:t>
            </a:r>
          </a:p>
          <a:p>
            <a:pPr algn="ctr"/>
            <a:r>
              <a:rPr sz="1300" b="0" i="0">
                <a:solidFill>
                  <a:srgbClr val="1B1E28"/>
                </a:solidFill>
                <a:latin typeface="Segoe UI"/>
              </a:rPr>
              <a:t>double-click standalone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5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50">
                <a:solidFill>
                  <a:srgbClr val="1B1E28"/>
                </a:solidFill>
                <a:latin typeface="Segoe UI"/>
              </a:rPr>
              <a:t>Functionality: inventory → mapping → file recs → backup → restore → validation →
report all operate end-to-end, verified by running the real two-machine flow.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3F6FE0"/>
                </a:solidFill>
                <a:latin typeface="Segoe UI"/>
              </a:rPr>
              <a:t>›  </a:t>
            </a:r>
            <a:r>
              <a:rPr sz="1550">
                <a:solidFill>
                  <a:srgbClr val="1B1E28"/>
                </a:solidFill>
                <a:latin typeface="Segoe UI"/>
              </a:rPr>
              <a:t>Automation: Guided mode requires zero post-setup decisions; Balanced and
Expert progressively add control without changing the underlying pipeline.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6FE0"/>
                </a:solidFill>
                <a:latin typeface="Segoe U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1E28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3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Segoe UI"/>
              </a:rPr>
              <a:t>KEY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5E2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Dynamic recommendation engine: fuzzy matching +
confidence floors + category propagation + Repology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5E2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One mode policy enforced consistently across
both the Qt wizard and the CLI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5E2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Per-stage execution timing for every pipeline run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5E2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Comprehensive, multi-level automated test coverage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5E2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This session: real-VM-tested reliability fixes +
full undo/reset + cross-platform packaging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1663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100"/>
                </a:solidFill>
                <a:latin typeface="Segoe UI"/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E6510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Real end-to-end test on a physical (non-VM) machine pair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E6510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Live USB write automation (currently a CLI stub)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E6510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Resume/checkpoint support for very large restores,
so a retry doesn't re-extract and re-hash everything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E65100"/>
                </a:solidFill>
                <a:latin typeface="Segoe UI"/>
              </a:rPr>
              <a:t>›  </a:t>
            </a:r>
            <a:r>
              <a:rPr sz="1400">
                <a:solidFill>
                  <a:srgbClr val="1B1E28"/>
                </a:solidFill>
                <a:latin typeface="Segoe UI"/>
              </a:rPr>
              <a:t>Broader Linux distro support beyond Mint/Ubuntu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E6FF"/>
                </a:solidFill>
                <a:latin typeface="Segoe UI"/>
              </a:rP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