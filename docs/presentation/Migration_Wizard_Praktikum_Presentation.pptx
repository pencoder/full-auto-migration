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1"/>
  </p:sldMasterIdLst>
  <p:notesMasterIdLst>
    <p:notesMasterId r:id="rId30"/>
  </p:notesMasterIdLst>
  <p:handoutMasterIdLst>
    <p:handoutMasterId r:id="rId31"/>
  </p:handoutMasterIdLst>
  <p:sldIdLst>
    <p:sldId id="256" r:id="rId2"/>
    <p:sldId id="257" r:id="rId3"/>
    <p:sldId id="258" r:id="rId4"/>
    <p:sldId id="285" r:id="rId5"/>
    <p:sldId id="259" r:id="rId6"/>
    <p:sldId id="260" r:id="rId7"/>
    <p:sldId id="261" r:id="rId8"/>
    <p:sldId id="262" r:id="rId9"/>
    <p:sldId id="286" r:id="rId36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82" r:id="rId22"/>
    <p:sldId id="275" r:id="rId23"/>
    <p:sldId id="283" r:id="rId24"/>
    <p:sldId id="278" r:id="rId25"/>
    <p:sldId id="279" r:id="rId26"/>
    <p:sldId id="284" r:id="rId27"/>
    <p:sldId id="280" r:id="rId28"/>
    <p:sldId id="281" r:id="rId29"/>
  </p:sldIdLst>
  <p:sldSz cx="12192000" cy="6858000"/>
  <p:notesSz cx="6797675" cy="99282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A7F7"/>
    <a:srgbClr val="C5DAF3"/>
    <a:srgbClr val="FFFFFF"/>
    <a:srgbClr val="1F5394"/>
    <a:srgbClr val="FFCBBE"/>
    <a:srgbClr val="B6E1D6"/>
    <a:srgbClr val="6DC4AD"/>
    <a:srgbClr val="FF987D"/>
    <a:srgbClr val="306AAB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93" autoAdjust="0"/>
  </p:normalViewPr>
  <p:slideViewPr>
    <p:cSldViewPr>
      <p:cViewPr varScale="1">
        <p:scale>
          <a:sx n="76" d="100"/>
          <a:sy n="76" d="100"/>
        </p:scale>
        <p:origin x="134" y="3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4" d="100"/>
          <a:sy n="94" d="100"/>
        </p:scale>
        <p:origin x="3702" y="7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The preference-behaviour gap (Wire/StatCounter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Rate open-source
critical</c:v>
                </c:pt>
                <c:pt idx="1">
                  <c:v>Cite reducing
US-vendor dep.</c:v>
                </c:pt>
                <c:pt idx="2">
                  <c:v>Still run
Windows (EU)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63.2</c:v>
                </c:pt>
                <c:pt idx="1">
                  <c:v>47.4</c:v>
                </c:pt>
                <c:pt idx="2">
                  <c:v>67.75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CD8-4974-B678-59EC95B36E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This codebase's network calls — counted, not claimed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Outbound calls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Repology
(opt-in)</c:v>
                </c:pt>
                <c:pt idx="1">
                  <c:v>Telemetry</c:v>
                </c:pt>
                <c:pt idx="2">
                  <c:v>Ads/
tracking</c:v>
                </c:pt>
                <c:pt idx="3">
                  <c:v>Remote
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3BA-4D68-A66B-6498899D612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 functions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Unit</c:v>
                </c:pt>
                <c:pt idx="1">
                  <c:v>Integ.</c:v>
                </c:pt>
                <c:pt idx="2">
                  <c:v>Perf.</c:v>
                </c:pt>
                <c:pt idx="3">
                  <c:v>E2E</c:v>
                </c:pt>
                <c:pt idx="4">
                  <c:v>UI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68</c:v>
                </c:pt>
                <c:pt idx="2">
                  <c:v>18</c:v>
                </c:pt>
                <c:pt idx="3">
                  <c:v>15</c:v>
                </c:pt>
                <c:pt idx="4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1D3-4B7C-8883-2AF9F4DBB9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App mapping table growth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App mappings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Before</c:v>
                </c:pt>
                <c:pt idx="1">
                  <c:v>Now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149</c:v>
                </c:pt>
                <c:pt idx="1">
                  <c:v>238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30-492A-AE73-A0CA52B56C8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fld id="{66D17C0D-3159-464E-A332-7C83698A29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4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6125"/>
            <a:ext cx="6615113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Klicken Sie, um die Formate des Vorlagentextes zu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fld id="{412C2970-D838-4E16-9F7E-5362C8D6E63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2214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The proof of concept's apt-get install is one atomic batch call — no per-package fallback, no timeout,</a:t>
            </a:r>
          </a:p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failures silently logged and ignored. Same defect existed here until this session's fix.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6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Decreasing automation, increasing manual control, top to bottom.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6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Verified by identity, not output: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Qt.resolve_app_recommendation_strategy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is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CLI.resolve_app_recommendation_strategy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— both call paths hold the same function object, so a policy change can't silently apply to only one interface.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6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New capabilities with no proof-of-concept equivalent: settings/wallpaper migration, desktop shortcuts, full reset/undo, completeness scoring.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64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→ migration_bundle.zip (manifest + SHA-256, apps, settings, optional Linux binary)</a:t>
            </a:r>
          </a:p>
          <a:p>
            <a:endParaRPr lang="en-US" dirty="0"/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Restore, verify (SHA-256), and report</a:t>
            </a:r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all happen within that one click.</a:t>
            </a:r>
          </a:p>
          <a:p>
            <a:endParaRPr lang="en-US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Failed step? Restart or Review &amp; Complete Anyway. Reset undoes files, shortcuts, the wallpaper file, and (opt-in) apps.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643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wmf"/><Relationship Id="rId4" Type="http://schemas.openxmlformats.org/officeDocument/2006/relationships/image" Target="../media/image9.jpe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488951" y="1960563"/>
            <a:ext cx="11214100" cy="1828800"/>
          </a:xfrm>
        </p:spPr>
        <p:txBody>
          <a:bodyPr/>
          <a:lstStyle>
            <a:lvl1pPr algn="ctr">
              <a:defRPr sz="4000">
                <a:latin typeface="+mn-lt"/>
              </a:defRPr>
            </a:lvl1pPr>
          </a:lstStyle>
          <a:p>
            <a:r>
              <a:rPr lang="de-DE"/>
              <a:t>Titelmasterformat durch Klicken bearbeiten</a:t>
            </a:r>
            <a:endParaRPr lang="en-GB" dirty="0"/>
          </a:p>
        </p:txBody>
      </p:sp>
      <p:sp>
        <p:nvSpPr>
          <p:cNvPr id="181253" name="Rectangle 5"/>
          <p:cNvSpPr>
            <a:spLocks noGrp="1" noChangeArrowheads="1"/>
          </p:cNvSpPr>
          <p:nvPr>
            <p:ph type="subTitle" sz="quarter" idx="1" hasCustomPrompt="1"/>
          </p:nvPr>
        </p:nvSpPr>
        <p:spPr>
          <a:xfrm>
            <a:off x="1828800" y="4149725"/>
            <a:ext cx="8534400" cy="406400"/>
          </a:xfrm>
        </p:spPr>
        <p:txBody>
          <a:bodyPr lIns="91440" tIns="45720" rIns="91440" bIns="45720"/>
          <a:lstStyle>
            <a:lvl1pPr marL="0" indent="0" algn="ctr">
              <a:buFont typeface="Wingdings 3" pitchFamily="18" charset="2"/>
              <a:buNone/>
              <a:defRPr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author name</a:t>
            </a:r>
            <a:endParaRPr lang="de-DE" dirty="0"/>
          </a:p>
        </p:txBody>
      </p:sp>
      <p:sp>
        <p:nvSpPr>
          <p:cNvPr id="181255" name="Text Box 7"/>
          <p:cNvSpPr txBox="1">
            <a:spLocks noChangeArrowheads="1"/>
          </p:cNvSpPr>
          <p:nvPr/>
        </p:nvSpPr>
        <p:spPr bwMode="auto">
          <a:xfrm>
            <a:off x="1775885" y="4616301"/>
            <a:ext cx="8640233" cy="3968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de-DE" sz="2000" i="1" dirty="0">
                <a:solidFill>
                  <a:srgbClr val="777777"/>
                </a:solidFill>
                <a:latin typeface="Arial" charset="0"/>
              </a:rPr>
              <a:t>comnet.informatik.uni-wuerzburg.de</a:t>
            </a:r>
          </a:p>
        </p:txBody>
      </p:sp>
      <p:grpSp>
        <p:nvGrpSpPr>
          <p:cNvPr id="5" name="Gruppieren 4"/>
          <p:cNvGrpSpPr/>
          <p:nvPr userDrawn="1"/>
        </p:nvGrpSpPr>
        <p:grpSpPr>
          <a:xfrm>
            <a:off x="0" y="431800"/>
            <a:ext cx="12191999" cy="898525"/>
            <a:chOff x="0" y="431800"/>
            <a:chExt cx="12191999" cy="898525"/>
          </a:xfrm>
        </p:grpSpPr>
        <p:sp>
          <p:nvSpPr>
            <p:cNvPr id="2" name="Rechteck 1"/>
            <p:cNvSpPr/>
            <p:nvPr userDrawn="1"/>
          </p:nvSpPr>
          <p:spPr bwMode="auto">
            <a:xfrm>
              <a:off x="9768408" y="431800"/>
              <a:ext cx="2423591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39" name="Picture 9" descr="unilogo4c"/>
            <p:cNvPicPr>
              <a:picLocks noChangeAspect="1" noChangeArrowheads="1"/>
            </p:cNvPicPr>
            <p:nvPr userDrawn="1"/>
          </p:nvPicPr>
          <p:blipFill>
            <a:blip r:embed="rId2" cstate="print"/>
            <a:srcRect r="20525"/>
            <a:stretch>
              <a:fillRect/>
            </a:stretch>
          </p:blipFill>
          <p:spPr bwMode="auto">
            <a:xfrm>
              <a:off x="624408" y="431800"/>
              <a:ext cx="9144000" cy="898525"/>
            </a:xfrm>
            <a:prstGeom prst="rect">
              <a:avLst/>
            </a:prstGeom>
            <a:noFill/>
          </p:spPr>
        </p:pic>
        <p:sp>
          <p:nvSpPr>
            <p:cNvPr id="181258" name="Rectangle 10"/>
            <p:cNvSpPr>
              <a:spLocks noChangeArrowheads="1"/>
            </p:cNvSpPr>
            <p:nvPr/>
          </p:nvSpPr>
          <p:spPr bwMode="auto">
            <a:xfrm>
              <a:off x="4968552" y="500063"/>
              <a:ext cx="6096000" cy="738664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400" b="0" dirty="0" err="1">
                  <a:latin typeface="Arial" charset="0"/>
                </a:rPr>
                <a:t>Institut</a:t>
              </a:r>
              <a:r>
                <a:rPr lang="en-US" sz="1400" b="0" dirty="0">
                  <a:latin typeface="Arial" charset="0"/>
                </a:rPr>
                <a:t> f</a:t>
              </a:r>
              <a:r>
                <a:rPr lang="de-DE" sz="1400" b="0" dirty="0" err="1">
                  <a:latin typeface="Arial" charset="0"/>
                </a:rPr>
                <a:t>ür</a:t>
              </a:r>
              <a:r>
                <a:rPr lang="de-DE" sz="1400" b="0" dirty="0">
                  <a:latin typeface="Arial" charset="0"/>
                </a:rPr>
                <a:t> Informatik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 err="1">
                  <a:latin typeface="Arial" charset="0"/>
                </a:rPr>
                <a:t>Lehrstuhl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für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Kommunikationsnetze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>
                  <a:latin typeface="Arial" charset="0"/>
                </a:rPr>
                <a:t>Prof. Dr.</a:t>
              </a:r>
              <a:r>
                <a:rPr lang="en-US" sz="1400" b="0" baseline="0" dirty="0">
                  <a:latin typeface="Arial" charset="0"/>
                </a:rPr>
                <a:t> T</a:t>
              </a:r>
              <a:r>
                <a:rPr lang="en-US" sz="1400" b="0" dirty="0">
                  <a:latin typeface="Arial" charset="0"/>
                </a:rPr>
                <a:t>. </a:t>
              </a:r>
              <a:r>
                <a:rPr lang="en-US" sz="1400" b="0" dirty="0" err="1">
                  <a:latin typeface="Arial" charset="0"/>
                </a:rPr>
                <a:t>Hoßfeld</a:t>
              </a:r>
              <a:endParaRPr lang="en-US" sz="1400" b="0" dirty="0">
                <a:latin typeface="Arial" charset="0"/>
              </a:endParaRPr>
            </a:p>
          </p:txBody>
        </p:sp>
        <p:pic>
          <p:nvPicPr>
            <p:cNvPr id="23" name="Picture 11"/>
            <p:cNvPicPr>
              <a:picLocks noChangeArrowheads="1"/>
            </p:cNvPicPr>
            <p:nvPr userDrawn="1"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1170219" y="509826"/>
              <a:ext cx="700088" cy="719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63500" dir="3187806" algn="ctr" rotWithShape="0">
                <a:schemeClr val="bg2">
                  <a:alpha val="50000"/>
                </a:schemeClr>
              </a:outerShdw>
            </a:effectLst>
          </p:spPr>
        </p:pic>
        <p:sp>
          <p:nvSpPr>
            <p:cNvPr id="40" name="Rechteck 39"/>
            <p:cNvSpPr/>
            <p:nvPr userDrawn="1"/>
          </p:nvSpPr>
          <p:spPr bwMode="auto">
            <a:xfrm>
              <a:off x="0" y="431800"/>
              <a:ext cx="2855640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41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>
              <a:clrChange>
                <a:clrFrom>
                  <a:srgbClr val="FFFEFD"/>
                </a:clrFrom>
                <a:clrTo>
                  <a:srgbClr val="FFFEFD">
                    <a:alpha val="0"/>
                  </a:srgbClr>
                </a:clrTo>
              </a:clrChange>
            </a:blip>
            <a:srcRect l="44640"/>
            <a:stretch/>
          </p:blipFill>
          <p:spPr>
            <a:xfrm>
              <a:off x="911424" y="431800"/>
              <a:ext cx="1130294" cy="898525"/>
            </a:xfrm>
            <a:prstGeom prst="rect">
              <a:avLst/>
            </a:prstGeom>
          </p:spPr>
        </p:pic>
        <p:pic>
          <p:nvPicPr>
            <p:cNvPr id="42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/>
            <a:srcRect r="55678"/>
            <a:stretch/>
          </p:blipFill>
          <p:spPr>
            <a:xfrm>
              <a:off x="0" y="431800"/>
              <a:ext cx="904920" cy="898524"/>
            </a:xfrm>
            <a:prstGeom prst="rect">
              <a:avLst/>
            </a:prstGeom>
          </p:spPr>
        </p:pic>
      </p:grp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63D79"/>
              </a:buClr>
              <a:defRPr/>
            </a:lvl1pPr>
            <a:lvl2pPr>
              <a:buClr>
                <a:srgbClr val="063D79"/>
              </a:buClr>
              <a:defRPr/>
            </a:lvl2pPr>
            <a:lvl3pPr>
              <a:buClr>
                <a:srgbClr val="063D79"/>
              </a:buClr>
              <a:defRPr/>
            </a:lvl3pPr>
            <a:lvl4pPr>
              <a:buClr>
                <a:srgbClr val="063D79"/>
              </a:buClr>
              <a:defRPr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17084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4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639616" y="1052736"/>
            <a:ext cx="2664296" cy="100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600" b="0" dirty="0" err="1">
              <a:latin typeface="+mn-lt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96E6EF-3D8E-4957-A439-5D2280CE1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468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B828CE34-CC67-4E17-A5B3-FF421A963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DE93AAB1-B7D0-42C5-8489-BBD1FAE5F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A1004EE9-71F7-49C3-AEC6-27984ECF0994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arbsch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Farbschema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43920" y="1196752"/>
            <a:ext cx="8208912" cy="4879878"/>
          </a:xfrm>
          <a:prstGeom prst="rect">
            <a:avLst/>
          </a:prstGeom>
        </p:spPr>
      </p:pic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7FE386-66AB-4DE5-8F99-809013B25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93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DD5045F2-FFB1-4BE6-A82D-044410B8000A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FEFF89-82C5-4C87-9183-1A0960BC685D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2FEC48EB-43B2-4181-B567-7B6D76C21DEE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00FEDB-E43B-402C-9059-9FCEEF9AAB25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12200" y="30164"/>
            <a:ext cx="2667000" cy="5989637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11200" y="30164"/>
            <a:ext cx="7797800" cy="5989637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ED38E1-331D-45BD-909D-93E0D8906D71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wmf"/><Relationship Id="rId20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668" y="30163"/>
            <a:ext cx="10657417" cy="646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um das </a:t>
            </a:r>
            <a:r>
              <a:rPr lang="en-GB" dirty="0" err="1"/>
              <a:t>Titelformat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914400"/>
            <a:ext cx="10668000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Sie</a:t>
            </a:r>
            <a:r>
              <a:rPr lang="en-GB" dirty="0"/>
              <a:t>, um die </a:t>
            </a:r>
            <a:r>
              <a:rPr lang="en-GB" dirty="0" err="1"/>
              <a:t>Formate</a:t>
            </a:r>
            <a:r>
              <a:rPr lang="en-GB" dirty="0"/>
              <a:t> des </a:t>
            </a:r>
            <a:r>
              <a:rPr lang="en-GB" dirty="0" err="1"/>
              <a:t>Vorlagentextes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  <p:pic>
        <p:nvPicPr>
          <p:cNvPr id="17" name="Picture 18"/>
          <p:cNvPicPr>
            <a:picLocks noChangeArrowheads="1"/>
          </p:cNvPicPr>
          <p:nvPr userDrawn="1"/>
        </p:nvPicPr>
        <p:blipFill>
          <a:blip r:embed="rId19" cstate="print"/>
          <a:srcRect/>
          <a:stretch>
            <a:fillRect/>
          </a:stretch>
        </p:blipFill>
        <p:spPr bwMode="auto">
          <a:xfrm>
            <a:off x="11797333" y="6497655"/>
            <a:ext cx="275331" cy="27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63500" dir="3187806" algn="ctr" rotWithShape="0">
              <a:srgbClr val="C0C0C0">
                <a:alpha val="50000"/>
              </a:srgbClr>
            </a:outerShdw>
          </a:effectLst>
        </p:spPr>
      </p:pic>
      <p:sp>
        <p:nvSpPr>
          <p:cNvPr id="18" name="Rectangle 25"/>
          <p:cNvSpPr>
            <a:spLocks noChangeArrowheads="1"/>
          </p:cNvSpPr>
          <p:nvPr userDrawn="1"/>
        </p:nvSpPr>
        <p:spPr bwMode="auto">
          <a:xfrm>
            <a:off x="9494300" y="6523182"/>
            <a:ext cx="1676400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000" b="0" i="1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cs typeface="Segoe UI" pitchFamily="34" charset="0"/>
              </a:rPr>
              <a:t>Japhet Kofi Appau Arthur</a:t>
            </a:r>
          </a:p>
        </p:txBody>
      </p:sp>
      <p:pic>
        <p:nvPicPr>
          <p:cNvPr id="19" name="Grafik 18"/>
          <p:cNvPicPr>
            <a:picLocks noChangeAspect="1"/>
          </p:cNvPicPr>
          <p:nvPr userDrawn="1"/>
        </p:nvPicPr>
        <p:blipFill rotWithShape="1"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822"/>
          <a:stretch/>
        </p:blipFill>
        <p:spPr>
          <a:xfrm>
            <a:off x="0" y="6468810"/>
            <a:ext cx="391865" cy="389190"/>
          </a:xfrm>
          <a:prstGeom prst="rect">
            <a:avLst/>
          </a:prstGeom>
        </p:spPr>
      </p:pic>
      <p:sp>
        <p:nvSpPr>
          <p:cNvPr id="2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20498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63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80000"/>
        <a:buFont typeface="Wingdings 3" pitchFamily="18" charset="2"/>
        <a:buChar char="u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100000"/>
        <a:buFont typeface="Wingdings" pitchFamily="2" charset="2"/>
        <a:buChar char="§"/>
        <a:defRPr sz="1800">
          <a:solidFill>
            <a:srgbClr val="4D4D4D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–"/>
        <a:defRPr sz="1600">
          <a:solidFill>
            <a:srgbClr val="4D4D4D"/>
          </a:solidFill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•"/>
        <a:defRPr sz="1600">
          <a:solidFill>
            <a:srgbClr val="4D4D4D"/>
          </a:solidFill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 "/>
        <a:defRPr sz="1600">
          <a:solidFill>
            <a:srgbClr val="4D4D4D"/>
          </a:solidFill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https://www.thebusinessresearchcompany.com/report/telemetry-global-market-report" TargetMode="External"/><Relationship Id="rId3" Type="http://schemas.openxmlformats.org/officeDocument/2006/relationships/image" Target="../media/image11.web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4.xml"/><Relationship Id="rId3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GH" dirty="0"/>
              <a:t>Fully Automated Migration Framework from Windows 11 to Linux Mint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dirty="0"/>
              <a:t>Japhet Kofi Appau Arthur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176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1" dirty="0">
                <a:solidFill>
                  <a:srgbClr val="3F3F3F"/>
                </a:solidFill>
                <a:latin typeface="Segoe UI"/>
              </a:rPr>
              <a:t>Meaningful control over digital infrastructure, data flows, and computational processes.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F3F3F"/>
                </a:solidFill>
                <a:latin typeface="Segoe UI"/>
              </a:rPr>
              <a:t>— </a:t>
            </a:r>
            <a:r>
              <a:rPr sz="1400" b="0" i="0" dirty="0" err="1">
                <a:solidFill>
                  <a:srgbClr val="3F3F3F"/>
                </a:solidFill>
                <a:latin typeface="Segoe UI"/>
              </a:rPr>
              <a:t>Floridi</a:t>
            </a:r>
            <a:r>
              <a:rPr sz="1400" b="0" i="0" dirty="0">
                <a:solidFill>
                  <a:srgbClr val="3F3F3F"/>
                </a:solidFill>
                <a:latin typeface="Segoe UI"/>
              </a:rPr>
              <a:t> (2020); Pohle &amp; Thiel (2020)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 dirty="0">
                <a:solidFill>
                  <a:srgbClr val="063D79"/>
                </a:solidFill>
                <a:latin typeface="Segoe UI"/>
              </a:rPr>
              <a:t>Windows 11 cannot be fully audited or constrained — this project asks whether a migration tool can close that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7BC6D-C7CF-6F36-3DBF-53E3BF740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586D1-78A5-A729-A38D-F8E62DFEFF74}"/>
              </a:ext>
            </a:extLst>
          </p:cNvPr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pic>
        <p:nvPicPr>
          <p:cNvPr id="8" name="Picture 7">
            <a:hlinkClick r:id="rId2"/>
            <a:extLst>
              <a:ext uri="{FF2B5EF4-FFF2-40B4-BE49-F238E27FC236}">
                <a16:creationId xmlns:a16="http://schemas.microsoft.com/office/drawing/2014/main" id="{7A5F531C-D97F-DF06-0F4C-3B062BBB657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652" y="905526"/>
            <a:ext cx="6264696" cy="46985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FCB84A-84A4-3B84-D8FC-E18C6A18F7E9}"/>
              </a:ext>
            </a:extLst>
          </p:cNvPr>
          <p:cNvSpPr txBox="1"/>
          <p:nvPr/>
        </p:nvSpPr>
        <p:spPr>
          <a:xfrm>
            <a:off x="2855640" y="5373215"/>
            <a:ext cx="6336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H" sz="1200" dirty="0">
                <a:solidFill>
                  <a:schemeClr val="bg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https://www.thebusinessresearchcompany.com/report/telemetry-global-market-report</a:t>
            </a:r>
            <a:endParaRPr lang="en-GH" sz="1200" b="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9194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Sovereignty, measured — not claimed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456CAE6A-6CCF-E0EB-78CC-F9F15CA78A65}"/>
              </a:ext>
            </a:extLst>
          </p:cNvPr>
          <p:cNvGrpSpPr/>
          <p:nvPr/>
        </p:nvGrpSpPr>
        <p:grpSpPr>
          <a:xfrm>
            <a:off x="708660" y="7731184"/>
            <a:ext cx="10652760" cy="594360"/>
            <a:chOff x="731520" y="5669280"/>
            <a:chExt cx="10652760" cy="594360"/>
          </a:xfrm>
        </p:grpSpPr>
        <p:sp>
          <p:nvSpPr>
            <p:cNvPr id="8" name="Rectangle 7"/>
            <p:cNvSpPr/>
            <p:nvPr/>
          </p:nvSpPr>
          <p:spPr>
            <a:xfrm>
              <a:off x="731520" y="5669280"/>
              <a:ext cx="45720" cy="54864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60120" y="5760720"/>
              <a:ext cx="1042416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sovereignty_score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=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integrity_score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+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openness_bonus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 —  every restore reports one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Extending </a:t>
            </a:r>
            <a:r>
              <a:rPr lang="en-US" sz="2700" b="1" i="0" dirty="0">
                <a:solidFill>
                  <a:srgbClr val="1A1A1A"/>
                </a:solidFill>
                <a:latin typeface="Segoe UI"/>
              </a:rPr>
              <a:t>semi-auto-migration POC </a:t>
            </a:r>
            <a:r>
              <a:rPr sz="2700" b="1" i="0" dirty="0">
                <a:solidFill>
                  <a:srgbClr val="1A1A1A"/>
                </a:solidFill>
                <a:latin typeface="Segoe UI"/>
              </a:rPr>
              <a:t>into a working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CF83287-F063-E3B5-7FFD-A84A80B7FA25}"/>
              </a:ext>
            </a:extLst>
          </p:cNvPr>
          <p:cNvGrpSpPr/>
          <p:nvPr/>
        </p:nvGrpSpPr>
        <p:grpSpPr>
          <a:xfrm>
            <a:off x="731520" y="1691640"/>
            <a:ext cx="10698480" cy="1371600"/>
            <a:chOff x="731520" y="1691640"/>
            <a:chExt cx="10698480" cy="1371600"/>
          </a:xfrm>
        </p:grpSpPr>
        <p:sp>
          <p:nvSpPr>
            <p:cNvPr id="5" name="Rounded Rectangle 4"/>
            <p:cNvSpPr/>
            <p:nvPr/>
          </p:nvSpPr>
          <p:spPr>
            <a:xfrm>
              <a:off x="731520" y="1691640"/>
              <a:ext cx="10698480" cy="13716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2700">
              <a:solidFill>
                <a:srgbClr val="D8DA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828800"/>
              <a:ext cx="101498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>
                  <a:solidFill>
                    <a:srgbClr val="063D79"/>
                  </a:solidFill>
                  <a:latin typeface="Segoe UI"/>
                </a:rPr>
                <a:t>TERM PAPER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2148840"/>
              <a:ext cx="101498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800" b="1" i="0">
                  <a:solidFill>
                    <a:srgbClr val="1A1A1A"/>
                  </a:solidFill>
                  <a:latin typeface="Segoe UI"/>
                </a:rPr>
                <a:t>“Digital Sovereignty Through Semi-Automated Migration from Windows to Linux”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05840" y="2670048"/>
              <a:ext cx="101498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1">
                  <a:solidFill>
                    <a:srgbClr val="3F3F3F"/>
                  </a:solidFill>
                  <a:latin typeface="Segoe UI"/>
                </a:rPr>
                <a:t>Japhet Arthur — Julius-Maximilians-Universität Würzburg, Lehrstuhl für Kommunikationsnetze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B399C4-B9B4-4590-A997-E7F30C6D11BD}"/>
              </a:ext>
            </a:extLst>
          </p:cNvPr>
          <p:cNvGrpSpPr/>
          <p:nvPr/>
        </p:nvGrpSpPr>
        <p:grpSpPr>
          <a:xfrm>
            <a:off x="731520" y="3337560"/>
            <a:ext cx="10698480" cy="1097280"/>
            <a:chOff x="731520" y="3337560"/>
            <a:chExt cx="10698480" cy="1097280"/>
          </a:xfrm>
        </p:grpSpPr>
        <p:sp>
          <p:nvSpPr>
            <p:cNvPr id="9" name="TextBox 8"/>
            <p:cNvSpPr txBox="1"/>
            <p:nvPr/>
          </p:nvSpPr>
          <p:spPr>
            <a:xfrm>
              <a:off x="731520" y="3337560"/>
              <a:ext cx="10698480" cy="548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063D79"/>
                  </a:solidFill>
                  <a:latin typeface="Segoe UI"/>
                </a:rPr>
                <a:t>RESEARCH QUESTION IT ASKED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3657600"/>
              <a:ext cx="10698480" cy="777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How can semi-automated migration frameworks reduce technical barriers to OS-level</a:t>
              </a:r>
            </a:p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sovereignty restoration while maintaining user control, data integrity, and workflow continuity?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DAFAE79-2A7C-08A9-8C2C-0C604CF645D3}"/>
              </a:ext>
            </a:extLst>
          </p:cNvPr>
          <p:cNvGrpSpPr/>
          <p:nvPr/>
        </p:nvGrpSpPr>
        <p:grpSpPr>
          <a:xfrm>
            <a:off x="731520" y="4663440"/>
            <a:ext cx="10607040" cy="1508760"/>
            <a:chOff x="731520" y="4663440"/>
            <a:chExt cx="10607040" cy="1508760"/>
          </a:xfrm>
        </p:grpSpPr>
        <p:sp>
          <p:nvSpPr>
            <p:cNvPr id="11" name="Rectangle 10"/>
            <p:cNvSpPr/>
            <p:nvPr/>
          </p:nvSpPr>
          <p:spPr>
            <a:xfrm>
              <a:off x="731520" y="4663440"/>
              <a:ext cx="45720" cy="1508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05840" y="466344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B97000"/>
                  </a:solidFill>
                  <a:latin typeface="Segoe UI"/>
                </a:rPr>
                <a:t>WHAT IT BUILT — AND STATED AS LIMITATIONS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5840" y="498348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3F3F3F"/>
                  </a:solidFill>
                  <a:latin typeface="Segoe UI"/>
                </a:rPr>
                <a:t>A working 5-phase pipeline (Assess → Review → Prepare → Migrate → Verify).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5394960"/>
              <a:ext cx="1033272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sz="2100" b="1" i="1" dirty="0">
                  <a:solidFill>
                    <a:srgbClr val="1A1A1A"/>
                  </a:solidFill>
                  <a:latin typeface="Segoe UI"/>
                </a:rPr>
                <a:t>“…heuristic matching… not guaranteeing feature parity.”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The proof of concept this project actually started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3783" y="5833872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98923B1-2B40-E716-E03E-295734453EE3}"/>
              </a:ext>
            </a:extLst>
          </p:cNvPr>
          <p:cNvGrpSpPr/>
          <p:nvPr/>
        </p:nvGrpSpPr>
        <p:grpSpPr>
          <a:xfrm>
            <a:off x="932868" y="1846580"/>
            <a:ext cx="10332720" cy="2040128"/>
            <a:chOff x="932868" y="1846580"/>
            <a:chExt cx="10332720" cy="2040128"/>
          </a:xfrm>
        </p:grpSpPr>
        <p:sp>
          <p:nvSpPr>
            <p:cNvPr id="6" name="Oval 5"/>
            <p:cNvSpPr/>
            <p:nvPr/>
          </p:nvSpPr>
          <p:spPr>
            <a:xfrm>
              <a:off x="16986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🖥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328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Tkinter GUI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328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no Qt, no CLI parity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claim made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3275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17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25 mappings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617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substring match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only, 1 stage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69564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🧪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1906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0 tests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1906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no automated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regression coverage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5853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🐧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195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Linux-only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195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packaging; one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22.5MB binary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4717F43-43C3-42E9-8A77-615546EDD97D}"/>
              </a:ext>
            </a:extLst>
          </p:cNvPr>
          <p:cNvGrpSpPr/>
          <p:nvPr/>
        </p:nvGrpSpPr>
        <p:grpSpPr>
          <a:xfrm>
            <a:off x="548640" y="7533456"/>
            <a:ext cx="10652760" cy="1188720"/>
            <a:chOff x="731520" y="4343400"/>
            <a:chExt cx="10652760" cy="1188720"/>
          </a:xfrm>
        </p:grpSpPr>
        <p:sp>
          <p:nvSpPr>
            <p:cNvPr id="18" name="Rectangle 17"/>
            <p:cNvSpPr/>
            <p:nvPr/>
          </p:nvSpPr>
          <p:spPr>
            <a:xfrm>
              <a:off x="731520" y="4343400"/>
              <a:ext cx="45720" cy="118872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60120" y="4343400"/>
              <a:ext cx="104241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 dirty="0">
                  <a:solidFill>
                    <a:srgbClr val="B97000"/>
                  </a:solidFill>
                  <a:latin typeface="Segoe UI"/>
                </a:rPr>
                <a:t>INHERITED DEFECT, FOUND AND FIXED THIS SESSION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4663440"/>
              <a:ext cx="1042416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The proof of concept's apt-get install is one atomic batch call — no per-package fallback, no timeout,</a:t>
              </a:r>
            </a:p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failures silently logged and ignored. Same defect existed here until this session's fix.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idea, a different UI 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c_vs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554480"/>
            <a:ext cx="11064240" cy="3902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8437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running live, side by side — not a description of the difference.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pipeline, three levels of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rapezoid 4"/>
          <p:cNvSpPr/>
          <p:nvPr/>
        </p:nvSpPr>
        <p:spPr>
          <a:xfrm>
            <a:off x="960120" y="1828800"/>
            <a:ext cx="5943600" cy="1051560"/>
          </a:xfrm>
          <a:prstGeom prst="trapezoid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Guided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214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Zero decisions after mode pick</a:t>
            </a:r>
          </a:p>
        </p:txBody>
      </p:sp>
      <p:sp>
        <p:nvSpPr>
          <p:cNvPr id="7" name="Trapezoid 6"/>
          <p:cNvSpPr/>
          <p:nvPr/>
        </p:nvSpPr>
        <p:spPr>
          <a:xfrm>
            <a:off x="1783080" y="2990088"/>
            <a:ext cx="4297680" cy="1051560"/>
          </a:xfrm>
          <a:prstGeom prst="trapezoid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Balanced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8269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file type selection</a:t>
            </a:r>
          </a:p>
        </p:txBody>
      </p:sp>
      <p:sp>
        <p:nvSpPr>
          <p:cNvPr id="9" name="Trapezoid 8"/>
          <p:cNvSpPr/>
          <p:nvPr/>
        </p:nvSpPr>
        <p:spPr>
          <a:xfrm>
            <a:off x="2606040" y="4151376"/>
            <a:ext cx="2651760" cy="1051560"/>
          </a:xfrm>
          <a:prstGeom prst="trapezoid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Expert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44398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overrides + online verification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87AB91A-F7F6-3E79-09B3-AD5B54C91497}"/>
              </a:ext>
            </a:extLst>
          </p:cNvPr>
          <p:cNvGrpSpPr/>
          <p:nvPr/>
        </p:nvGrpSpPr>
        <p:grpSpPr>
          <a:xfrm>
            <a:off x="822960" y="7815768"/>
            <a:ext cx="10469880" cy="365760"/>
            <a:chOff x="822960" y="5806440"/>
            <a:chExt cx="10469880" cy="365760"/>
          </a:xfrm>
        </p:grpSpPr>
        <p:sp>
          <p:nvSpPr>
            <p:cNvPr id="12" name="Rectangle 11"/>
            <p:cNvSpPr/>
            <p:nvPr/>
          </p:nvSpPr>
          <p:spPr>
            <a:xfrm>
              <a:off x="822960" y="5806440"/>
              <a:ext cx="45720" cy="365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51560" y="5806440"/>
              <a:ext cx="1024128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0" i="0" dirty="0">
                  <a:solidFill>
                    <a:srgbClr val="1A1A1A"/>
                  </a:solidFill>
                  <a:latin typeface="Segoe UI"/>
                </a:rPr>
                <a:t>Only Expert mode touches the network — only to verify a package already chosen, never to find it.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machines, four clean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ABBE9AB-BB80-AD91-6CF9-14DDFC969E1C}"/>
              </a:ext>
            </a:extLst>
          </p:cNvPr>
          <p:cNvGrpSpPr/>
          <p:nvPr/>
        </p:nvGrpSpPr>
        <p:grpSpPr>
          <a:xfrm>
            <a:off x="548640" y="1737360"/>
            <a:ext cx="4892040" cy="914400"/>
            <a:chOff x="548640" y="1737360"/>
            <a:chExt cx="4892040" cy="914400"/>
          </a:xfrm>
        </p:grpSpPr>
        <p:sp>
          <p:nvSpPr>
            <p:cNvPr id="5" name="Rectangle 4"/>
            <p:cNvSpPr/>
            <p:nvPr/>
          </p:nvSpPr>
          <p:spPr>
            <a:xfrm>
              <a:off x="548640" y="1737360"/>
              <a:ext cx="45720" cy="91440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737360"/>
              <a:ext cx="46634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1 — Prepare (Windows)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2148840"/>
              <a:ext cx="46634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Scan → map apps → pack a bundle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203FB05-56D3-4B8B-CB89-9326F74D9AB3}"/>
              </a:ext>
            </a:extLst>
          </p:cNvPr>
          <p:cNvGrpSpPr/>
          <p:nvPr/>
        </p:nvGrpSpPr>
        <p:grpSpPr>
          <a:xfrm>
            <a:off x="6035040" y="1737360"/>
            <a:ext cx="5257800" cy="914400"/>
            <a:chOff x="6035040" y="1737360"/>
            <a:chExt cx="5257800" cy="914400"/>
          </a:xfrm>
        </p:grpSpPr>
        <p:sp>
          <p:nvSpPr>
            <p:cNvPr id="8" name="Rectangle 7"/>
            <p:cNvSpPr/>
            <p:nvPr/>
          </p:nvSpPr>
          <p:spPr>
            <a:xfrm>
              <a:off x="6035040" y="1737360"/>
              <a:ext cx="45720" cy="914400"/>
            </a:xfrm>
            <a:prstGeom prst="rect">
              <a:avLst/>
            </a:prstGeom>
            <a:solidFill>
              <a:srgbClr val="063D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63640" y="1737360"/>
              <a:ext cx="502920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2 — Restore (Linux Mint)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63640" y="2148840"/>
              <a:ext cx="50292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Unzip → restore → verify → report</a:t>
              </a: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4008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439"/>
                </a:solidFill>
                <a:latin typeface="Segoe UI"/>
              </a:rPr>
              <a:t>inventory/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4612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472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analysis/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8076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97000"/>
                </a:solidFill>
                <a:latin typeface="Segoe UI"/>
              </a:rPr>
              <a:t>services/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14400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qt_ui/ + cli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4709160"/>
            <a:ext cx="9601200" cy="88622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489204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63D79"/>
                </a:solidFill>
                <a:latin typeface="Segoe UI"/>
              </a:rPr>
              <a:t>17,467 LOC (</a:t>
            </a:r>
            <a:r>
              <a:rPr sz="1400" b="1" i="0" dirty="0" err="1">
                <a:solidFill>
                  <a:srgbClr val="063D79"/>
                </a:solidFill>
                <a:latin typeface="Segoe UI"/>
              </a:rPr>
              <a:t>src</a:t>
            </a:r>
            <a:r>
              <a:rPr sz="1400" b="1" i="0" dirty="0">
                <a:solidFill>
                  <a:srgbClr val="063D79"/>
                </a:solidFill>
                <a:latin typeface="Segoe UI"/>
              </a:rPr>
              <a:t>) · 3,595 LOC (tests) · 89 files · MIT licensed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50992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3F3F3F"/>
                </a:solidFill>
                <a:latin typeface="Segoe UI"/>
              </a:rPr>
              <a:t>Verified on Windows 10 and Windows 11 (VirtualBox VM) — full scan-to-restore flow, no issues.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One shared decision module, two call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Qt Wizard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8932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CLI — python -m src.cli 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OperationsController / AutomationCoordinator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scan_command()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04292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own Arrow 13"/>
          <p:cNvSpPr/>
          <p:nvPr/>
        </p:nvSpPr>
        <p:spPr>
          <a:xfrm>
            <a:off x="848360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2944368"/>
            <a:ext cx="10607040" cy="132588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0358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97000"/>
                </a:solidFill>
                <a:latin typeface="Segoe UI"/>
              </a:rPr>
              <a:t>src/orchestration/mode_policy.py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should_run_analysis(mode)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should_run_file_recommendations(mode)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6849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resolve_app_recommendation_strategy(mode)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37580" y="4297680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10607040" cy="50292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18888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Services Layer — MigrationService · RecommendationService · FileRecommendationService · RestoreService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Windows app → Linux package — and a named gap,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259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CSV mapping (238)</a:t>
            </a:r>
          </a:p>
        </p:txBody>
      </p:sp>
      <p:sp>
        <p:nvSpPr>
          <p:cNvPr id="7" name="Oval 6"/>
          <p:cNvSpPr/>
          <p:nvPr/>
        </p:nvSpPr>
        <p:spPr>
          <a:xfrm>
            <a:off x="43548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33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Fuzzy match</a:t>
            </a:r>
          </a:p>
        </p:txBody>
      </p:sp>
      <p:sp>
        <p:nvSpPr>
          <p:cNvPr id="9" name="Oval 8"/>
          <p:cNvSpPr/>
          <p:nvPr/>
        </p:nvSpPr>
        <p:spPr>
          <a:xfrm>
            <a:off x="69837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Confidence floor</a:t>
            </a:r>
          </a:p>
        </p:txBody>
      </p:sp>
      <p:sp>
        <p:nvSpPr>
          <p:cNvPr id="11" name="Oval 10"/>
          <p:cNvSpPr/>
          <p:nvPr/>
        </p:nvSpPr>
        <p:spPr>
          <a:xfrm>
            <a:off x="96126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Repology check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775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58064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84353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291840"/>
            <a:ext cx="45720" cy="64008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1A1A1A"/>
                </a:solidFill>
                <a:latin typeface="Segoe UI"/>
              </a:rPr>
              <a:t>Term paper: “Compatibility mapping relies on heuristic matching... not guaranteeing feature parity.”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WHAT THIS PROJECT 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994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Fuzzy matching (SequenceMatcher) replaces exact-string-only lookup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0235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Confidence floors stop the algorithm silently downgrading curated matches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052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Repology verification — package existence checked, not assumed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Measurable objectives, defined at project 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Objective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Target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O1 — Manual steps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≤ 3 in guided mode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O2 — App coverage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80% of top-50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238 entries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O3 — File integrity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95% pass SHA-256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O4 — Sovereignty Score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85%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Scored every run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O5 — Qt/CLI parity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Identical policy, both interfaces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One shared module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O6 — Cycle time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&lt; 20 min for ≤ 5GB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Not met — see Evidence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Work breakdown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63D79"/>
                </a:solidFill>
                <a:latin typeface="Segoe UI"/>
              </a:rPr>
              <a:t>7 WORK PACKAGES + 6-DAY RISK BUFFER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5880" y="724542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1" dirty="0">
                <a:solidFill>
                  <a:srgbClr val="B97000"/>
                </a:solidFill>
                <a:latin typeface="Segoe UI"/>
              </a:rPr>
              <a:t>Open risk: no physical-hardware E2E test — VM pair only</a:t>
            </a:r>
          </a:p>
        </p:txBody>
      </p:sp>
      <p:pic>
        <p:nvPicPr>
          <p:cNvPr id="7" name="Picture 6" descr="gant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270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Quantified improvement over the 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Proof of concept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This project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 mappings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238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9.5×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Source LOC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4,031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17,467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4.3×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Automated tests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 → 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GUI framework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Tkinter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Qt (PySide6)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rewritten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App-matching stages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(substring)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3 (fuzzy + confidence + online)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Platforms packaged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1 (Linux)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2 (Win + Linux, auto-embed)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1 → 2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9240"/>
            <a:ext cx="1106424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25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25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7 guided steps, then 1 click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2354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Welcome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9280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1460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83864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105656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Scan +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Match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74920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96712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665976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287768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1424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Review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57032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7882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Backup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84808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46988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Bundle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819003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300" b="0" i="1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68680" y="3321923"/>
            <a:ext cx="640080" cy="6400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413363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A1A1A"/>
                </a:solidFill>
                <a:latin typeface="Segoe UI"/>
              </a:rPr>
              <a:t>Restore &amp;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3779122"/>
            <a:ext cx="4114800" cy="286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endParaRPr sz="1200" b="0" i="0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278880" y="3154283"/>
            <a:ext cx="3019044" cy="2758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230483"/>
            <a:ext cx="286664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074920" y="6011345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 dirty="0">
                <a:solidFill>
                  <a:srgbClr val="3F3F3F"/>
                </a:solidFill>
                <a:latin typeface="Segoe UI"/>
              </a:rPr>
              <a:t>Real report — actual VM restore, 3,344 files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192 tests — and 4 bugs only a live VM run exposed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Oval 5"/>
          <p:cNvSpPr/>
          <p:nvPr/>
        </p:nvSpPr>
        <p:spPr>
          <a:xfrm>
            <a:off x="6309360" y="1764792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78308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Segoe UI"/>
              </a:rPr>
              <a:t>Bad package name failed ALL installs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167128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9456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per-package fallback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2606040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62432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Shortcuts matched requested, not installed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008376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03580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matched to actual installs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3447288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6557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Silent multi-minute log gaps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849624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87705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periodic progress logging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4288536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30682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Unanswered prompt could hang forever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4690872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1830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120s timeout per attempt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3F3F3F"/>
                </a:solidFill>
                <a:latin typeface="Segoe UI"/>
              </a:rPr>
              <a:t>CI passing ≠ the real app works.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Reset undoes the whole restore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8006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Files</a:t>
            </a:r>
          </a:p>
        </p:txBody>
      </p:sp>
      <p:sp>
        <p:nvSpPr>
          <p:cNvPr id="7" name="Oval 6"/>
          <p:cNvSpPr/>
          <p:nvPr/>
        </p:nvSpPr>
        <p:spPr>
          <a:xfrm>
            <a:off x="281178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Shortcuts</a:t>
            </a:r>
          </a:p>
        </p:txBody>
      </p:sp>
      <p:sp>
        <p:nvSpPr>
          <p:cNvPr id="9" name="Oval 8"/>
          <p:cNvSpPr/>
          <p:nvPr/>
        </p:nvSpPr>
        <p:spPr>
          <a:xfrm>
            <a:off x="514350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Wallpaper</a:t>
            </a:r>
          </a:p>
        </p:txBody>
      </p:sp>
      <p:sp>
        <p:nvSpPr>
          <p:cNvPr id="11" name="Oval 10"/>
          <p:cNvSpPr/>
          <p:nvPr/>
        </p:nvSpPr>
        <p:spPr>
          <a:xfrm>
            <a:off x="747522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Apps (opt-in)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F3F3F"/>
                </a:solidFill>
                <a:latin typeface="Segoe UI"/>
              </a:rPr>
              <a:t>Reset now undoes all of the above — opt-in for apps, live progress in the Activity Log.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A"/>
                </a:solidFill>
                <a:latin typeface="Segoe UI"/>
              </a:rPr>
              <a:t>Double-click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26080" y="2240280"/>
            <a:ext cx="731520" cy="73152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migrate.exe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PyInstaller; can bake the Linux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binary in for a single-file standalone.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12480" y="2240280"/>
            <a:ext cx="731520" cy="73152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restore (ELF binary)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Built on the target distro; embedded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automatically into every bundle.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Live now: 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/full-auto-migration — migrate.exe downloadable from a real GitHub Release.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Docs site: pencoder.github.io/full-auto-migration — user guide, project walkthrough, and Praktikum report, published.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What the project delivers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app mappings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64992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192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automated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464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guidance modes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31936" y="1645920"/>
            <a:ext cx="25146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31936" y="1783080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63D79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9096" y="237744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1A"/>
                </a:solidFill>
                <a:latin typeface="Segoe UI"/>
              </a:rPr>
              <a:t>platforms packaged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31520" y="32461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6050280" y="3124200"/>
            <a:ext cx="2968752" cy="27127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3200400"/>
            <a:ext cx="2816352" cy="2560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26480" y="5862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>
                <a:solidFill>
                  <a:srgbClr val="3F3F3F"/>
                </a:solidFill>
                <a:latin typeface="Segoe UI"/>
              </a:rPr>
              <a:t>100% sovereignty score — real restore, 3,344 files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things that didn't hold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F3F3F"/>
                </a:solidFill>
                <a:latin typeface="Segoe UI"/>
              </a:rPr>
              <a:t>Checking our own claims against the system found two honest gaps: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O6 — CYCLE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Target was &lt;20 min for ≤5GB; the real logged run took ~30–35 minutes for extract+restore+verify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1188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RECOMMENDATION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Precision/recall is 0% measured. Methodology is defined; no ground-truth evaluation script has been built or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are carried forward as named, open items — not silently dropped.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45720" cy="4434840"/>
          </a:xfrm>
          <a:prstGeom prst="rect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439"/>
                </a:solidFill>
                <a:latin typeface="Segoe UI"/>
              </a:rPr>
              <a:t>DELIVERED</a:t>
            </a:r>
          </a:p>
        </p:txBody>
      </p:sp>
      <p:sp>
        <p:nvSpPr>
          <p:cNvPr id="7" name="Oval 6"/>
          <p:cNvSpPr/>
          <p:nvPr/>
        </p:nvSpPr>
        <p:spPr>
          <a:xfrm>
            <a:off x="923544" y="233172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682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Dynamic recommendation engine</a:t>
            </a:r>
          </a:p>
        </p:txBody>
      </p:sp>
      <p:sp>
        <p:nvSpPr>
          <p:cNvPr id="9" name="Oval 8"/>
          <p:cNvSpPr/>
          <p:nvPr/>
        </p:nvSpPr>
        <p:spPr>
          <a:xfrm>
            <a:off x="923544" y="289864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3522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Unified mode policy (Qt + CLI)</a:t>
            </a:r>
          </a:p>
        </p:txBody>
      </p:sp>
      <p:sp>
        <p:nvSpPr>
          <p:cNvPr id="11" name="Oval 10"/>
          <p:cNvSpPr/>
          <p:nvPr/>
        </p:nvSpPr>
        <p:spPr>
          <a:xfrm>
            <a:off x="923544" y="3465576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Per-stage execution timing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" y="4032504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690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192 test regression coverage</a:t>
            </a:r>
          </a:p>
        </p:txBody>
      </p:sp>
      <p:sp>
        <p:nvSpPr>
          <p:cNvPr id="15" name="Oval 14"/>
          <p:cNvSpPr/>
          <p:nvPr/>
        </p:nvSpPr>
        <p:spPr>
          <a:xfrm>
            <a:off x="923544" y="4599432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360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Real-VM-tested reliability fixes</a:t>
            </a:r>
          </a:p>
        </p:txBody>
      </p:sp>
      <p:sp>
        <p:nvSpPr>
          <p:cNvPr id="17" name="Oval 16"/>
          <p:cNvSpPr/>
          <p:nvPr/>
        </p:nvSpPr>
        <p:spPr>
          <a:xfrm>
            <a:off x="923544" y="516636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0293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Full undo/reset + packaging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783080"/>
            <a:ext cx="45720" cy="402336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97000"/>
                </a:solidFill>
                <a:latin typeface="Segoe UI"/>
              </a:rPr>
              <a:t>NEXT</a:t>
            </a:r>
          </a:p>
        </p:txBody>
      </p:sp>
      <p:sp>
        <p:nvSpPr>
          <p:cNvPr id="21" name="Oval 20"/>
          <p:cNvSpPr/>
          <p:nvPr/>
        </p:nvSpPr>
        <p:spPr>
          <a:xfrm>
            <a:off x="6409944" y="233172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317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precision/recall evaluation script</a:t>
            </a:r>
          </a:p>
        </p:txBody>
      </p:sp>
      <p:sp>
        <p:nvSpPr>
          <p:cNvPr id="23" name="Oval 22"/>
          <p:cNvSpPr/>
          <p:nvPr/>
        </p:nvSpPr>
        <p:spPr>
          <a:xfrm>
            <a:off x="6409944" y="297180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971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E2E test, physical machines</a:t>
            </a:r>
          </a:p>
        </p:txBody>
      </p:sp>
      <p:sp>
        <p:nvSpPr>
          <p:cNvPr id="25" name="Oval 24"/>
          <p:cNvSpPr/>
          <p:nvPr/>
        </p:nvSpPr>
        <p:spPr>
          <a:xfrm>
            <a:off x="6409944" y="361188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611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USB write automation</a:t>
            </a:r>
          </a:p>
        </p:txBody>
      </p:sp>
      <p:sp>
        <p:nvSpPr>
          <p:cNvPr id="27" name="Oval 26"/>
          <p:cNvSpPr/>
          <p:nvPr/>
        </p:nvSpPr>
        <p:spPr>
          <a:xfrm>
            <a:off x="6409944" y="425196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2519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Resume/checkpoint for large restores</a:t>
            </a:r>
          </a:p>
        </p:txBody>
      </p:sp>
      <p:sp>
        <p:nvSpPr>
          <p:cNvPr id="29" name="Oval 28"/>
          <p:cNvSpPr/>
          <p:nvPr/>
        </p:nvSpPr>
        <p:spPr>
          <a:xfrm>
            <a:off x="923544" y="573328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76986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Public docs site + GitHub release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Documentation &amp; downloads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F3F3F"/>
                </a:solidFill>
                <a:latin typeface="Segoe UI"/>
              </a:rPr>
              <a:t>Everything in this talk is public — code, docs, and a downloadable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DCE6F0"/>
          </a:solidFill>
          <a:ln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DOCUMENTATION 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pencoder.github.io/full-auto-migration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User guide, project walkthrough, full automation exposé, Praktikum report, testing docs.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2F1E8"/>
          </a:solidFill>
          <a:ln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439"/>
                </a:solidFill>
                <a:latin typeface="Segoe UI"/>
              </a:rPr>
              <a:t>DOWNLOAD &amp;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github.com/PenCoder/full-auto-migration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v1.0.0 release with migrate.exe attached — clone, build, or download and run today.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References — sovereignty framing cited from the term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Floridi, L. (2020). The fight for digital sovereignty. Philosophy &amp; Technology, 33(3), 369–378.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Pohle, J., &amp; Thiel, T. (2020). Digital sovereignty. Internet Policy Review, 9(4).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Roberts, H., et al. (2021). Safeguarding European values with digital sovereignty. Internet Policy Review, 10(3).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Wehnes, H. (2024). Preventing digital colony and lock-in. INFORMATIK 2024, Gesellschaft für Informatik.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Wire (2025); StatCounter Global Stats (2025). Digital sovereignty survey &amp; OS market share, Europe.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Full bibliography: Arthur, J. — Digital Sovereignty Through Semi-Automated OS Migration (term paper).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t>Questions &amp;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3_powerpoint_2016_wide">
  <a:themeElements>
    <a:clrScheme name="LS3 Scheme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63D79"/>
      </a:accent1>
      <a:accent2>
        <a:srgbClr val="B92700"/>
      </a:accent2>
      <a:accent3>
        <a:srgbClr val="008439"/>
      </a:accent3>
      <a:accent4>
        <a:srgbClr val="B97000"/>
      </a:accent4>
      <a:accent5>
        <a:srgbClr val="D8DADC"/>
      </a:accent5>
      <a:accent6>
        <a:srgbClr val="3F3F3F"/>
      </a:accent6>
      <a:hlink>
        <a:srgbClr val="063D79"/>
      </a:hlink>
      <a:folHlink>
        <a:srgbClr val="D8DADC"/>
      </a:folHlink>
    </a:clrScheme>
    <a:fontScheme name="Vorlag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Rounded MT Bold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sz="1600" b="0" dirty="0" err="1" smtClean="0">
            <a:latin typeface="+mn-lt"/>
          </a:defRPr>
        </a:defPPr>
      </a:lstStyle>
    </a:txDef>
  </a:objectDefaults>
  <a:extraClrSchemeLst>
    <a:extraClrScheme>
      <a:clrScheme name="Vorlag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ag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1" id="{2FFA4946-9F4B-4605-8084-75765F482D84}" vid="{CE7CD113-EA7C-43EC-B83E-E9DFC241FB65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272</TotalTime>
  <Words>1604</Words>
  <Application>Microsoft Office PowerPoint</Application>
  <PresentationFormat>Widescreen</PresentationFormat>
  <Paragraphs>328</Paragraphs>
  <Slides>28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Arial</vt:lpstr>
      <vt:lpstr>Arial Rounded MT Bold</vt:lpstr>
      <vt:lpstr>Segoe UI</vt:lpstr>
      <vt:lpstr>Times New Roman</vt:lpstr>
      <vt:lpstr>Wingdings</vt:lpstr>
      <vt:lpstr>Wingdings 3</vt:lpstr>
      <vt:lpstr>i3_powerpoint_2016_wide</vt:lpstr>
      <vt:lpstr>Fully Automated Migration Framework from Windows 11 to Linux Mint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>Universitaet Wuerzburg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christopher.metter</dc:creator>
  <cp:lastModifiedBy>Japhet Appau Arthur</cp:lastModifiedBy>
  <cp:revision>312</cp:revision>
  <dcterms:created xsi:type="dcterms:W3CDTF">2016-06-17T10:34:47Z</dcterms:created>
  <dcterms:modified xsi:type="dcterms:W3CDTF">2026-06-23T06:30:45Z</dcterms:modified>
</cp:coreProperties>
</file>