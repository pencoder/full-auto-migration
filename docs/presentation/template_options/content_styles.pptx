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7F7"/>
    <a:srgbClr val="C5DAF3"/>
    <a:srgbClr val="FFFFFF"/>
    <a:srgbClr val="1F5394"/>
    <a:srgbClr val="FFCBBE"/>
    <a:srgbClr val="B6E1D6"/>
    <a:srgbClr val="6DC4AD"/>
    <a:srgbClr val="FF987D"/>
    <a:srgbClr val="306AA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93" autoAdjust="0"/>
  </p:normalViewPr>
  <p:slideViewPr>
    <p:cSldViewPr>
      <p:cViewPr varScale="1">
        <p:scale>
          <a:sx n="81" d="100"/>
          <a:sy n="81" d="100"/>
        </p:scale>
        <p:origin x="61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370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5113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wmf"/><Relationship Id="rId4" Type="http://schemas.openxmlformats.org/officeDocument/2006/relationships/image" Target="../media/image9.jpe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88951" y="1960563"/>
            <a:ext cx="11214100" cy="1828800"/>
          </a:xfrm>
        </p:spPr>
        <p:txBody>
          <a:bodyPr/>
          <a:lstStyle>
            <a:lvl1pPr algn="ctr">
              <a:defRPr sz="4000"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en-GB" dirty="0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4149725"/>
            <a:ext cx="8534400" cy="406400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author name</a:t>
            </a:r>
            <a:endParaRPr lang="de-DE" dirty="0"/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1775885" y="4616301"/>
            <a:ext cx="864023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000" i="1" dirty="0">
                <a:solidFill>
                  <a:srgbClr val="777777"/>
                </a:solidFill>
                <a:latin typeface="Arial" charset="0"/>
              </a:rPr>
              <a:t>comnet.informatik.uni-wuerzburg.de</a:t>
            </a:r>
          </a:p>
        </p:txBody>
      </p:sp>
      <p:grpSp>
        <p:nvGrpSpPr>
          <p:cNvPr id="5" name="Gruppieren 4"/>
          <p:cNvGrpSpPr/>
          <p:nvPr userDrawn="1"/>
        </p:nvGrpSpPr>
        <p:grpSpPr>
          <a:xfrm>
            <a:off x="0" y="431800"/>
            <a:ext cx="12191999" cy="898525"/>
            <a:chOff x="0" y="431800"/>
            <a:chExt cx="12191999" cy="898525"/>
          </a:xfrm>
        </p:grpSpPr>
        <p:sp>
          <p:nvSpPr>
            <p:cNvPr id="2" name="Rechteck 1"/>
            <p:cNvSpPr/>
            <p:nvPr userDrawn="1"/>
          </p:nvSpPr>
          <p:spPr bwMode="auto">
            <a:xfrm>
              <a:off x="9768408" y="431800"/>
              <a:ext cx="2423591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39" name="Picture 9" descr="unilogo4c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 r="20525"/>
            <a:stretch>
              <a:fillRect/>
            </a:stretch>
          </p:blipFill>
          <p:spPr bwMode="auto">
            <a:xfrm>
              <a:off x="624408" y="431800"/>
              <a:ext cx="9144000" cy="898525"/>
            </a:xfrm>
            <a:prstGeom prst="rect">
              <a:avLst/>
            </a:prstGeom>
            <a:noFill/>
          </p:spPr>
        </p:pic>
        <p:sp>
          <p:nvSpPr>
            <p:cNvPr id="181258" name="Rectangle 10"/>
            <p:cNvSpPr>
              <a:spLocks noChangeArrowheads="1"/>
            </p:cNvSpPr>
            <p:nvPr/>
          </p:nvSpPr>
          <p:spPr bwMode="auto">
            <a:xfrm>
              <a:off x="4968552" y="500063"/>
              <a:ext cx="6096000" cy="73866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400" b="0" dirty="0" err="1">
                  <a:latin typeface="Arial" charset="0"/>
                </a:rPr>
                <a:t>Institut</a:t>
              </a:r>
              <a:r>
                <a:rPr lang="en-US" sz="1400" b="0" dirty="0">
                  <a:latin typeface="Arial" charset="0"/>
                </a:rPr>
                <a:t> f</a:t>
              </a:r>
              <a:r>
                <a:rPr lang="de-DE" sz="1400" b="0" dirty="0" err="1">
                  <a:latin typeface="Arial" charset="0"/>
                </a:rPr>
                <a:t>ür</a:t>
              </a:r>
              <a:r>
                <a:rPr lang="de-DE" sz="1400" b="0" dirty="0">
                  <a:latin typeface="Arial" charset="0"/>
                </a:rPr>
                <a:t> Informatik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 err="1">
                  <a:latin typeface="Arial" charset="0"/>
                </a:rPr>
                <a:t>Lehrstuhl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für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Kommunikationsnetze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>
                  <a:latin typeface="Arial" charset="0"/>
                </a:rPr>
                <a:t>Prof. Dr.</a:t>
              </a:r>
              <a:r>
                <a:rPr lang="en-US" sz="1400" b="0" baseline="0" dirty="0">
                  <a:latin typeface="Arial" charset="0"/>
                </a:rPr>
                <a:t> T</a:t>
              </a:r>
              <a:r>
                <a:rPr lang="en-US" sz="1400" b="0" dirty="0">
                  <a:latin typeface="Arial" charset="0"/>
                </a:rPr>
                <a:t>. </a:t>
              </a:r>
              <a:r>
                <a:rPr lang="en-US" sz="1400" b="0" dirty="0" err="1">
                  <a:latin typeface="Arial" charset="0"/>
                </a:rPr>
                <a:t>Hoßfeld</a:t>
              </a:r>
              <a:endParaRPr lang="en-US" sz="1400" b="0" dirty="0">
                <a:latin typeface="Arial" charset="0"/>
              </a:endParaRPr>
            </a:p>
          </p:txBody>
        </p:sp>
        <p:pic>
          <p:nvPicPr>
            <p:cNvPr id="23" name="Picture 11"/>
            <p:cNvPicPr>
              <a:picLocks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70219" y="509826"/>
              <a:ext cx="700088" cy="719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63500" dir="3187806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0" name="Rechteck 39"/>
            <p:cNvSpPr/>
            <p:nvPr userDrawn="1"/>
          </p:nvSpPr>
          <p:spPr bwMode="auto">
            <a:xfrm>
              <a:off x="0" y="431800"/>
              <a:ext cx="2855640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41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EFD"/>
                </a:clrFrom>
                <a:clrTo>
                  <a:srgbClr val="FFFEFD">
                    <a:alpha val="0"/>
                  </a:srgbClr>
                </a:clrTo>
              </a:clrChange>
            </a:blip>
            <a:srcRect l="44640"/>
            <a:stretch/>
          </p:blipFill>
          <p:spPr>
            <a:xfrm>
              <a:off x="911424" y="431800"/>
              <a:ext cx="1130294" cy="898525"/>
            </a:xfrm>
            <a:prstGeom prst="rect">
              <a:avLst/>
            </a:prstGeom>
          </p:spPr>
        </p:pic>
        <p:pic>
          <p:nvPicPr>
            <p:cNvPr id="42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/>
            <a:srcRect r="55678"/>
            <a:stretch/>
          </p:blipFill>
          <p:spPr>
            <a:xfrm>
              <a:off x="0" y="431800"/>
              <a:ext cx="904920" cy="898524"/>
            </a:xfrm>
            <a:prstGeom prst="rect">
              <a:avLst/>
            </a:prstGeom>
          </p:spPr>
        </p:pic>
      </p:grp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63D79"/>
              </a:buClr>
              <a:defRPr/>
            </a:lvl1pPr>
            <a:lvl2pPr>
              <a:buClr>
                <a:srgbClr val="063D79"/>
              </a:buClr>
              <a:defRPr/>
            </a:lvl2pPr>
            <a:lvl3pPr>
              <a:buClr>
                <a:srgbClr val="063D79"/>
              </a:buClr>
              <a:defRPr/>
            </a:lvl3pPr>
            <a:lvl4pPr>
              <a:buClr>
                <a:srgbClr val="063D79"/>
              </a:buClr>
              <a:defRPr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7084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639616" y="1052736"/>
            <a:ext cx="2664296" cy="10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600" b="0" dirty="0" err="1">
              <a:latin typeface="+mn-lt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6E6EF-3D8E-4957-A439-5D2280CE1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B828CE34-CC67-4E17-A5B3-FF421A963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DE93AAB1-B7D0-42C5-8489-BBD1FAE5F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A1004EE9-71F7-49C3-AEC6-27984ECF0994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ar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Farbschema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3920" y="1196752"/>
            <a:ext cx="8208912" cy="4879878"/>
          </a:xfrm>
          <a:prstGeom prst="rect">
            <a:avLst/>
          </a:prstGeom>
        </p:spPr>
      </p:pic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7FE386-66AB-4DE5-8F99-809013B2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D5045F2-FFB1-4BE6-A82D-044410B8000A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FEFF89-82C5-4C87-9183-1A0960BC685D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2FEC48EB-43B2-4181-B567-7B6D76C21DEE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0FEDB-E43B-402C-9059-9FCEEF9AAB25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164"/>
            <a:ext cx="2667000" cy="598963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164"/>
            <a:ext cx="7797800" cy="598963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ED38E1-331D-45BD-909D-93E0D8906D71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wmf"/><Relationship Id="rId20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668" y="30163"/>
            <a:ext cx="1065741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um das </a:t>
            </a:r>
            <a:r>
              <a:rPr lang="en-GB" dirty="0" err="1"/>
              <a:t>Titelformat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14400"/>
            <a:ext cx="1066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, um die </a:t>
            </a:r>
            <a:r>
              <a:rPr lang="en-GB" dirty="0" err="1"/>
              <a:t>Formate</a:t>
            </a:r>
            <a:r>
              <a:rPr lang="en-GB" dirty="0"/>
              <a:t> des </a:t>
            </a:r>
            <a:r>
              <a:rPr lang="en-GB" dirty="0" err="1"/>
              <a:t>Vorlagentextes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  <p:pic>
        <p:nvPicPr>
          <p:cNvPr id="17" name="Picture 18"/>
          <p:cNvPicPr>
            <a:picLocks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1797333" y="6497655"/>
            <a:ext cx="275331" cy="27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3187806" algn="ctr" rotWithShape="0">
              <a:srgbClr val="C0C0C0">
                <a:alpha val="50000"/>
              </a:srgbClr>
            </a:outerShdw>
          </a:effectLst>
        </p:spPr>
      </p:pic>
      <p:sp>
        <p:nvSpPr>
          <p:cNvPr id="18" name="Rectangle 25"/>
          <p:cNvSpPr>
            <a:spLocks noChangeArrowheads="1"/>
          </p:cNvSpPr>
          <p:nvPr userDrawn="1"/>
        </p:nvSpPr>
        <p:spPr bwMode="auto">
          <a:xfrm>
            <a:off x="9494300" y="6523182"/>
            <a:ext cx="1676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0" i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cs typeface="Segoe UI" pitchFamily="34" charset="0"/>
              </a:rPr>
              <a:t>Japhet Kofi Appau Arthur</a:t>
            </a: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22"/>
          <a:stretch/>
        </p:blipFill>
        <p:spPr>
          <a:xfrm>
            <a:off x="0" y="6468810"/>
            <a:ext cx="391865" cy="389190"/>
          </a:xfrm>
          <a:prstGeom prst="rect">
            <a:avLst/>
          </a:prstGeom>
        </p:spPr>
      </p:pic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0498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3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80000"/>
        <a:buFont typeface="Wingdings 3" pitchFamily="18" charset="2"/>
        <a:buChar char="u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100000"/>
        <a:buFont typeface="Wingdings" pitchFamily="2" charset="2"/>
        <a:buChar char="§"/>
        <a:defRPr sz="1800">
          <a:solidFill>
            <a:srgbClr val="4D4D4D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–"/>
        <a:defRPr sz="1600">
          <a:solidFill>
            <a:srgbClr val="4D4D4D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•"/>
        <a:defRPr sz="1600">
          <a:solidFill>
            <a:srgbClr val="4D4D4D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 "/>
        <a:defRPr sz="1600">
          <a:solidFill>
            <a:srgbClr val="4D4D4D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Windows app → Linux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446020" cy="914400"/>
          </a:xfrm>
          <a:prstGeom prst="roundRect">
            <a:avLst>
              <a:gd name="adj" fmla="val 6000"/>
            </a:avLst>
          </a:prstGeom>
          <a:solidFill>
            <a:srgbClr val="DCE6F0"/>
          </a:solidFill>
          <a:ln w="9525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Segoe U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CSV mapping (238)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3300" y="1554480"/>
            <a:ext cx="2446020" cy="914400"/>
          </a:xfrm>
          <a:prstGeom prst="roundRect">
            <a:avLst>
              <a:gd name="adj" fmla="val 6000"/>
            </a:avLst>
          </a:prstGeom>
          <a:solidFill>
            <a:srgbClr val="DCE6F0"/>
          </a:solidFill>
          <a:ln w="9525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16916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Segoe U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21488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Fuzzy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2446020" cy="914400"/>
          </a:xfrm>
          <a:prstGeom prst="roundRect">
            <a:avLst>
              <a:gd name="adj" fmla="val 6000"/>
            </a:avLst>
          </a:prstGeom>
          <a:solidFill>
            <a:srgbClr val="DCE6F0"/>
          </a:solidFill>
          <a:ln w="9525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916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Segoe UI"/>
              </a:rPr>
              <a:t>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488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Confidence floor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1100" y="1554480"/>
            <a:ext cx="2446020" cy="914400"/>
          </a:xfrm>
          <a:prstGeom prst="roundRect">
            <a:avLst>
              <a:gd name="adj" fmla="val 6000"/>
            </a:avLst>
          </a:prstGeom>
          <a:solidFill>
            <a:srgbClr val="DCE6F0"/>
          </a:solidFill>
          <a:ln w="9525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1100" y="16916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Segoe U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21488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Repology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7ECDC"/>
          </a:solidFill>
          <a:ln w="9525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34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Segoe UI"/>
              </a:rPr>
              <a:t>Term paper: “Compatibility mapping relies on heuristic matching... not guaranteeing feature parity.”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2F1E8"/>
          </a:solidFill>
          <a:ln w="9525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764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✅  Fuzzy matching (SequenceMatcher) replaces exact-string-only lookup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70832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2F1E8"/>
          </a:solidFill>
          <a:ln w="9525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897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✅  Confidence floors stop the algorithm silently downgrading curated matches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84064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2F1E8"/>
          </a:solidFill>
          <a:ln w="9525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0293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✅  Live Repology verification — package existence checked, not assumed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Windows app → Linux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3D79"/>
                </a:solidFill>
                <a:latin typeface="Segoe UI"/>
              </a:rPr>
              <a:t>CSV mapping (238)  →  Fuzzy match  →  Confidence floor  →  Repology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45720" cy="91440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3F3F3F"/>
                </a:solidFill>
                <a:latin typeface="Segoe UI"/>
              </a:rPr>
              <a:t>Term paper: “Compatibility mapping relies on heuristic matching... not guaranteeing feature parity.”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3D79"/>
                </a:solidFill>
                <a:latin typeface="Segoe UI"/>
              </a:rPr>
              <a:t>WHAT THIS PROJECT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700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313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Segoe UI"/>
              </a:rPr>
              <a:t>Fuzzy matching (SequenceMatcher) replaces exact-string-only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700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799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Segoe UI"/>
              </a:rPr>
              <a:t>Confidence floors stop the algorithm silently downgrading curated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7000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286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Segoe UI"/>
              </a:rPr>
              <a:t>Live Repology verification — package existence checked, not assumed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Windows app → Linux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48790" y="1577340"/>
            <a:ext cx="777240" cy="7772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Segoe UI"/>
              </a:rPr>
              <a:t>CSV mapping (238)</a:t>
            </a:r>
          </a:p>
        </p:txBody>
      </p:sp>
      <p:sp>
        <p:nvSpPr>
          <p:cNvPr id="7" name="Oval 6"/>
          <p:cNvSpPr/>
          <p:nvPr/>
        </p:nvSpPr>
        <p:spPr>
          <a:xfrm>
            <a:off x="4377690" y="1577340"/>
            <a:ext cx="777240" cy="7772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300" y="242316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Segoe UI"/>
              </a:rPr>
              <a:t>Fuzzy match</a:t>
            </a:r>
          </a:p>
        </p:txBody>
      </p:sp>
      <p:sp>
        <p:nvSpPr>
          <p:cNvPr id="9" name="Oval 8"/>
          <p:cNvSpPr/>
          <p:nvPr/>
        </p:nvSpPr>
        <p:spPr>
          <a:xfrm>
            <a:off x="7006590" y="1577340"/>
            <a:ext cx="777240" cy="7772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Segoe UI"/>
              </a:rPr>
              <a:t>Confidence floor</a:t>
            </a:r>
          </a:p>
        </p:txBody>
      </p:sp>
      <p:sp>
        <p:nvSpPr>
          <p:cNvPr id="11" name="Oval 10"/>
          <p:cNvSpPr/>
          <p:nvPr/>
        </p:nvSpPr>
        <p:spPr>
          <a:xfrm>
            <a:off x="9635490" y="1577340"/>
            <a:ext cx="777240" cy="7772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1100" y="242316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Segoe UI"/>
              </a:rPr>
              <a:t>Repology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F7ECDC"/>
          </a:solidFill>
          <a:ln w="9525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546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1A1A"/>
                </a:solidFill>
                <a:latin typeface="Segoe UI"/>
              </a:rPr>
              <a:t>Term paper: “Compatibility mapping relies on heuristic matching... not guaranteeing feature parity.”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" y="4000499"/>
            <a:ext cx="502920" cy="50292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9651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Fuzzy matching (SequenceMatcher) replaces exact-string-only lookup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" y="4622291"/>
            <a:ext cx="502920" cy="50292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18303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Confidence floors stop the algorithm silently downgrading curated matches</a:t>
            </a:r>
          </a:p>
        </p:txBody>
      </p:sp>
      <p:sp>
        <p:nvSpPr>
          <p:cNvPr id="20" name="Oval 19"/>
          <p:cNvSpPr/>
          <p:nvPr/>
        </p:nvSpPr>
        <p:spPr>
          <a:xfrm>
            <a:off x="708660" y="5244083"/>
            <a:ext cx="502920" cy="50292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40095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Live Repology verification — package existence checked, not assumed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1">
                <a:solidFill>
                  <a:srgbClr val="3F3F3F"/>
                </a:solidFill>
                <a:latin typeface="Segoe UI"/>
              </a:rPr>
              <a:t>“Compatibility mapping relies on heuristic matching… not guaranteeing feature parity.”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3F3F"/>
                </a:solidFill>
                <a:latin typeface="Segoe UI"/>
              </a:rPr>
              <a:t>— the term paper's own stated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3D79"/>
                </a:solidFill>
                <a:latin typeface="Segoe UI"/>
              </a:rPr>
              <a:t>Fixed with three layers: fuzzy matching, confidence floors, live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3F3F"/>
                </a:solidFill>
                <a:latin typeface="Segoe UI"/>
              </a:rPr>
              <a:t>CSV (238)  →  Fuzzy  →  Confidence floor  →  Repology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Same pipeline, three levels of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960120" y="1828800"/>
            <a:ext cx="5943600" cy="1051560"/>
          </a:xfrm>
          <a:prstGeom prst="trapezoid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Guided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214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Zero decisions after mode pick</a:t>
            </a:r>
          </a:p>
        </p:txBody>
      </p:sp>
      <p:sp>
        <p:nvSpPr>
          <p:cNvPr id="7" name="Trapezoid 6"/>
          <p:cNvSpPr/>
          <p:nvPr/>
        </p:nvSpPr>
        <p:spPr>
          <a:xfrm>
            <a:off x="1783080" y="2990088"/>
            <a:ext cx="4297680" cy="1051560"/>
          </a:xfrm>
          <a:prstGeom prst="trapezoid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826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+ file type selection</a:t>
            </a:r>
          </a:p>
        </p:txBody>
      </p:sp>
      <p:sp>
        <p:nvSpPr>
          <p:cNvPr id="9" name="Trapezoid 8"/>
          <p:cNvSpPr/>
          <p:nvPr/>
        </p:nvSpPr>
        <p:spPr>
          <a:xfrm>
            <a:off x="2606040" y="4151376"/>
            <a:ext cx="2651760" cy="1051560"/>
          </a:xfrm>
          <a:prstGeom prst="trapezoid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4398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+ overrides + online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F3F3F"/>
                </a:solidFill>
                <a:latin typeface="Segoe UI"/>
              </a:rPr>
              <a:t>Decreasing automation, increasing manual control, top to bottom.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3_powerpoint_2016_wide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2FFA4946-9F4B-4605-8084-75765F482D84}" vid="{CE7CD113-EA7C-43EC-B83E-E9DFC241FB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Office PowerPoint</Application>
  <PresentationFormat>Breitbild</PresentationFormat>
  <Paragraphs>2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Segoe UI</vt:lpstr>
      <vt:lpstr>Times New Roman</vt:lpstr>
      <vt:lpstr>Wingdings</vt:lpstr>
      <vt:lpstr>Wingdings 3</vt:lpstr>
      <vt:lpstr>i3_powerpoint_2016_wide</vt:lpstr>
      <vt:lpstr>PowerPoint-Präsentation</vt:lpstr>
      <vt:lpstr>PowerPoint-Präsentation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christopher.metter</dc:creator>
  <cp:lastModifiedBy>HW-GPM</cp:lastModifiedBy>
  <cp:revision>288</cp:revision>
  <dcterms:created xsi:type="dcterms:W3CDTF">2016-06-17T10:34:47Z</dcterms:created>
  <dcterms:modified xsi:type="dcterms:W3CDTF">2024-11-16T22:26:17Z</dcterms:modified>
</cp:coreProperties>
</file>